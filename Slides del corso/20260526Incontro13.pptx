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68" r:id="rId4"/>
    <p:sldId id="269" r:id="rId5"/>
    <p:sldId id="271" r:id="rId6"/>
    <p:sldId id="272" r:id="rId7"/>
    <p:sldId id="283" r:id="rId8"/>
    <p:sldId id="284" r:id="rId9"/>
    <p:sldId id="285" r:id="rId10"/>
    <p:sldId id="287" r:id="rId11"/>
    <p:sldId id="274" r:id="rId12"/>
    <p:sldId id="275" r:id="rId13"/>
    <p:sldId id="288" r:id="rId14"/>
    <p:sldId id="276" r:id="rId15"/>
    <p:sldId id="277" r:id="rId16"/>
    <p:sldId id="289" r:id="rId17"/>
    <p:sldId id="279" r:id="rId18"/>
    <p:sldId id="290" r:id="rId19"/>
    <p:sldId id="286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625" autoAdjust="0"/>
  </p:normalViewPr>
  <p:slideViewPr>
    <p:cSldViewPr snapToGrid="0">
      <p:cViewPr varScale="1">
        <p:scale>
          <a:sx n="52" d="100"/>
          <a:sy n="52" d="100"/>
        </p:scale>
        <p:origin x="12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0EB6F-2DCF-479C-8247-34069C34D88B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D712C-6FF6-49EF-A787-1EF9353BDB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557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d3c977e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d3c977e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344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d3c977ef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d3c977ef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165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d3c977ef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d3c977ef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562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d3c977ef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d3c977ef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071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d3c977ef9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d3c977ef9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831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D712C-6FF6-49EF-A787-1EF9353BDB57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910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D712C-6FF6-49EF-A787-1EF9353BDB5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2242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d3c977ef9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d3c977ef9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835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d3c977ef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d3c977ef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258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d3c977ef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d3c977ef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endParaRPr lang="it-I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7795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d3c977ef9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d3c977ef9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394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d3c977ef9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d3c977ef9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5696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D712C-6FF6-49EF-A787-1EF9353BDB57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3967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d3c977ef9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d3c977ef9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079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d3c977ef9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d3c977ef9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Certo, posso aiutarti a modificare la prenotazione. Quale dato vuoi cambiare: numero di persone, giorno o orario?.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742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D7B6B3-3BD2-4F24-B17D-F539BC6F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72592E-E449-4F98-87B2-60A768247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8BFAE2-28F9-45C2-928C-55E45E53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267F1C-C7B4-4A1C-8F58-DF0CD793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83FB32-3C3F-4DC6-8BF9-9CA0FB2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95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DB5D0-72B2-41FD-A3D7-809CB71A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C8CDC-C20E-463E-AEB0-1DD315CF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7DD1D-B996-4FAA-B1E9-3BF6D0D2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F08852-E1BB-4BD6-8A8B-7E2C22BB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D838F4-A058-41B6-8DCE-817FC6D1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62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58616C-5B90-4FC4-B237-9ED7E53B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A4DD3A-B232-403F-B8DD-9C917683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E2AE77-D832-41E2-A440-F1FEA6BC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C36D9A-9A31-4237-A2EA-35BB75D1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FBBEEC-AFF9-43B2-969E-07DA2E53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99F67-BFDF-484C-9800-47F27918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8E53C-0446-4ED6-AE37-53A267C54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E523C3-F316-448C-B9FE-968076FB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F9C5E0-98D6-4D08-A463-06090C4A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6FAAF0-2E62-4625-A61E-B711C8D0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41A07A-B8AA-4040-A93C-C1E2B366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71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AEEA8D-AA96-4A53-B1A7-7E5D5FAB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B4D5FF-B344-425E-AC18-36E5BF45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E91320-9E1D-41B6-BACD-E98139209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E1B5C5-F73A-42B6-AC63-EEAF94255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62F10B-C4DC-4AB6-9FCB-758467162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421DC7F-13AB-4241-AA31-4B7581AA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52C4E4-56D0-49F6-882E-6C185B26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D129ED9-73FA-4BDB-BAF9-9789C58D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09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59BEE-9801-4459-922B-7DF9EFD2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413168C-C08F-4597-AC0B-A2FB509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92FE3B-E76B-4D6F-A596-DD2A0F7C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67F0A05-DB6A-4789-AACF-35A91A79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9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3055EC-74E4-4B8D-86C6-B55D1C63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D34291-500D-4A53-BB60-B1988E94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C9752B-070B-461F-B238-F5864D3D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5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D7212-2691-4652-A68C-106FFD9D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F59940-CADE-486A-B1B5-B43DD8B0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70325C-127F-4E6F-9250-52865696E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AD55CD-E95C-48C1-9E86-174E69B2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888891-BD93-4B82-8522-AB5570EF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6F6A59-33C4-47E0-BADF-CDC67A8D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582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BD12-2C3E-4C33-8511-199EB3BA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A01D9A5-790D-4AD1-87DE-1F6E78CE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B48D7A-FAB4-4A29-83C5-A6AEC1ABC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87F154-3596-442B-9929-D77F2C38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BB2BC8-A049-4BA6-A295-FEF98674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B57047-CBF9-4099-A70A-E9CA9E29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94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466A2-F269-417A-82A3-5D68493B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026D13-11E4-4FD4-ABD9-C8F30D78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A78246-3097-443D-A50A-2EB38B4B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DE0616-439A-46E8-84C3-6ACD75F6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EAD284-429D-4C5A-9B9F-EE78B686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6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A94A02F-BC0E-473B-A817-9B866508C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8721D6-2562-49A5-AE1F-1BCEC0CF7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0FD23D-FC20-4E2F-B0B0-3524D93C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915B81-E8D6-4DEC-B0B2-4B7E3AD7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DDEB22-9DB0-42D4-9A0A-45959888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4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97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E81B6FA-B143-491D-908A-F0480F60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CEE48F-5FFD-4CA8-8593-A6017872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823164-9E93-4659-914A-C89672498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F3EE3-595B-4FE9-88FA-E4EC7462B8AD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D7EE13-3E9E-4F08-A996-E1985F385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651187-D1F7-40A1-839C-F798B3053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44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alogflow.cloud.goog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cloud.google.com/dialogflow/es/docs/basics?hl=i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alogflow.cloud.google.com/#/ag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222A86-78FF-45A5-9098-AFA189DF4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Dialog</a:t>
            </a:r>
            <a:r>
              <a:rPr lang="it-IT" dirty="0"/>
              <a:t> Flow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52E4C7C-0FFB-44D6-8368-D71A9BD8B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Interazione con </a:t>
            </a:r>
            <a:r>
              <a:rPr lang="it-IT" dirty="0" err="1"/>
              <a:t>Dialog</a:t>
            </a:r>
            <a:r>
              <a:rPr lang="it-IT" dirty="0"/>
              <a:t> Flow - 1</a:t>
            </a:r>
          </a:p>
        </p:txBody>
      </p:sp>
    </p:spTree>
    <p:extLst>
      <p:ext uri="{BB962C8B-B14F-4D97-AF65-F5344CB8AC3E}">
        <p14:creationId xmlns:p14="http://schemas.microsoft.com/office/powerpoint/2010/main" val="373428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dirty="0"/>
              <a:t>Presentazione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idx="1"/>
          </p:nvPr>
        </p:nvSpPr>
        <p:spPr>
          <a:xfrm>
            <a:off x="646591" y="1171852"/>
            <a:ext cx="10515600" cy="51027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r>
              <a:rPr lang="it" dirty="0"/>
              <a:t>Strumento per la creazione di chatbot e interfacce conversazionali</a:t>
            </a:r>
          </a:p>
          <a:p>
            <a:r>
              <a:rPr lang="it" dirty="0"/>
              <a:t>Disponibile in due versioni: </a:t>
            </a:r>
          </a:p>
          <a:p>
            <a:pPr lvl="1"/>
            <a:r>
              <a:rPr lang="it" dirty="0"/>
              <a:t>Dialogflow CX (avanzata) </a:t>
            </a:r>
          </a:p>
          <a:p>
            <a:pPr lvl="1"/>
            <a:r>
              <a:rPr lang="it" dirty="0"/>
              <a:t>Dialogflow ES (standard)</a:t>
            </a:r>
            <a:endParaRPr dirty="0"/>
          </a:p>
          <a:p>
            <a:pPr>
              <a:spcAft>
                <a:spcPts val="1600"/>
              </a:spcAft>
            </a:pPr>
            <a:r>
              <a:rPr lang="it" sz="2900" dirty="0"/>
              <a:t>Software progettato per simulare una conversazione con utenti umani, via testo o voce.</a:t>
            </a:r>
          </a:p>
          <a:p>
            <a:pPr>
              <a:spcAft>
                <a:spcPts val="1600"/>
              </a:spcAft>
            </a:pPr>
            <a:r>
              <a:rPr lang="it-IT" sz="2900" dirty="0"/>
              <a:t>NLU (Natural Language </a:t>
            </a:r>
            <a:r>
              <a:rPr lang="it-IT" sz="2900" dirty="0" err="1"/>
              <a:t>Understanding</a:t>
            </a:r>
            <a:r>
              <a:rPr lang="it-IT" sz="2900" dirty="0"/>
              <a:t>)</a:t>
            </a:r>
          </a:p>
          <a:p>
            <a:pPr lvl="1">
              <a:spcAft>
                <a:spcPts val="1600"/>
              </a:spcAft>
            </a:pPr>
            <a:r>
              <a:rPr lang="it-IT" sz="2500" dirty="0"/>
              <a:t>Capiscono l'intento dell'utente e non solo le parole chiave.</a:t>
            </a:r>
          </a:p>
          <a:p>
            <a:pPr lvl="1">
              <a:spcAft>
                <a:spcPts val="1600"/>
              </a:spcAft>
            </a:pPr>
            <a:r>
              <a:rPr lang="it-IT" sz="2500" dirty="0"/>
              <a:t>Contesto: Ricordano le interazioni precedenti.</a:t>
            </a:r>
          </a:p>
          <a:p>
            <a:pPr lvl="1">
              <a:spcAft>
                <a:spcPts val="1600"/>
              </a:spcAft>
            </a:pPr>
            <a:r>
              <a:rPr lang="it-IT" sz="2500" dirty="0"/>
              <a:t>Progettate per interazioni simili a quelle umane.</a:t>
            </a:r>
          </a:p>
          <a:p>
            <a:pPr>
              <a:spcAft>
                <a:spcPts val="1600"/>
              </a:spcAft>
            </a:pPr>
            <a:r>
              <a:rPr lang="it-IT" sz="2900" dirty="0"/>
              <a:t>URL: </a:t>
            </a:r>
            <a:r>
              <a:rPr lang="it-IT" sz="3200" dirty="0">
                <a:hlinkClick r:id="rId3"/>
              </a:rPr>
              <a:t>https://dialogflow.cloud.google.com</a:t>
            </a:r>
            <a:endParaRPr lang="it-IT" sz="2900" dirty="0"/>
          </a:p>
          <a:p>
            <a:pPr>
              <a:spcAft>
                <a:spcPts val="1600"/>
              </a:spcAft>
            </a:pPr>
            <a:r>
              <a:rPr lang="it-IT" sz="2900" dirty="0"/>
              <a:t>Concetti base: </a:t>
            </a:r>
            <a:r>
              <a:rPr lang="it-IT" sz="2500" dirty="0">
                <a:hlinkClick r:id="rId4"/>
              </a:rPr>
              <a:t>https://docs.cloud.google.com/dialogflow/es/docs/basics?hl=it</a:t>
            </a:r>
            <a:endParaRPr lang="it-IT" sz="2500" dirty="0"/>
          </a:p>
        </p:txBody>
      </p:sp>
    </p:spTree>
    <p:extLst>
      <p:ext uri="{BB962C8B-B14F-4D97-AF65-F5344CB8AC3E}">
        <p14:creationId xmlns:p14="http://schemas.microsoft.com/office/powerpoint/2010/main" val="226828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Componenti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b="1" dirty="0"/>
              <a:t>Agente</a:t>
            </a:r>
            <a:endParaRPr b="1" dirty="0"/>
          </a:p>
          <a:p>
            <a:pPr lvl="1"/>
            <a:r>
              <a:rPr lang="it" dirty="0"/>
              <a:t>Compontente che comprende e processa le richieste degli utenti. Gli agenti sono responsabili della gestione delle conversazioni, del riconoscimento degli intenti e della generazione di risposte adeguate.</a:t>
            </a:r>
            <a:endParaRPr dirty="0"/>
          </a:p>
          <a:p>
            <a:r>
              <a:rPr lang="it" b="1" dirty="0"/>
              <a:t>Intento</a:t>
            </a:r>
            <a:endParaRPr b="1" dirty="0"/>
          </a:p>
          <a:p>
            <a:pPr lvl="1"/>
            <a:r>
              <a:rPr lang="it" dirty="0"/>
              <a:t>Azioni che gli utenti desiderano eseguire attraverso il chatbot. Gli intenti possono essere domande, richieste di informazioni o comandi specifici.</a:t>
            </a:r>
            <a:endParaRPr dirty="0"/>
          </a:p>
          <a:p>
            <a:r>
              <a:rPr lang="it" dirty="0"/>
              <a:t>Entità</a:t>
            </a:r>
            <a:endParaRPr dirty="0"/>
          </a:p>
          <a:p>
            <a:pPr lvl="1"/>
            <a:r>
              <a:rPr lang="it" dirty="0"/>
              <a:t>unità di informazioni rilevanti per gli intenti, come date, numeri, luoghi o categorie specifiche. Le entity consentono di estrapolare informazioni chiave dalle richieste degli utenti e di utilizzarle per creare risposte più personalizzate e pertinenti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897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Componenti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dirty="0"/>
              <a:t>Contesti</a:t>
            </a:r>
            <a:endParaRPr dirty="0"/>
          </a:p>
          <a:p>
            <a:pPr lvl="1"/>
            <a:r>
              <a:rPr lang="it" dirty="0"/>
              <a:t>I contesti consentono di mantenere informazioni rilevanti nel corso di una conversazione e possono essere utilizzati per influenzare il flusso della conversazione.</a:t>
            </a:r>
            <a:endParaRPr dirty="0"/>
          </a:p>
          <a:p>
            <a:r>
              <a:rPr lang="it" dirty="0"/>
              <a:t>Follow-up intents</a:t>
            </a:r>
            <a:endParaRPr sz="2400" dirty="0"/>
          </a:p>
          <a:p>
            <a:pPr lvl="1"/>
            <a:r>
              <a:rPr lang="it" dirty="0"/>
              <a:t>Gli intenti di follow-up permettono di creare conversazioni più strutturate e di gestire le risposte degli utenti a domande specifiche.</a:t>
            </a:r>
            <a:endParaRPr dirty="0"/>
          </a:p>
          <a:p>
            <a:r>
              <a:rPr lang="it" dirty="0"/>
              <a:t>Webhooks</a:t>
            </a:r>
            <a:endParaRPr dirty="0"/>
          </a:p>
          <a:p>
            <a:pPr lvl="1"/>
            <a:r>
              <a:rPr lang="it" dirty="0"/>
              <a:t>I webhooks possono essere utilizzati per integrare la tua chatbot con servizi esterni, consentendo di accedere a dati o funzionalità aggiuntive al di fuori di Dialogflow.</a:t>
            </a:r>
            <a:endParaRPr dirty="0"/>
          </a:p>
          <a:p>
            <a:r>
              <a:rPr lang="it" dirty="0"/>
              <a:t>Risposte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677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/>
              <a:t>Agente</a:t>
            </a:r>
            <a:endParaRPr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77F8D07-4ED2-40DB-B480-E0C73079F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Agente</a:t>
            </a:r>
          </a:p>
          <a:p>
            <a:pPr lvl="1"/>
            <a:r>
              <a:rPr lang="it-IT" dirty="0"/>
              <a:t>Componente che comprende e processa le richieste degli utenti. Gli agenti sono responsabili della gestione delle conversazioni, del riconoscimento degli 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intenti</a:t>
            </a:r>
            <a:r>
              <a:rPr lang="it-IT" dirty="0"/>
              <a:t> e della generazione di 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risposte</a:t>
            </a:r>
            <a:r>
              <a:rPr lang="it-IT" dirty="0"/>
              <a:t> adeguate</a:t>
            </a:r>
          </a:p>
          <a:p>
            <a:r>
              <a:rPr lang="it-IT" dirty="0">
                <a:hlinkClick r:id="rId3"/>
              </a:rPr>
              <a:t>https://dialogflow.cloud.google.com/#/agents</a:t>
            </a:r>
            <a:endParaRPr lang="it-IT" dirty="0"/>
          </a:p>
          <a:p>
            <a:r>
              <a:rPr lang="it-IT" dirty="0"/>
              <a:t>Creazione di un nuovo agente</a:t>
            </a:r>
          </a:p>
          <a:p>
            <a:pPr lvl="1"/>
            <a:r>
              <a:rPr lang="it-IT" dirty="0"/>
              <a:t>Nome agente – Lingua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b="1" i="1" dirty="0">
                <a:solidFill>
                  <a:srgbClr val="7030A0"/>
                </a:solidFill>
                <a:sym typeface="Wingdings" panose="05000000000000000000" pitchFamily="2" charset="2"/>
              </a:rPr>
              <a:t>Create</a:t>
            </a:r>
          </a:p>
          <a:p>
            <a:r>
              <a:rPr lang="it-IT" dirty="0"/>
              <a:t>Cancellazione di un agente esistente</a:t>
            </a:r>
          </a:p>
          <a:p>
            <a:pPr lvl="1"/>
            <a:r>
              <a:rPr lang="it-IT" dirty="0"/>
              <a:t>Impostazioni – Generale – </a:t>
            </a:r>
            <a:r>
              <a:rPr lang="it-IT" b="1" i="1" dirty="0">
                <a:solidFill>
                  <a:srgbClr val="7030A0"/>
                </a:solidFill>
              </a:rPr>
              <a:t>Delete </a:t>
            </a:r>
            <a:r>
              <a:rPr lang="it-IT" b="1" i="1" dirty="0" err="1">
                <a:solidFill>
                  <a:srgbClr val="7030A0"/>
                </a:solidFill>
              </a:rPr>
              <a:t>this</a:t>
            </a:r>
            <a:r>
              <a:rPr lang="it-IT" b="1" i="1" dirty="0">
                <a:solidFill>
                  <a:srgbClr val="7030A0"/>
                </a:solidFill>
              </a:rPr>
              <a:t> agent</a:t>
            </a:r>
          </a:p>
          <a:p>
            <a:endParaRPr lang="it-IT" b="1" dirty="0"/>
          </a:p>
          <a:p>
            <a:pPr marL="0" indent="0">
              <a:buNone/>
            </a:pP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19345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 dirty="0"/>
              <a:t>Intento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415600" y="1207363"/>
            <a:ext cx="11360800" cy="548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55000" lnSpcReduction="20000"/>
          </a:bodyPr>
          <a:lstStyle/>
          <a:p>
            <a:pPr marL="0" indent="0">
              <a:buNone/>
            </a:pPr>
            <a:endParaRPr lang="it" dirty="0"/>
          </a:p>
          <a:p>
            <a:pPr>
              <a:lnSpc>
                <a:spcPct val="110000"/>
              </a:lnSpc>
            </a:pPr>
            <a:r>
              <a:rPr lang="it-IT" sz="5100" b="1" dirty="0">
                <a:solidFill>
                  <a:schemeClr val="accent2">
                    <a:lumMod val="50000"/>
                  </a:schemeClr>
                </a:solidFill>
              </a:rPr>
              <a:t>Intento</a:t>
            </a:r>
          </a:p>
          <a:p>
            <a:pPr lvl="1">
              <a:lnSpc>
                <a:spcPct val="110000"/>
              </a:lnSpc>
            </a:pPr>
            <a:r>
              <a:rPr lang="it-IT" sz="3800" dirty="0"/>
              <a:t>Azione che l’utente desidera eseguire attraverso il chatbot. </a:t>
            </a:r>
          </a:p>
          <a:p>
            <a:pPr lvl="1">
              <a:lnSpc>
                <a:spcPct val="110000"/>
              </a:lnSpc>
            </a:pPr>
            <a:r>
              <a:rPr lang="it-IT" sz="3800" dirty="0"/>
              <a:t>Gli intenti possono essere domande, richieste di informazioni o comandi specifici. </a:t>
            </a:r>
          </a:p>
          <a:p>
            <a:pPr lvl="1">
              <a:lnSpc>
                <a:spcPct val="110000"/>
              </a:lnSpc>
            </a:pPr>
            <a:r>
              <a:rPr lang="it-IT" sz="3800" dirty="0"/>
              <a:t>Un </a:t>
            </a:r>
            <a:r>
              <a:rPr lang="it-IT" sz="3800" b="1" i="1" dirty="0"/>
              <a:t>Intent</a:t>
            </a:r>
            <a:r>
              <a:rPr lang="it-IT" sz="3800" dirty="0"/>
              <a:t> determina l'intenzione dell’utente per un turno di conversazione.</a:t>
            </a:r>
          </a:p>
          <a:p>
            <a:pPr lvl="1">
              <a:lnSpc>
                <a:spcPct val="110000"/>
              </a:lnSpc>
            </a:pPr>
            <a:r>
              <a:rPr lang="it-IT" sz="3800" dirty="0"/>
              <a:t>Ogni agente  può avere molti </a:t>
            </a:r>
            <a:r>
              <a:rPr lang="it-IT" sz="3800" b="1" i="1" dirty="0"/>
              <a:t>Intent</a:t>
            </a:r>
            <a:r>
              <a:rPr lang="it-IT" sz="3800" dirty="0"/>
              <a:t> al fine di gestire una conversazione completa</a:t>
            </a:r>
          </a:p>
          <a:p>
            <a:pPr lvl="1">
              <a:lnSpc>
                <a:spcPct val="110000"/>
              </a:lnSpc>
            </a:pPr>
            <a:r>
              <a:rPr lang="it" sz="3800" dirty="0"/>
              <a:t>Ogni espressione dell'utente viene </a:t>
            </a:r>
            <a:r>
              <a:rPr lang="it" sz="3800" b="1" dirty="0"/>
              <a:t>associata</a:t>
            </a:r>
            <a:r>
              <a:rPr lang="it" sz="3800" dirty="0"/>
              <a:t> all'intent più corrispondete.</a:t>
            </a:r>
          </a:p>
          <a:p>
            <a:pPr lvl="1">
              <a:lnSpc>
                <a:spcPct val="110000"/>
              </a:lnSpc>
            </a:pPr>
            <a:r>
              <a:rPr lang="it" sz="3800" dirty="0"/>
              <a:t> L'associazione di un intent è nota anche come </a:t>
            </a:r>
            <a:r>
              <a:rPr lang="it" sz="3800" b="1" dirty="0"/>
              <a:t>classificazione</a:t>
            </a:r>
            <a:r>
              <a:rPr lang="it" sz="3800" dirty="0"/>
              <a:t> degli intent.</a:t>
            </a:r>
          </a:p>
          <a:p>
            <a:pPr lvl="1">
              <a:lnSpc>
                <a:spcPct val="110000"/>
              </a:lnSpc>
            </a:pPr>
            <a:r>
              <a:rPr lang="it" sz="3800" dirty="0"/>
              <a:t>Da un intent  si possono estrarre informazioni importanti </a:t>
            </a:r>
            <a:r>
              <a:rPr lang="it-IT" sz="3800" dirty="0"/>
              <a:t>come date, numeri, luoghi o categorie specifiche.  Tali informazioni sono dette </a:t>
            </a:r>
            <a:r>
              <a:rPr lang="it-IT" sz="3800" b="1" dirty="0">
                <a:solidFill>
                  <a:schemeClr val="accent2">
                    <a:lumMod val="50000"/>
                  </a:schemeClr>
                </a:solidFill>
              </a:rPr>
              <a:t>Entità</a:t>
            </a:r>
            <a:endParaRPr sz="3800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it-IT" sz="5100" b="1" dirty="0">
                <a:solidFill>
                  <a:schemeClr val="accent2">
                    <a:lumMod val="50000"/>
                  </a:schemeClr>
                </a:solidFill>
              </a:rPr>
              <a:t>Welcome Intent</a:t>
            </a:r>
          </a:p>
          <a:p>
            <a:pPr lvl="1">
              <a:lnSpc>
                <a:spcPct val="110000"/>
              </a:lnSpc>
            </a:pPr>
            <a:r>
              <a:rPr lang="it-IT" sz="3800" dirty="0"/>
              <a:t>Il Welcome Intent viene attivato quando l’utente inizia la conversazione o saluta il bot. Non raccoglie ancora informazioni, ma orienta l’utente verso le funzionalità disponibili. Azione l’utente desiderano eseguire attraverso la chatbot. Gli intenti possono essere domande, richieste di informazioni o comandi specifici. </a:t>
            </a:r>
          </a:p>
          <a:p>
            <a:pPr>
              <a:lnSpc>
                <a:spcPct val="110000"/>
              </a:lnSpc>
            </a:pPr>
            <a:r>
              <a:rPr lang="it-IT" sz="4200" dirty="0"/>
              <a:t>Creazione di un intento</a:t>
            </a:r>
          </a:p>
          <a:p>
            <a:pPr lvl="1">
              <a:lnSpc>
                <a:spcPct val="110000"/>
              </a:lnSpc>
            </a:pPr>
            <a:r>
              <a:rPr lang="it-IT" sz="3800" dirty="0" err="1"/>
              <a:t>Intest</a:t>
            </a:r>
            <a:r>
              <a:rPr lang="it-IT" sz="3800" dirty="0"/>
              <a:t> </a:t>
            </a:r>
            <a:r>
              <a:rPr lang="it-IT" sz="3800" dirty="0">
                <a:sym typeface="Wingdings" panose="05000000000000000000" pitchFamily="2" charset="2"/>
              </a:rPr>
              <a:t> +  Nome dell’intento (</a:t>
            </a:r>
            <a:r>
              <a:rPr lang="it-IT" sz="38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PrenotazioneTavolo</a:t>
            </a:r>
            <a:r>
              <a:rPr lang="it-IT" sz="3800" dirty="0">
                <a:sym typeface="Wingdings" panose="05000000000000000000" pitchFamily="2" charset="2"/>
              </a:rPr>
              <a:t>) </a:t>
            </a:r>
            <a:r>
              <a:rPr lang="it-IT" sz="4700" b="1" i="1" dirty="0">
                <a:solidFill>
                  <a:srgbClr val="7030A0"/>
                </a:solidFill>
                <a:sym typeface="Wingdings" panose="05000000000000000000" pitchFamily="2" charset="2"/>
              </a:rPr>
              <a:t>SAVE</a:t>
            </a:r>
            <a:endParaRPr lang="it-IT" sz="47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28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434779-75A5-468A-9FA1-37444B6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" dirty="0"/>
              <a:t>Componenti di un intento – Frasi di addestramento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37C360F-EC4D-4824-A78E-C213FFC0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Frasi di addestramento </a:t>
            </a:r>
            <a:r>
              <a:rPr lang="it-IT" dirty="0"/>
              <a:t>- Training </a:t>
            </a:r>
            <a:r>
              <a:rPr lang="it-IT" dirty="0" err="1"/>
              <a:t>phrases</a:t>
            </a:r>
            <a:endParaRPr lang="it-IT" dirty="0"/>
          </a:p>
          <a:p>
            <a:pPr lvl="1"/>
            <a:r>
              <a:rPr lang="it-IT" dirty="0"/>
              <a:t>Frasi di esempio di ciò che gli utenti finali potrebbero dire. </a:t>
            </a:r>
          </a:p>
          <a:p>
            <a:pPr lvl="1"/>
            <a:r>
              <a:rPr lang="it-IT" dirty="0"/>
              <a:t>Se l’espressione dell'utente assomiglia a una di queste frasi, Dialogflow associa l'</a:t>
            </a:r>
            <a:r>
              <a:rPr lang="it-IT" dirty="0" err="1"/>
              <a:t>intent</a:t>
            </a:r>
            <a:r>
              <a:rPr lang="it-IT" dirty="0"/>
              <a:t>. </a:t>
            </a:r>
          </a:p>
          <a:p>
            <a:pPr lvl="1"/>
            <a:r>
              <a:rPr lang="it-IT" dirty="0"/>
              <a:t>Non bisogna definire ogni possibile esempio, perché il machine learning integrato di Dialogflow espande l'elenco con altre frasi simili</a:t>
            </a:r>
          </a:p>
          <a:p>
            <a:r>
              <a:rPr lang="it-IT" dirty="0"/>
              <a:t>Esempi: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un tavolo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Posso prenotare un tavolo?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per cena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un tavolo per 4 persone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un tavolo per 4 persone domani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un tavolo per 4 persone domani alle 20</a:t>
            </a:r>
          </a:p>
          <a:p>
            <a:pPr lvl="1"/>
            <a:r>
              <a:rPr lang="it-IT" i="1" dirty="0">
                <a:solidFill>
                  <a:srgbClr val="0070C0"/>
                </a:solidFill>
              </a:rPr>
              <a:t>Vorrei prenotare un tavolo per 4 persone domani alle 20 a nome Rossi</a:t>
            </a:r>
          </a:p>
          <a:p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928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434779-75A5-468A-9FA1-37444B6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" dirty="0"/>
              <a:t>Componenti di un intento – Parametri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37C360F-EC4D-4824-A78E-C213FFC0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Parametri</a:t>
            </a:r>
            <a:endParaRPr lang="it-IT" dirty="0"/>
          </a:p>
          <a:p>
            <a:pPr lvl="1"/>
            <a:r>
              <a:rPr lang="it-IT" dirty="0"/>
              <a:t>Nella espressione dell'utente finale alcune parole sono considerate come </a:t>
            </a:r>
            <a:r>
              <a:rPr lang="it-IT" b="1" dirty="0"/>
              <a:t>parametri</a:t>
            </a:r>
            <a:r>
              <a:rPr lang="it-IT" dirty="0"/>
              <a:t>. Ogni parametro è caratterizzato dal tipo di </a:t>
            </a:r>
            <a:r>
              <a:rPr lang="it-IT" b="1" dirty="0">
                <a:solidFill>
                  <a:srgbClr val="FF0000"/>
                </a:solidFill>
              </a:rPr>
              <a:t>Entità</a:t>
            </a:r>
            <a:r>
              <a:rPr lang="it-IT" dirty="0"/>
              <a:t>  che determina esattamente come vengono estratti i dati. 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Entità</a:t>
            </a:r>
          </a:p>
          <a:p>
            <a:pPr lvl="2"/>
            <a:r>
              <a:rPr lang="it-IT" dirty="0"/>
              <a:t>Predefinite (di sistema):</a:t>
            </a:r>
          </a:p>
          <a:p>
            <a:pPr lvl="3"/>
            <a:r>
              <a:rPr lang="it-IT" dirty="0"/>
              <a:t>@sys.number</a:t>
            </a:r>
          </a:p>
          <a:p>
            <a:pPr lvl="3"/>
            <a:r>
              <a:rPr lang="it-IT" dirty="0"/>
              <a:t>@sys.date</a:t>
            </a:r>
          </a:p>
          <a:p>
            <a:pPr lvl="3"/>
            <a:r>
              <a:rPr lang="it-IT" dirty="0"/>
              <a:t>@sys.time</a:t>
            </a:r>
          </a:p>
          <a:p>
            <a:pPr lvl="3"/>
            <a:r>
              <a:rPr lang="it-IT" dirty="0"/>
              <a:t>@sys-last-name</a:t>
            </a:r>
          </a:p>
          <a:p>
            <a:pPr lvl="3"/>
            <a:r>
              <a:rPr lang="it-IT" dirty="0"/>
              <a:t>ecc.</a:t>
            </a:r>
          </a:p>
          <a:p>
            <a:pPr lvl="2"/>
            <a:r>
              <a:rPr lang="it-IT" dirty="0"/>
              <a:t>Personalizzate</a:t>
            </a:r>
          </a:p>
          <a:p>
            <a:pPr lvl="1"/>
            <a:r>
              <a:rPr lang="it-IT" dirty="0" err="1"/>
              <a:t>Required</a:t>
            </a:r>
            <a:r>
              <a:rPr lang="it-IT" dirty="0" err="1">
                <a:sym typeface="Wingdings" panose="05000000000000000000" pitchFamily="2" charset="2"/>
              </a:rPr>
              <a:t>Prompt</a:t>
            </a:r>
            <a:endParaRPr lang="it-IT" dirty="0"/>
          </a:p>
          <a:p>
            <a:pPr lvl="1"/>
            <a:r>
              <a:rPr lang="it-IT" dirty="0"/>
              <a:t>Nome Parametro</a:t>
            </a:r>
          </a:p>
          <a:p>
            <a:pPr lvl="1"/>
            <a:r>
              <a:rPr lang="it-IT" dirty="0"/>
              <a:t>Valore Parametro</a:t>
            </a:r>
          </a:p>
          <a:p>
            <a:pPr lvl="1"/>
            <a:endParaRPr lang="it-IT" dirty="0"/>
          </a:p>
          <a:p>
            <a:endParaRPr lang="it-IT" dirty="0"/>
          </a:p>
          <a:p>
            <a:pPr lvl="2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444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F515C5-680E-4A6E-83A2-A194C5E9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" dirty="0"/>
              <a:t>Componenti di un intento – Parametri - Esempio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9BED87-9D70-4215-8BE9-6EA5736B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Parametro: </a:t>
            </a:r>
            <a:r>
              <a:rPr lang="it-IT" b="1" dirty="0">
                <a:solidFill>
                  <a:srgbClr val="FF0000"/>
                </a:solidFill>
              </a:rPr>
              <a:t>numero di persone </a:t>
            </a:r>
            <a:r>
              <a:rPr lang="it-IT" dirty="0"/>
              <a:t>(es.4):</a:t>
            </a:r>
          </a:p>
          <a:p>
            <a:pPr lvl="1"/>
            <a:r>
              <a:rPr lang="it-IT" dirty="0"/>
              <a:t>nome parametro: </a:t>
            </a:r>
            <a:r>
              <a:rPr lang="it-IT" b="1" dirty="0" err="1">
                <a:solidFill>
                  <a:srgbClr val="0070C0"/>
                </a:solidFill>
              </a:rPr>
              <a:t>numero_persone</a:t>
            </a:r>
            <a:endParaRPr lang="it-IT" b="1" dirty="0">
              <a:solidFill>
                <a:srgbClr val="0070C0"/>
              </a:solidFill>
            </a:endParaRPr>
          </a:p>
          <a:p>
            <a:pPr lvl="1"/>
            <a:r>
              <a:rPr lang="it-IT" dirty="0"/>
              <a:t>tipo di </a:t>
            </a:r>
            <a:r>
              <a:rPr lang="it-IT" dirty="0" err="1"/>
              <a:t>entity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di sistema </a:t>
            </a:r>
            <a:r>
              <a:rPr lang="it-IT" b="1" dirty="0"/>
              <a:t>@sys.number</a:t>
            </a:r>
            <a:r>
              <a:rPr lang="it-IT" dirty="0"/>
              <a:t>, </a:t>
            </a:r>
          </a:p>
          <a:p>
            <a:pPr lvl="1"/>
            <a:r>
              <a:rPr lang="it-IT" dirty="0"/>
              <a:t>obbligatoria</a:t>
            </a:r>
          </a:p>
          <a:p>
            <a:pPr lvl="1"/>
            <a:r>
              <a:rPr lang="it-IT" dirty="0"/>
              <a:t>prompt: </a:t>
            </a:r>
            <a:r>
              <a:rPr lang="it-IT" i="1" dirty="0"/>
              <a:t>per quante persone vuoi prenotare</a:t>
            </a:r>
            <a:r>
              <a:rPr lang="it-IT" dirty="0"/>
              <a:t>?</a:t>
            </a:r>
          </a:p>
          <a:p>
            <a:r>
              <a:rPr lang="it-IT" dirty="0"/>
              <a:t>Parametro: </a:t>
            </a:r>
            <a:r>
              <a:rPr lang="it-IT" b="1" dirty="0">
                <a:solidFill>
                  <a:srgbClr val="FF0000"/>
                </a:solidFill>
              </a:rPr>
              <a:t>data di prenotazione </a:t>
            </a:r>
            <a:r>
              <a:rPr lang="it-IT" dirty="0"/>
              <a:t>(</a:t>
            </a:r>
            <a:r>
              <a:rPr lang="it-IT" dirty="0" err="1"/>
              <a:t>es.domani</a:t>
            </a:r>
            <a:r>
              <a:rPr lang="it-IT" dirty="0"/>
              <a:t>):</a:t>
            </a:r>
          </a:p>
          <a:p>
            <a:pPr lvl="1"/>
            <a:r>
              <a:rPr lang="it-IT" dirty="0"/>
              <a:t>nome parametro: </a:t>
            </a:r>
            <a:r>
              <a:rPr lang="it-IT" sz="2500" b="1" dirty="0" err="1">
                <a:solidFill>
                  <a:srgbClr val="0070C0"/>
                </a:solidFill>
              </a:rPr>
              <a:t>data_prenotazione</a:t>
            </a:r>
            <a:endParaRPr lang="it-IT" sz="2500" b="1" dirty="0">
              <a:solidFill>
                <a:srgbClr val="0070C0"/>
              </a:solidFill>
            </a:endParaRPr>
          </a:p>
          <a:p>
            <a:pPr lvl="1"/>
            <a:r>
              <a:rPr lang="it-IT" dirty="0"/>
              <a:t>tipo di </a:t>
            </a:r>
            <a:r>
              <a:rPr lang="it-IT" dirty="0" err="1"/>
              <a:t>entity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di sistema </a:t>
            </a:r>
            <a:r>
              <a:rPr lang="it-IT" b="1" dirty="0"/>
              <a:t>@sys.date</a:t>
            </a:r>
          </a:p>
          <a:p>
            <a:pPr lvl="1"/>
            <a:r>
              <a:rPr lang="it-IT" dirty="0"/>
              <a:t>obbligatoria</a:t>
            </a:r>
          </a:p>
          <a:p>
            <a:pPr lvl="1"/>
            <a:r>
              <a:rPr lang="it-IT" dirty="0"/>
              <a:t>prompt</a:t>
            </a:r>
            <a:r>
              <a:rPr lang="it-IT" i="1" dirty="0"/>
              <a:t>: per quale giorno vuoi prenotare</a:t>
            </a:r>
            <a:r>
              <a:rPr lang="it-IT" dirty="0"/>
              <a:t>?</a:t>
            </a:r>
          </a:p>
          <a:p>
            <a:r>
              <a:rPr lang="it-IT" dirty="0"/>
              <a:t>Parametro: </a:t>
            </a:r>
            <a:r>
              <a:rPr lang="it-IT" b="1" dirty="0">
                <a:solidFill>
                  <a:srgbClr val="FF0000"/>
                </a:solidFill>
              </a:rPr>
              <a:t>ora di prenotazione </a:t>
            </a:r>
            <a:r>
              <a:rPr lang="it-IT" dirty="0"/>
              <a:t>(es 21:00):</a:t>
            </a:r>
          </a:p>
          <a:p>
            <a:pPr lvl="1"/>
            <a:r>
              <a:rPr lang="it-IT" dirty="0"/>
              <a:t>nome parametro: </a:t>
            </a:r>
            <a:r>
              <a:rPr lang="it-IT" sz="2500" b="1" dirty="0" err="1">
                <a:solidFill>
                  <a:srgbClr val="0070C0"/>
                </a:solidFill>
              </a:rPr>
              <a:t>ora_prenotazione</a:t>
            </a:r>
            <a:endParaRPr lang="it-IT" sz="2500" b="1" dirty="0">
              <a:solidFill>
                <a:srgbClr val="0070C0"/>
              </a:solidFill>
            </a:endParaRPr>
          </a:p>
          <a:p>
            <a:pPr lvl="1"/>
            <a:r>
              <a:rPr lang="it-IT" dirty="0"/>
              <a:t>tipo di </a:t>
            </a:r>
            <a:r>
              <a:rPr lang="it-IT" dirty="0" err="1"/>
              <a:t>entity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di sistema </a:t>
            </a:r>
            <a:r>
              <a:rPr lang="it-IT" b="1" dirty="0"/>
              <a:t>@sys.time</a:t>
            </a:r>
          </a:p>
          <a:p>
            <a:pPr lvl="1"/>
            <a:r>
              <a:rPr lang="it-IT" dirty="0"/>
              <a:t>obbligatoria</a:t>
            </a:r>
          </a:p>
          <a:p>
            <a:pPr lvl="1"/>
            <a:r>
              <a:rPr lang="it-IT" dirty="0"/>
              <a:t>prompt: </a:t>
            </a:r>
            <a:r>
              <a:rPr lang="it-IT" i="1" dirty="0"/>
              <a:t>per che ora vuoi prenotare?</a:t>
            </a:r>
          </a:p>
          <a:p>
            <a:r>
              <a:rPr lang="it-IT" dirty="0"/>
              <a:t>Parametro: </a:t>
            </a:r>
            <a:r>
              <a:rPr lang="it-IT" b="1" dirty="0">
                <a:solidFill>
                  <a:srgbClr val="FF0000"/>
                </a:solidFill>
              </a:rPr>
              <a:t>cognome del prenotante </a:t>
            </a:r>
            <a:r>
              <a:rPr lang="it-IT" dirty="0"/>
              <a:t>(es. Rossi): </a:t>
            </a:r>
          </a:p>
          <a:p>
            <a:pPr lvl="1"/>
            <a:r>
              <a:rPr lang="it-IT" dirty="0"/>
              <a:t>nome parametro: </a:t>
            </a:r>
            <a:r>
              <a:rPr lang="it-IT" sz="2500" b="1" dirty="0" err="1">
                <a:solidFill>
                  <a:srgbClr val="0070C0"/>
                </a:solidFill>
              </a:rPr>
              <a:t>cognome_prenotazione</a:t>
            </a:r>
            <a:endParaRPr lang="it-IT" sz="2500" b="1" dirty="0">
              <a:solidFill>
                <a:srgbClr val="0070C0"/>
              </a:solidFill>
            </a:endParaRPr>
          </a:p>
          <a:p>
            <a:pPr lvl="1"/>
            <a:r>
              <a:rPr lang="it-IT" dirty="0"/>
              <a:t>tipo di </a:t>
            </a:r>
            <a:r>
              <a:rPr lang="it-IT" dirty="0" err="1"/>
              <a:t>entity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di sistema </a:t>
            </a:r>
            <a:r>
              <a:rPr lang="it-IT" b="1" dirty="0"/>
              <a:t>@last-name</a:t>
            </a:r>
            <a:endParaRPr lang="it-IT" dirty="0"/>
          </a:p>
          <a:p>
            <a:pPr lvl="1"/>
            <a:r>
              <a:rPr lang="it-IT" dirty="0"/>
              <a:t>obbligatoria</a:t>
            </a:r>
          </a:p>
          <a:p>
            <a:pPr lvl="1"/>
            <a:r>
              <a:rPr lang="it-IT" dirty="0"/>
              <a:t>prompt: </a:t>
            </a:r>
            <a:r>
              <a:rPr lang="it-IT" i="1" dirty="0"/>
              <a:t>a che nome devo registrare la prenotazione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260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E69F9A-2DC7-4138-8926-609FE431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" dirty="0"/>
              <a:t>Componenti di un intento – Risposte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AFD8002-BDE5-4339-B1B9-199CDE888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Risposta con la quale il chatbot replica all’utente.</a:t>
            </a:r>
          </a:p>
          <a:p>
            <a:r>
              <a:rPr lang="it-IT" dirty="0"/>
              <a:t>La risposta può contenere i valori dei parametri presenti nell’intento</a:t>
            </a:r>
          </a:p>
          <a:p>
            <a:r>
              <a:rPr lang="it-IT" i="1" dirty="0"/>
              <a:t>Perfetto! Confermo la prenotazione per </a:t>
            </a:r>
            <a:r>
              <a:rPr lang="it-IT" b="1" i="1" dirty="0">
                <a:solidFill>
                  <a:srgbClr val="0070C0"/>
                </a:solidFill>
              </a:rPr>
              <a:t>$</a:t>
            </a:r>
            <a:r>
              <a:rPr lang="it-IT" b="1" i="1" dirty="0" err="1">
                <a:solidFill>
                  <a:srgbClr val="0070C0"/>
                </a:solidFill>
              </a:rPr>
              <a:t>numero_persone</a:t>
            </a:r>
            <a:r>
              <a:rPr lang="it-IT" b="1" i="1" dirty="0">
                <a:solidFill>
                  <a:srgbClr val="0070C0"/>
                </a:solidFill>
              </a:rPr>
              <a:t> </a:t>
            </a:r>
            <a:r>
              <a:rPr lang="it-IT" i="1" dirty="0"/>
              <a:t>persone il giorno </a:t>
            </a:r>
            <a:r>
              <a:rPr lang="it-IT" b="1" i="1" dirty="0">
                <a:solidFill>
                  <a:srgbClr val="0070C0"/>
                </a:solidFill>
              </a:rPr>
              <a:t>$</a:t>
            </a:r>
            <a:r>
              <a:rPr lang="it-IT" b="1" i="1" dirty="0" err="1">
                <a:solidFill>
                  <a:srgbClr val="0070C0"/>
                </a:solidFill>
              </a:rPr>
              <a:t>data_prenotazione</a:t>
            </a:r>
            <a:r>
              <a:rPr lang="it-IT" b="1" i="1" dirty="0">
                <a:solidFill>
                  <a:srgbClr val="0070C0"/>
                </a:solidFill>
              </a:rPr>
              <a:t> </a:t>
            </a:r>
            <a:r>
              <a:rPr lang="it-IT" i="1" dirty="0"/>
              <a:t>alle </a:t>
            </a:r>
            <a:r>
              <a:rPr lang="it-IT" b="1" i="1" dirty="0">
                <a:solidFill>
                  <a:srgbClr val="0070C0"/>
                </a:solidFill>
              </a:rPr>
              <a:t>$</a:t>
            </a:r>
            <a:r>
              <a:rPr lang="it-IT" b="1" i="1" dirty="0" err="1">
                <a:solidFill>
                  <a:srgbClr val="0070C0"/>
                </a:solidFill>
              </a:rPr>
              <a:t>ora_prenotazione</a:t>
            </a:r>
            <a:r>
              <a:rPr lang="it-IT" b="1" i="1" dirty="0">
                <a:solidFill>
                  <a:srgbClr val="0070C0"/>
                </a:solidFill>
              </a:rPr>
              <a:t> </a:t>
            </a:r>
            <a:r>
              <a:rPr lang="it-IT" i="1" dirty="0"/>
              <a:t>a nome </a:t>
            </a:r>
            <a:r>
              <a:rPr lang="it-IT" b="1" i="1" dirty="0">
                <a:solidFill>
                  <a:srgbClr val="0070C0"/>
                </a:solidFill>
              </a:rPr>
              <a:t>$</a:t>
            </a:r>
            <a:r>
              <a:rPr lang="it-IT" b="1" i="1" dirty="0" err="1">
                <a:solidFill>
                  <a:srgbClr val="0070C0"/>
                </a:solidFill>
              </a:rPr>
              <a:t>cognome_prenotazione</a:t>
            </a:r>
            <a:endParaRPr lang="it-IT" b="1" i="1" dirty="0">
              <a:solidFill>
                <a:srgbClr val="0070C0"/>
              </a:solidFill>
            </a:endParaRPr>
          </a:p>
          <a:p>
            <a:r>
              <a:rPr lang="it-IT" i="1" dirty="0"/>
              <a:t>Gentile signore $</a:t>
            </a:r>
            <a:r>
              <a:rPr lang="it-IT" i="1" dirty="0" err="1"/>
              <a:t>cognome_prenotazione</a:t>
            </a:r>
            <a:r>
              <a:rPr lang="it-IT" i="1" dirty="0"/>
              <a:t> Le confermo che il giorno $</a:t>
            </a:r>
            <a:r>
              <a:rPr lang="it-IT" i="1" dirty="0" err="1"/>
              <a:t>data_prenotazione</a:t>
            </a:r>
            <a:r>
              <a:rPr lang="it-IT" i="1" dirty="0"/>
              <a:t> dalle ore $</a:t>
            </a:r>
            <a:r>
              <a:rPr lang="it-IT" i="1" dirty="0" err="1"/>
              <a:t>ora_prenotazione</a:t>
            </a:r>
            <a:r>
              <a:rPr lang="it-IT" i="1" dirty="0"/>
              <a:t> saremo lieti di accogliere presso il nostro ristorante $</a:t>
            </a:r>
            <a:r>
              <a:rPr lang="it-IT" i="1" dirty="0" err="1"/>
              <a:t>numero_persone</a:t>
            </a:r>
            <a:r>
              <a:rPr lang="it-IT" i="1" dirty="0"/>
              <a:t> graditissimi ospiti </a:t>
            </a:r>
          </a:p>
        </p:txBody>
      </p:sp>
    </p:spTree>
    <p:extLst>
      <p:ext uri="{BB962C8B-B14F-4D97-AF65-F5344CB8AC3E}">
        <p14:creationId xmlns:p14="http://schemas.microsoft.com/office/powerpoint/2010/main" val="274283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Flusso base per selezione intent e risposta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34" y="1595333"/>
            <a:ext cx="10219175" cy="50946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310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/>
              <a:t>Entità</a:t>
            </a:r>
            <a:endParaRPr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39FD24D-F456-4D80-A13D-0C7C12DC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Ogni parametro dell’</a:t>
            </a:r>
            <a:r>
              <a:rPr lang="it-IT" dirty="0" err="1"/>
              <a:t>Intent</a:t>
            </a:r>
            <a:r>
              <a:rPr lang="it-IT" dirty="0"/>
              <a:t> è caratterizzato da un tipo di Entità, determina esattamente come vengono estratti i dati da un'espressione dell'utente finale.</a:t>
            </a:r>
          </a:p>
          <a:p>
            <a:r>
              <a:rPr lang="it-IT" dirty="0"/>
              <a:t>Dialogflow fornisce </a:t>
            </a:r>
            <a:r>
              <a:rPr lang="it-IT" b="1" dirty="0"/>
              <a:t>entità di sistema </a:t>
            </a:r>
            <a:r>
              <a:rPr lang="it-IT" dirty="0"/>
              <a:t>predefinite che possono corrispondere a molti tipi di dati comuni. Ad esempio, esistono entità di sistema per la corrispondenza di date, orari, colori, indirizzi email e così via. </a:t>
            </a:r>
          </a:p>
          <a:p>
            <a:r>
              <a:rPr lang="it-IT" dirty="0"/>
              <a:t>Puoi anche creare </a:t>
            </a:r>
            <a:r>
              <a:rPr lang="it-IT" b="1" dirty="0"/>
              <a:t>entità personalizzate </a:t>
            </a:r>
            <a:r>
              <a:rPr lang="it-IT" dirty="0"/>
              <a:t>per la corrispondenza di dati personalizzati. Ad esempio, puoi definire un'entità vegetale che può corrispondere ai tipi di verdure disponibili per l'acquisto con un agente di un negozio di alimentari.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6448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dirty="0"/>
              <a:t>Entità - Esempio</a:t>
            </a:r>
            <a:endParaRPr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39FD24D-F456-4D80-A13D-0C7C12DC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Definizione di una Entità personalizzata relativa ad un ulteriore </a:t>
            </a:r>
            <a:r>
              <a:rPr lang="it-IT" b="1" dirty="0"/>
              <a:t>parametro</a:t>
            </a:r>
            <a:r>
              <a:rPr lang="it-IT" dirty="0"/>
              <a:t> dell’Intento </a:t>
            </a:r>
            <a:r>
              <a:rPr lang="it-IT" dirty="0" err="1"/>
              <a:t>PrenotazioneTavolo</a:t>
            </a:r>
            <a:r>
              <a:rPr lang="it-IT" dirty="0"/>
              <a:t> specificante il </a:t>
            </a:r>
            <a:r>
              <a:rPr lang="it-IT" b="1" dirty="0"/>
              <a:t>tipo di cucina</a:t>
            </a:r>
          </a:p>
          <a:p>
            <a:pPr lvl="1"/>
            <a:r>
              <a:rPr lang="it-IT" dirty="0"/>
              <a:t>Italiana</a:t>
            </a:r>
          </a:p>
          <a:p>
            <a:pPr lvl="1"/>
            <a:r>
              <a:rPr lang="it-IT" dirty="0"/>
              <a:t>Cinese</a:t>
            </a:r>
          </a:p>
          <a:p>
            <a:pPr lvl="1"/>
            <a:r>
              <a:rPr lang="it-IT" dirty="0"/>
              <a:t>Giapponese</a:t>
            </a:r>
          </a:p>
          <a:p>
            <a:pPr lvl="1"/>
            <a:r>
              <a:rPr lang="it-IT" dirty="0"/>
              <a:t>Vegetariana</a:t>
            </a:r>
          </a:p>
          <a:p>
            <a:pPr lvl="1"/>
            <a:r>
              <a:rPr lang="it-IT" dirty="0"/>
              <a:t>Per Celiaci</a:t>
            </a:r>
          </a:p>
          <a:p>
            <a:r>
              <a:rPr lang="it-IT" dirty="0" err="1"/>
              <a:t>Entities</a:t>
            </a:r>
            <a:r>
              <a:rPr lang="it-IT" dirty="0">
                <a:sym typeface="Wingdings" panose="05000000000000000000" pitchFamily="2" charset="2"/>
              </a:rPr>
              <a:t>+</a:t>
            </a:r>
            <a:r>
              <a:rPr lang="it-IT" dirty="0" err="1">
                <a:sym typeface="Wingdings" panose="05000000000000000000" pitchFamily="2" charset="2"/>
              </a:rPr>
              <a:t>TipoCucina</a:t>
            </a:r>
            <a:r>
              <a:rPr lang="it-IT" dirty="0">
                <a:sym typeface="Wingdings" panose="05000000000000000000" pitchFamily="2" charset="2"/>
              </a:rPr>
              <a:t>-&gt;Inserimento dei possibili valori</a:t>
            </a:r>
          </a:p>
          <a:p>
            <a:r>
              <a:rPr lang="it-IT" dirty="0">
                <a:sym typeface="Wingdings" panose="05000000000000000000" pitchFamily="2" charset="2"/>
              </a:rPr>
              <a:t>Aggiunta del nuovo parametro nelle frasi di addestramento dell’Intento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4576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/>
              <a:t>Contesti</a:t>
            </a:r>
            <a:endParaRPr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CAE5194A-40DF-4445-83DA-E7C4C08B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I contesti consentono di mantenere informazioni rilevanti nel corso di una conversazione e possono essere utilizzati per influenzarne il flusso</a:t>
            </a:r>
          </a:p>
          <a:p>
            <a:r>
              <a:rPr lang="it-IT" dirty="0"/>
              <a:t>Esistono ovviamente anche nel linguaggio naturale:</a:t>
            </a:r>
          </a:p>
          <a:p>
            <a:pPr lvl="1"/>
            <a:r>
              <a:rPr lang="it-IT" dirty="0"/>
              <a:t>Se una persona dice "sono arancioni", c’è bisogno di un contesto per capire a cosa si riferisce "sono". </a:t>
            </a:r>
          </a:p>
          <a:p>
            <a:r>
              <a:rPr lang="it-IT" dirty="0"/>
              <a:t>Per ciascun Intent è possibile definire:</a:t>
            </a:r>
          </a:p>
          <a:p>
            <a:pPr lvl="1"/>
            <a:r>
              <a:rPr lang="it-IT" dirty="0"/>
              <a:t>Uno o più Contesti di input</a:t>
            </a:r>
          </a:p>
          <a:p>
            <a:pPr lvl="1"/>
            <a:r>
              <a:rPr lang="it-IT" dirty="0"/>
              <a:t>Uno o più Contesti di output</a:t>
            </a:r>
          </a:p>
          <a:p>
            <a:r>
              <a:rPr lang="it-IT" dirty="0"/>
              <a:t>Al momento della </a:t>
            </a:r>
            <a:r>
              <a:rPr lang="it-IT" b="1" dirty="0"/>
              <a:t>selezione dell’Intento</a:t>
            </a:r>
            <a:r>
              <a:rPr lang="it-IT" dirty="0"/>
              <a:t> (a seguito dell’espressione dell’utente) tutti  </a:t>
            </a:r>
            <a:r>
              <a:rPr lang="it-IT" b="1" dirty="0"/>
              <a:t>contesti di output </a:t>
            </a:r>
            <a:r>
              <a:rPr lang="it-IT" dirty="0"/>
              <a:t>diventano </a:t>
            </a:r>
            <a:r>
              <a:rPr lang="it-IT" b="1" dirty="0"/>
              <a:t>attivi</a:t>
            </a:r>
            <a:r>
              <a:rPr lang="it-IT" dirty="0"/>
              <a:t>.</a:t>
            </a:r>
          </a:p>
          <a:p>
            <a:r>
              <a:rPr lang="it-IT" dirty="0"/>
              <a:t>Se un intento ha un </a:t>
            </a:r>
            <a:r>
              <a:rPr lang="it-IT" b="1" dirty="0"/>
              <a:t>contesto di input </a:t>
            </a:r>
            <a:r>
              <a:rPr lang="it-IT" dirty="0"/>
              <a:t>specificato, allora può essere selezionato solo se quel contesto è </a:t>
            </a:r>
            <a:r>
              <a:rPr lang="it-IT" b="1" dirty="0"/>
              <a:t>attivo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783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Flusso con contesti</a:t>
            </a:r>
            <a:endParaRPr/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234" y="1612933"/>
            <a:ext cx="6709625" cy="5094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75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15A21E-DDCC-4EF5-81FF-1819C6A8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Intenti di follow-up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07F223F-B086-44DA-BA49-C53B38E6C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Realizzano automaticamente una relazione </a:t>
            </a:r>
            <a:r>
              <a:rPr lang="it-IT" b="1" dirty="0"/>
              <a:t>padre-figlio</a:t>
            </a:r>
            <a:r>
              <a:rPr lang="it-IT" dirty="0"/>
              <a:t> fra due Intenti</a:t>
            </a:r>
          </a:p>
          <a:p>
            <a:r>
              <a:rPr lang="it-IT" dirty="0"/>
              <a:t>Creando un intent di follow-up, al </a:t>
            </a:r>
            <a:r>
              <a:rPr lang="it-IT" b="1" dirty="0" err="1"/>
              <a:t>parent</a:t>
            </a:r>
            <a:r>
              <a:rPr lang="it-IT" b="1" dirty="0"/>
              <a:t> intent</a:t>
            </a:r>
            <a:r>
              <a:rPr lang="it-IT" dirty="0"/>
              <a:t> viene aggiunto automaticamente un </a:t>
            </a:r>
            <a:r>
              <a:rPr lang="it-IT" b="1" dirty="0"/>
              <a:t>contesto di output </a:t>
            </a:r>
            <a:r>
              <a:rPr lang="it-IT" dirty="0"/>
              <a:t>e al </a:t>
            </a:r>
            <a:r>
              <a:rPr lang="it-IT" b="1" dirty="0"/>
              <a:t>follow-up intent </a:t>
            </a:r>
            <a:r>
              <a:rPr lang="it-IT" dirty="0"/>
              <a:t>viene aggiunto un </a:t>
            </a:r>
            <a:r>
              <a:rPr lang="it-IT" b="1" dirty="0"/>
              <a:t>contesto di input </a:t>
            </a:r>
            <a:r>
              <a:rPr lang="it-IT" dirty="0"/>
              <a:t>con lo stesso nome. </a:t>
            </a:r>
          </a:p>
          <a:p>
            <a:r>
              <a:rPr lang="it-IT" dirty="0"/>
              <a:t>Un intent di follow-up viene associato solo quando l'intent principale viene associato nel turno di conversazione precedente. </a:t>
            </a:r>
          </a:p>
          <a:p>
            <a:r>
              <a:rPr lang="it-IT" dirty="0"/>
              <a:t>Sono disponibili intent di follow-up predefiniti per le risposte comuni degli utenti finali, come "sì", "no" o "annulla". </a:t>
            </a:r>
          </a:p>
          <a:p>
            <a:r>
              <a:rPr lang="it-IT" dirty="0"/>
              <a:t>E’ possibile creare intent di follow-up per gestire le risposte personalizzate.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5464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dirty="0"/>
              <a:t>Intenti di Follow Up – Esempio 1/2</a:t>
            </a:r>
            <a:endParaRPr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E03280-E1D7-4252-A767-DB8D6EC0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PrenotazioneTavolo</a:t>
            </a:r>
            <a:r>
              <a:rPr lang="it-IT" dirty="0" err="1">
                <a:sym typeface="Wingdings" panose="05000000000000000000" pitchFamily="2" charset="2"/>
              </a:rPr>
              <a:t>Follow</a:t>
            </a:r>
            <a:r>
              <a:rPr lang="it-IT" dirty="0">
                <a:sym typeface="Wingdings" panose="05000000000000000000" pitchFamily="2" charset="2"/>
              </a:rPr>
              <a:t> Up Intent (</a:t>
            </a:r>
            <a:r>
              <a:rPr lang="it-IT" b="1" dirty="0">
                <a:sym typeface="Wingdings" panose="05000000000000000000" pitchFamily="2" charset="2"/>
              </a:rPr>
              <a:t>predefinito</a:t>
            </a:r>
            <a:r>
              <a:rPr lang="it-IT" dirty="0">
                <a:sym typeface="Wingdings" panose="05000000000000000000" pitchFamily="2" charset="2"/>
              </a:rPr>
              <a:t>) </a:t>
            </a:r>
            <a:r>
              <a:rPr lang="it-IT" dirty="0" err="1">
                <a:sym typeface="Wingdings" panose="05000000000000000000" pitchFamily="2" charset="2"/>
              </a:rPr>
              <a:t>Cancel</a:t>
            </a:r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Creazione  automatica del contesto </a:t>
            </a:r>
            <a:r>
              <a:rPr lang="it-IT" b="1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endParaRPr lang="it-IT" b="1" dirty="0">
              <a:solidFill>
                <a:schemeClr val="accent4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Associazione, quale contesto di </a:t>
            </a:r>
            <a:r>
              <a:rPr lang="it-IT" b="1" dirty="0">
                <a:sym typeface="Wingdings" panose="05000000000000000000" pitchFamily="2" charset="2"/>
              </a:rPr>
              <a:t>output</a:t>
            </a:r>
            <a:r>
              <a:rPr lang="it-IT" dirty="0">
                <a:sym typeface="Wingdings" panose="05000000000000000000" pitchFamily="2" charset="2"/>
              </a:rPr>
              <a:t>, di </a:t>
            </a:r>
            <a:r>
              <a:rPr lang="it-IT" b="1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r>
              <a:rPr lang="it-IT" b="1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it-IT" dirty="0">
                <a:sym typeface="Wingdings" panose="05000000000000000000" pitchFamily="2" charset="2"/>
              </a:rPr>
              <a:t>all’Intento </a:t>
            </a:r>
            <a:r>
              <a:rPr lang="it-IT" b="1" dirty="0" err="1">
                <a:solidFill>
                  <a:srgbClr val="00B050"/>
                </a:solidFill>
                <a:sym typeface="Wingdings" panose="05000000000000000000" pitchFamily="2" charset="2"/>
              </a:rPr>
              <a:t>PrenotazioneTavolo</a:t>
            </a:r>
            <a:endParaRPr lang="it-IT" b="1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Creazione automatica dell’intento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PrenotazioneTavolo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 –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cancel</a:t>
            </a:r>
            <a:endParaRPr lang="it-IT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Associazione, quale contesto di </a:t>
            </a:r>
            <a:r>
              <a:rPr lang="it-IT" b="1" dirty="0">
                <a:sym typeface="Wingdings" panose="05000000000000000000" pitchFamily="2" charset="2"/>
              </a:rPr>
              <a:t>input</a:t>
            </a:r>
            <a:r>
              <a:rPr lang="it-IT" dirty="0">
                <a:sym typeface="Wingdings" panose="05000000000000000000" pitchFamily="2" charset="2"/>
              </a:rPr>
              <a:t>, di </a:t>
            </a:r>
            <a:r>
              <a:rPr lang="it-IT" b="1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r>
              <a:rPr lang="it-IT" b="1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it-IT" dirty="0">
                <a:sym typeface="Wingdings" panose="05000000000000000000" pitchFamily="2" charset="2"/>
              </a:rPr>
              <a:t>all’Intento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PrenotazioneTavolo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 –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cancel</a:t>
            </a:r>
            <a:endParaRPr lang="it-IT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it-IT" i="1" dirty="0">
                <a:sym typeface="Wingdings" panose="05000000000000000000" pitchFamily="2" charset="2"/>
              </a:rPr>
              <a:t>Va bene, ho annullato la prenotazione fatta per </a:t>
            </a:r>
            <a:r>
              <a:rPr lang="it-IT" b="1" i="1" dirty="0">
                <a:solidFill>
                  <a:srgbClr val="0070C0"/>
                </a:solidFill>
                <a:sym typeface="Wingdings" panose="05000000000000000000" pitchFamily="2" charset="2"/>
              </a:rPr>
              <a:t>#PrenotazioneTavolo-followup.data_prenotazione </a:t>
            </a:r>
            <a:r>
              <a:rPr lang="it-IT" i="1" dirty="0">
                <a:sym typeface="Wingdings" panose="05000000000000000000" pitchFamily="2" charset="2"/>
              </a:rPr>
              <a:t>alle ore #PrenotazioneTavolo-followup.ora_prenotazione per #PrenotazioneTavolo-followup.numero_persone fatta a nome #PrenotazioneTavolo-followup.cognome_prenotazione. Se vuoi, posso aiutarti a farne una nuova.</a:t>
            </a:r>
          </a:p>
          <a:p>
            <a:endParaRPr lang="it-IT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3061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it" dirty="0"/>
              <a:t>Intenti di Follow Up – Esempio 2/2</a:t>
            </a:r>
            <a:endParaRPr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E03280-E1D7-4252-A767-DB8D6EC0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PrenotazioneTavolo</a:t>
            </a:r>
            <a:r>
              <a:rPr lang="it-IT" dirty="0" err="1">
                <a:sym typeface="Wingdings" panose="05000000000000000000" pitchFamily="2" charset="2"/>
              </a:rPr>
              <a:t>Follow</a:t>
            </a:r>
            <a:r>
              <a:rPr lang="it-IT" dirty="0">
                <a:sym typeface="Wingdings" panose="05000000000000000000" pitchFamily="2" charset="2"/>
              </a:rPr>
              <a:t> Up Intent (</a:t>
            </a:r>
            <a:r>
              <a:rPr lang="it-IT" b="1" dirty="0">
                <a:sym typeface="Wingdings" panose="05000000000000000000" pitchFamily="2" charset="2"/>
              </a:rPr>
              <a:t>Custom</a:t>
            </a:r>
            <a:r>
              <a:rPr lang="it-IT" dirty="0">
                <a:sym typeface="Wingdings" panose="05000000000000000000" pitchFamily="2" charset="2"/>
              </a:rPr>
              <a:t>) </a:t>
            </a:r>
          </a:p>
          <a:p>
            <a:r>
              <a:rPr lang="it-IT" strike="sngStrike" dirty="0">
                <a:sym typeface="Wingdings" panose="05000000000000000000" pitchFamily="2" charset="2"/>
              </a:rPr>
              <a:t>Creazione  automatica del contesto </a:t>
            </a:r>
            <a:r>
              <a:rPr lang="it-IT" b="1" strike="sngStrike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endParaRPr lang="it-IT" b="1" strike="sngStrike" dirty="0">
              <a:solidFill>
                <a:schemeClr val="accent4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r>
              <a:rPr lang="it-IT" strike="sngStrike" dirty="0">
                <a:sym typeface="Wingdings" panose="05000000000000000000" pitchFamily="2" charset="2"/>
              </a:rPr>
              <a:t>Associazione, quale contesto di </a:t>
            </a:r>
            <a:r>
              <a:rPr lang="it-IT" b="1" strike="sngStrike" dirty="0">
                <a:sym typeface="Wingdings" panose="05000000000000000000" pitchFamily="2" charset="2"/>
              </a:rPr>
              <a:t>output</a:t>
            </a:r>
            <a:r>
              <a:rPr lang="it-IT" strike="sngStrike" dirty="0">
                <a:sym typeface="Wingdings" panose="05000000000000000000" pitchFamily="2" charset="2"/>
              </a:rPr>
              <a:t>, di </a:t>
            </a:r>
            <a:r>
              <a:rPr lang="it-IT" b="1" strike="sngStrike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r>
              <a:rPr lang="it-IT" b="1" strike="sngStrike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it-IT" strike="sngStrike" dirty="0">
                <a:sym typeface="Wingdings" panose="05000000000000000000" pitchFamily="2" charset="2"/>
              </a:rPr>
              <a:t>all’Intento </a:t>
            </a:r>
            <a:r>
              <a:rPr lang="it-IT" b="1" strike="sngStrike" dirty="0" err="1">
                <a:solidFill>
                  <a:srgbClr val="00B050"/>
                </a:solidFill>
                <a:sym typeface="Wingdings" panose="05000000000000000000" pitchFamily="2" charset="2"/>
              </a:rPr>
              <a:t>PrenotazioneTavolo</a:t>
            </a:r>
            <a:endParaRPr lang="it-IT" b="1" strike="sngStrike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Creazione automatica dell’intento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PrenotazioneTavolo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 – custom</a:t>
            </a:r>
          </a:p>
          <a:p>
            <a:r>
              <a:rPr lang="it-IT" dirty="0">
                <a:sym typeface="Wingdings" panose="05000000000000000000" pitchFamily="2" charset="2"/>
              </a:rPr>
              <a:t>Associazione, quale contesto di </a:t>
            </a:r>
            <a:r>
              <a:rPr lang="it-IT" b="1" dirty="0">
                <a:sym typeface="Wingdings" panose="05000000000000000000" pitchFamily="2" charset="2"/>
              </a:rPr>
              <a:t>input</a:t>
            </a:r>
            <a:r>
              <a:rPr lang="it-IT" dirty="0">
                <a:sym typeface="Wingdings" panose="05000000000000000000" pitchFamily="2" charset="2"/>
              </a:rPr>
              <a:t>, di </a:t>
            </a:r>
            <a:r>
              <a:rPr lang="it-IT" b="1" dirty="0" err="1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PrenotazioneTavolo-followup</a:t>
            </a:r>
            <a:r>
              <a:rPr lang="it-IT" b="1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it-IT" dirty="0">
                <a:sym typeface="Wingdings" panose="05000000000000000000" pitchFamily="2" charset="2"/>
              </a:rPr>
              <a:t>all’Intento </a:t>
            </a:r>
            <a:r>
              <a:rPr lang="it-IT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PrenotazioneTavolo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 – custom</a:t>
            </a:r>
          </a:p>
          <a:p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TF: </a:t>
            </a:r>
          </a:p>
          <a:p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R: </a:t>
            </a:r>
            <a:r>
              <a:rPr lang="it-IT" i="1" dirty="0">
                <a:sym typeface="Wingdings" panose="05000000000000000000" pitchFamily="2" charset="2"/>
              </a:rPr>
              <a:t>Certo, posso aiutarti a modificare la prenotazione. Quale dato vuoi cambiare: numero di persone, giorno o orario?.</a:t>
            </a:r>
          </a:p>
          <a:p>
            <a:endParaRPr lang="it-IT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3436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0EBC0F-C3D4-41E2-97FA-E3E92393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5592F0-D709-4268-8493-EC70FE1B7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Realizzazione di un chatbot per la prenotazione di una visita medica.</a:t>
            </a:r>
          </a:p>
          <a:p>
            <a:r>
              <a:rPr lang="it-IT" dirty="0"/>
              <a:t>Il chatbot deve raccogliere informazioni relative a:</a:t>
            </a:r>
          </a:p>
          <a:p>
            <a:pPr lvl="1"/>
            <a:r>
              <a:rPr lang="it-IT" dirty="0"/>
              <a:t>tipo di visita, </a:t>
            </a:r>
          </a:p>
          <a:p>
            <a:pPr lvl="1"/>
            <a:r>
              <a:rPr lang="it-IT" dirty="0"/>
              <a:t>data desiderata, </a:t>
            </a:r>
          </a:p>
          <a:p>
            <a:pPr lvl="1"/>
            <a:r>
              <a:rPr lang="it-IT" dirty="0"/>
              <a:t>fascia oraria </a:t>
            </a:r>
          </a:p>
          <a:p>
            <a:pPr lvl="1"/>
            <a:r>
              <a:rPr lang="it-IT" dirty="0"/>
              <a:t>nominativo del paziente </a:t>
            </a:r>
          </a:p>
          <a:p>
            <a:pPr lvl="1"/>
            <a:r>
              <a:rPr lang="it-IT" dirty="0"/>
              <a:t>numero di telefono del paziente. </a:t>
            </a:r>
          </a:p>
          <a:p>
            <a:r>
              <a:rPr lang="it-IT" dirty="0"/>
              <a:t>Progettare includendo tutti gli intenti e le entità che consentano di</a:t>
            </a:r>
          </a:p>
          <a:p>
            <a:pPr lvl="1"/>
            <a:r>
              <a:rPr lang="it-IT" dirty="0"/>
              <a:t>effettuare la prenotazione</a:t>
            </a:r>
          </a:p>
          <a:p>
            <a:pPr lvl="1"/>
            <a:r>
              <a:rPr lang="it-IT" dirty="0"/>
              <a:t>modificarla </a:t>
            </a:r>
          </a:p>
          <a:p>
            <a:pPr lvl="1"/>
            <a:r>
              <a:rPr lang="it-IT" dirty="0"/>
              <a:t>annullarla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30096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1551</Words>
  <Application>Microsoft Office PowerPoint</Application>
  <PresentationFormat>Widescreen</PresentationFormat>
  <Paragraphs>172</Paragraphs>
  <Slides>19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di Office</vt:lpstr>
      <vt:lpstr>Dialog Flow</vt:lpstr>
      <vt:lpstr>Presentazione</vt:lpstr>
      <vt:lpstr>Componenti</vt:lpstr>
      <vt:lpstr>Componenti</vt:lpstr>
      <vt:lpstr>Agente</vt:lpstr>
      <vt:lpstr>Intento</vt:lpstr>
      <vt:lpstr>Componenti di un intento – Frasi di addestramento</vt:lpstr>
      <vt:lpstr>Componenti di un intento – Parametri</vt:lpstr>
      <vt:lpstr>Componenti di un intento – Parametri - Esempio</vt:lpstr>
      <vt:lpstr>Componenti di un intento – Risposte</vt:lpstr>
      <vt:lpstr>Flusso base per selezione intent e risposta</vt:lpstr>
      <vt:lpstr>Entità</vt:lpstr>
      <vt:lpstr>Entità - Esempio</vt:lpstr>
      <vt:lpstr>Contesti</vt:lpstr>
      <vt:lpstr>Flusso con contesti</vt:lpstr>
      <vt:lpstr>Intenti di follow-up</vt:lpstr>
      <vt:lpstr>Intenti di Follow Up – Esempio 1/2</vt:lpstr>
      <vt:lpstr>Intenti di Follow Up – Esempio 2/2</vt:lpstr>
      <vt:lpstr>Attività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 Flow</dc:title>
  <dc:creator>Academy</dc:creator>
  <cp:lastModifiedBy>Academy</cp:lastModifiedBy>
  <cp:revision>85</cp:revision>
  <dcterms:created xsi:type="dcterms:W3CDTF">2026-05-21T06:18:12Z</dcterms:created>
  <dcterms:modified xsi:type="dcterms:W3CDTF">2026-05-26T15:14:28Z</dcterms:modified>
</cp:coreProperties>
</file>