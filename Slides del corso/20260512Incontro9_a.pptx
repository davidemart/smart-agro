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9" r:id="rId5"/>
    <p:sldId id="272" r:id="rId6"/>
    <p:sldId id="267" r:id="rId7"/>
    <p:sldId id="271" r:id="rId8"/>
    <p:sldId id="270" r:id="rId9"/>
    <p:sldId id="275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84DFDB-DDFE-4859-8803-FCF31A065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1BA51FA-874B-4529-868E-48FA1CEB4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C20D52-7B38-4B52-9694-F1414CD5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C0B761-E19B-4DDF-A341-46A7E8D74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E30BD3-6AB4-457A-BA89-141233C3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5853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712772-A73C-4D06-B1A3-2909EFA39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606FD0-AC46-44CB-841B-2E422C2A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88BFFA-B930-401F-B2A6-E357E1362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16491C-3454-4E0A-9DC0-1C4F794F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9082C5-4DEC-472C-84D3-579C0766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462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AAF5AB-4CD3-43B9-882B-19BF869D9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FEF2EB2-BB65-470F-8978-447088626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D90CD9-7ECD-497D-8AC6-53274863B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581AB5-6FA6-45AB-9333-ABD9C274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D3D551-CD62-4E66-A121-F8803559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7559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BCC4B9-80C4-48DA-8339-D08448BC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8EB136-BFFD-4C71-A85F-7C326ED20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DDE5E65-65D7-4782-AA2B-2E1A87596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C85470-3896-41E6-933B-55692A4D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9AA6A87-03D2-457C-85C7-0468BEB0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BA40D1-0256-45D0-8E95-5D174A89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87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388C3D-DA27-4ACA-BB37-F3EA2C26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D856E46-0375-4A29-8CF0-6167A62C3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5179515-41AB-4EF5-BBCB-E6B5EF7AB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047B7FF-A001-4706-8DA2-4E7165F57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7CC3D65-38D3-42D5-9BB5-9A52CD31F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BA0D26D-E0E8-4B5F-86DD-6C9EC91BA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625F52D-A93D-45D8-9F39-E469F3C6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659CE82-C1D8-47A3-9990-E5AEAB41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518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73951-029C-4346-863D-2A7B2153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C55AAFB-42D0-44DF-ABC5-67867FC5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58E6CC2-4F04-43EB-BDBC-A40B203B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3E0DC53-6196-4896-B46E-4DB01EE4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5940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18499AC-E68B-4C3F-9814-D1AD2A23E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8A878C4-5578-46B0-8E2C-4A009CB7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6626C8-2F6E-49F5-8F2A-91390F37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955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3090B7-0486-4BC1-8452-A57872A6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2C30E3-CD9B-4A19-83D1-408ABF243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89665DB-E8CC-4AA5-BBED-6825D7085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6663973-CF61-4977-B7DA-22E96DB0A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BAF17D4-1706-45FD-A9A4-8D16619C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E7899D-91A5-4507-8252-808BF3C9E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0105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C68D22-0433-4357-B745-D49EF7416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FDF74B4-F3C8-4D68-A458-930720517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08FE15C-9611-4B20-B305-49DE2CCC5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CDD364A-B887-4CA4-A1DD-85088816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3F181F8-8F6C-4F20-8EB4-382D2FBA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759B160-2726-4CD5-B27E-80FA7C7E5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482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F82709-6AA0-49B5-A03E-8DB2CB330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C23F8BE-09F3-4C17-A57B-50135C669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0B983B-F652-433D-9510-AB61DED30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29C99A-6F48-4237-83B8-49B15ABF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FE2867-59DE-4361-A38A-0FC4B8E7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007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E6E49C0-D4C2-48E7-A50E-D8A388EF3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9C38336-591C-44A1-9F34-10ED93E42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1AAE00-4498-441B-9875-3784F70B0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B9F283-9157-4AB2-99C9-956508EF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FB0180-D990-45C7-A6C6-178AEAE5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99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47F388D-2C66-411A-AA27-28836FC4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8332D7B-03D4-42EC-A74A-92D0357EB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91DB80-D6FB-4FE0-9D28-719C95199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37155-86AE-4B3F-9A9F-9BD08EDE7DA7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185211-59D5-405F-81E9-330CF0CC6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E3AC23F-DA9E-4989-8B99-9203141A4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CC872-42E2-4809-A90C-DF2C369997C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430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56DE72-7823-42FD-BD50-F29FE06AF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Incontro 9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3A3945A-79BF-49FC-A6E2-183607B9DC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8431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B6506899-FDC8-46B9-8734-D72E94239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</a:t>
            </a:r>
            <a:r>
              <a:rPr lang="en-US" dirty="0"/>
              <a:t>(Open Source Computer Vision Library)</a:t>
            </a:r>
            <a:endParaRPr lang="it-IT" dirty="0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2F36EEE-7DA9-430B-93E5-2A1951BA5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Libreria standard del settore. È vastissima, scritta originariamente in C++ (ma con un eccellente </a:t>
            </a:r>
            <a:r>
              <a:rPr lang="it-IT" dirty="0" err="1"/>
              <a:t>wrapper</a:t>
            </a:r>
            <a:r>
              <a:rPr lang="it-IT" dirty="0"/>
              <a:t> Python) e offre migliaia di algoritmi per qualsiasi cosa: dal filtraggio dei pixel alla ricostruzione 3D, fino al tracciamento dei volti.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36437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130E2A-368F-4284-B4FB-2305FD89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– </a:t>
            </a:r>
            <a:r>
              <a:rPr lang="en-US" dirty="0"/>
              <a:t>Read, write and image properties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69E6A6-5075-4CD9-A9FA-C119EBAC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import cv2</a:t>
            </a:r>
          </a:p>
          <a:p>
            <a:r>
              <a:rPr lang="en-US" b="1" dirty="0">
                <a:solidFill>
                  <a:srgbClr val="00B050"/>
                </a:solidFill>
              </a:rPr>
              <a:t># Read the image</a:t>
            </a:r>
          </a:p>
          <a:p>
            <a:r>
              <a:rPr lang="en-US" dirty="0" err="1"/>
              <a:t>img</a:t>
            </a:r>
            <a:r>
              <a:rPr lang="en-US" dirty="0"/>
              <a:t> = cv2.</a:t>
            </a:r>
            <a:r>
              <a:rPr lang="en-US" b="1" dirty="0">
                <a:solidFill>
                  <a:srgbClr val="FF0000"/>
                </a:solidFill>
              </a:rPr>
              <a:t>imread</a:t>
            </a:r>
            <a:r>
              <a:rPr lang="en-US" dirty="0"/>
              <a:t>("emotions.jpg")</a:t>
            </a:r>
          </a:p>
          <a:p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img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None:</a:t>
            </a:r>
          </a:p>
          <a:p>
            <a:r>
              <a:rPr lang="it-IT" dirty="0"/>
              <a:t>    </a:t>
            </a:r>
            <a:r>
              <a:rPr lang="it-IT" b="1" dirty="0">
                <a:solidFill>
                  <a:srgbClr val="00B050"/>
                </a:solidFill>
              </a:rPr>
              <a:t># Print </a:t>
            </a:r>
            <a:r>
              <a:rPr lang="it-IT" b="1" dirty="0" err="1">
                <a:solidFill>
                  <a:srgbClr val="00B050"/>
                </a:solidFill>
              </a:rPr>
              <a:t>properties</a:t>
            </a:r>
            <a:r>
              <a:rPr lang="it-IT" b="1" dirty="0">
                <a:solidFill>
                  <a:srgbClr val="00B050"/>
                </a:solidFill>
              </a:rPr>
              <a:t>: (</a:t>
            </a:r>
            <a:r>
              <a:rPr lang="it-IT" b="1" dirty="0" err="1">
                <a:solidFill>
                  <a:srgbClr val="00B050"/>
                </a:solidFill>
              </a:rPr>
              <a:t>Height</a:t>
            </a:r>
            <a:r>
              <a:rPr lang="it-IT" b="1" dirty="0">
                <a:solidFill>
                  <a:srgbClr val="00B050"/>
                </a:solidFill>
              </a:rPr>
              <a:t>, </a:t>
            </a:r>
            <a:r>
              <a:rPr lang="it-IT" b="1" dirty="0" err="1">
                <a:solidFill>
                  <a:srgbClr val="00B050"/>
                </a:solidFill>
              </a:rPr>
              <a:t>Width</a:t>
            </a:r>
            <a:r>
              <a:rPr lang="it-IT" b="1" dirty="0">
                <a:solidFill>
                  <a:srgbClr val="00B050"/>
                </a:solidFill>
              </a:rPr>
              <a:t>, </a:t>
            </a:r>
            <a:r>
              <a:rPr lang="it-IT" b="1" dirty="0" err="1">
                <a:solidFill>
                  <a:srgbClr val="00B050"/>
                </a:solidFill>
              </a:rPr>
              <a:t>Number</a:t>
            </a:r>
            <a:r>
              <a:rPr lang="it-IT" b="1" dirty="0">
                <a:solidFill>
                  <a:srgbClr val="00B050"/>
                </a:solidFill>
              </a:rPr>
              <a:t> of </a:t>
            </a:r>
            <a:r>
              <a:rPr lang="it-IT" b="1" dirty="0" err="1">
                <a:solidFill>
                  <a:srgbClr val="00B050"/>
                </a:solidFill>
              </a:rPr>
              <a:t>Channels</a:t>
            </a:r>
            <a:r>
              <a:rPr lang="it-IT" b="1" dirty="0">
                <a:solidFill>
                  <a:srgbClr val="00B050"/>
                </a:solidFill>
              </a:rPr>
              <a:t>)</a:t>
            </a:r>
          </a:p>
          <a:p>
            <a:r>
              <a:rPr lang="it-IT" dirty="0"/>
              <a:t>    </a:t>
            </a:r>
            <a:r>
              <a:rPr lang="it-IT" dirty="0" err="1"/>
              <a:t>print</a:t>
            </a:r>
            <a:r>
              <a:rPr lang="it-IT" dirty="0"/>
              <a:t>("Dimensioni (H, W, C):", </a:t>
            </a:r>
            <a:r>
              <a:rPr lang="it-IT" dirty="0" err="1"/>
              <a:t>img.</a:t>
            </a:r>
            <a:r>
              <a:rPr lang="it-IT" b="1" dirty="0" err="1">
                <a:solidFill>
                  <a:schemeClr val="accent5">
                    <a:lumMod val="50000"/>
                  </a:schemeClr>
                </a:solidFill>
              </a:rPr>
              <a:t>shape</a:t>
            </a:r>
            <a:r>
              <a:rPr lang="it-IT" dirty="0"/>
              <a:t>) </a:t>
            </a:r>
          </a:p>
          <a:p>
            <a:r>
              <a:rPr lang="it-IT" dirty="0"/>
              <a:t>    </a:t>
            </a:r>
            <a:r>
              <a:rPr lang="it-IT" b="1" dirty="0">
                <a:solidFill>
                  <a:srgbClr val="00B050"/>
                </a:solidFill>
              </a:rPr>
              <a:t># Save a copy</a:t>
            </a:r>
          </a:p>
          <a:p>
            <a:r>
              <a:rPr lang="it-IT" dirty="0"/>
              <a:t>    cv2.</a:t>
            </a:r>
            <a:r>
              <a:rPr lang="it-IT" b="1" dirty="0">
                <a:solidFill>
                  <a:srgbClr val="FF0000"/>
                </a:solidFill>
              </a:rPr>
              <a:t>imwrite</a:t>
            </a:r>
            <a:r>
              <a:rPr lang="it-IT" dirty="0"/>
              <a:t>("emotionsCopia.jpg", </a:t>
            </a:r>
            <a:r>
              <a:rPr lang="it-IT" dirty="0" err="1"/>
              <a:t>img</a:t>
            </a:r>
            <a:r>
              <a:rPr lang="it-IT" dirty="0"/>
              <a:t>)</a:t>
            </a:r>
          </a:p>
          <a:p>
            <a:r>
              <a:rPr lang="it-IT" dirty="0"/>
              <a:t>    </a:t>
            </a:r>
            <a:r>
              <a:rPr lang="it-IT" b="1" dirty="0">
                <a:solidFill>
                  <a:srgbClr val="00B050"/>
                </a:solidFill>
              </a:rPr>
              <a:t># Show the image</a:t>
            </a:r>
          </a:p>
          <a:p>
            <a:r>
              <a:rPr lang="it-IT" dirty="0"/>
              <a:t>    cv2.</a:t>
            </a:r>
            <a:r>
              <a:rPr lang="it-IT" b="1" dirty="0">
                <a:solidFill>
                  <a:srgbClr val="FF0000"/>
                </a:solidFill>
              </a:rPr>
              <a:t>imshow</a:t>
            </a:r>
            <a:r>
              <a:rPr lang="it-IT" dirty="0"/>
              <a:t>("Titolo Finestra", </a:t>
            </a:r>
            <a:r>
              <a:rPr lang="it-IT" dirty="0" err="1"/>
              <a:t>img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887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130E2A-368F-4284-B4FB-2305FD89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– </a:t>
            </a:r>
            <a:r>
              <a:rPr lang="it-IT" dirty="0" err="1"/>
              <a:t>Resize</a:t>
            </a:r>
            <a:r>
              <a:rPr lang="it-IT" dirty="0"/>
              <a:t>, </a:t>
            </a:r>
            <a:r>
              <a:rPr lang="it-IT" dirty="0" err="1"/>
              <a:t>crop</a:t>
            </a:r>
            <a:r>
              <a:rPr lang="it-IT" dirty="0"/>
              <a:t> and rotate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69E6A6-5075-4CD9-A9FA-C119EBAC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resized = cv2.</a:t>
            </a:r>
            <a:r>
              <a:rPr lang="en-US" b="1" dirty="0">
                <a:solidFill>
                  <a:srgbClr val="FF0000"/>
                </a:solidFill>
              </a:rPr>
              <a:t>resize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(300, 300))</a:t>
            </a:r>
          </a:p>
          <a:p>
            <a:endParaRPr lang="en-US" dirty="0"/>
          </a:p>
          <a:p>
            <a:r>
              <a:rPr lang="en-US" dirty="0"/>
              <a:t>crop = </a:t>
            </a:r>
            <a:r>
              <a:rPr lang="en-US" dirty="0" err="1"/>
              <a:t>img</a:t>
            </a:r>
            <a:r>
              <a:rPr lang="en-US" dirty="0"/>
              <a:t>[50:250, 100:300]</a:t>
            </a:r>
          </a:p>
          <a:p>
            <a:pPr lvl="1"/>
            <a:r>
              <a:rPr lang="it-IT" dirty="0"/>
              <a:t>Ritaglio (</a:t>
            </a:r>
            <a:r>
              <a:rPr lang="it-IT" dirty="0" err="1"/>
              <a:t>cropping</a:t>
            </a:r>
            <a:r>
              <a:rPr lang="it-IT" dirty="0"/>
              <a:t>) dell'immagine originale, selezionando solo una specifica porzione rettangolare.</a:t>
            </a:r>
          </a:p>
          <a:p>
            <a:pPr lvl="1"/>
            <a:r>
              <a:rPr lang="it-IT" dirty="0"/>
              <a:t>Sintassi </a:t>
            </a:r>
            <a:r>
              <a:rPr lang="it-IT" dirty="0" err="1"/>
              <a:t>img</a:t>
            </a:r>
            <a:r>
              <a:rPr lang="it-IT" b="1" dirty="0">
                <a:solidFill>
                  <a:srgbClr val="FF0000"/>
                </a:solidFill>
              </a:rPr>
              <a:t>[</a:t>
            </a:r>
            <a:r>
              <a:rPr lang="it-IT" b="1" dirty="0" err="1">
                <a:solidFill>
                  <a:srgbClr val="FF0000"/>
                </a:solidFill>
              </a:rPr>
              <a:t>y_inizio:y_fine</a:t>
            </a:r>
            <a:r>
              <a:rPr lang="it-IT" b="1" dirty="0">
                <a:solidFill>
                  <a:srgbClr val="FF0000"/>
                </a:solidFill>
              </a:rPr>
              <a:t>, </a:t>
            </a:r>
            <a:r>
              <a:rPr lang="it-IT" b="1" dirty="0" err="1">
                <a:solidFill>
                  <a:srgbClr val="FF0000"/>
                </a:solidFill>
              </a:rPr>
              <a:t>x_inizio:x_fine</a:t>
            </a:r>
            <a:r>
              <a:rPr lang="it-IT" b="1" dirty="0">
                <a:solidFill>
                  <a:srgbClr val="FF0000"/>
                </a:solidFill>
              </a:rPr>
              <a:t>]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L’istruzione specifica: </a:t>
            </a:r>
          </a:p>
          <a:p>
            <a:pPr lvl="2"/>
            <a:r>
              <a:rPr lang="it-IT" dirty="0"/>
              <a:t>50:250: L'intervallo verticale (altezza). Parte dalla riga 50 e arriva alla riga 250.</a:t>
            </a:r>
          </a:p>
          <a:p>
            <a:pPr lvl="2"/>
            <a:r>
              <a:rPr lang="it-IT" dirty="0"/>
              <a:t>100:300: L'intervallo orizzontale (larghezza). Parte dalla colonna 100 e arriva alla colonna 300.</a:t>
            </a:r>
            <a:endParaRPr lang="en-US" dirty="0"/>
          </a:p>
          <a:p>
            <a:r>
              <a:rPr lang="en-US" dirty="0"/>
              <a:t>rotated = cv2.</a:t>
            </a:r>
            <a:r>
              <a:rPr lang="en-US" b="1" dirty="0">
                <a:solidFill>
                  <a:srgbClr val="FF0000"/>
                </a:solidFill>
              </a:rPr>
              <a:t>rotate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cv2.ROTATE_90_CLOCKWISE)</a:t>
            </a:r>
          </a:p>
        </p:txBody>
      </p:sp>
    </p:spTree>
    <p:extLst>
      <p:ext uri="{BB962C8B-B14F-4D97-AF65-F5344CB8AC3E}">
        <p14:creationId xmlns:p14="http://schemas.microsoft.com/office/powerpoint/2010/main" val="480041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130E2A-368F-4284-B4FB-2305FD89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– </a:t>
            </a:r>
            <a:r>
              <a:rPr lang="it-IT" dirty="0" err="1"/>
              <a:t>Draw</a:t>
            </a:r>
            <a:r>
              <a:rPr lang="it-IT" dirty="0"/>
              <a:t> on image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69E6A6-5075-4CD9-A9FA-C119EBAC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cv2.</a:t>
            </a:r>
            <a:r>
              <a:rPr lang="en-US" b="1" dirty="0">
                <a:solidFill>
                  <a:srgbClr val="FF0000"/>
                </a:solidFill>
              </a:rPr>
              <a:t>line</a:t>
            </a:r>
            <a:r>
              <a:rPr lang="en-US" dirty="0"/>
              <a:t>(canvas, (50, 50), (300, 50), (255, 0, 0), 3)</a:t>
            </a:r>
          </a:p>
          <a:p>
            <a:pPr lvl="1"/>
            <a:r>
              <a:rPr lang="en-US" dirty="0" err="1"/>
              <a:t>Disegna</a:t>
            </a:r>
            <a:r>
              <a:rPr lang="en-US" dirty="0"/>
              <a:t> una </a:t>
            </a:r>
            <a:r>
              <a:rPr lang="en-US" dirty="0" err="1"/>
              <a:t>linea</a:t>
            </a:r>
            <a:r>
              <a:rPr lang="en-US" dirty="0"/>
              <a:t> </a:t>
            </a:r>
            <a:r>
              <a:rPr lang="en-US" dirty="0" err="1"/>
              <a:t>blu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dal punto (50,50) al punto (300,50) di </a:t>
            </a:r>
            <a:r>
              <a:rPr lang="en-US" dirty="0" err="1"/>
              <a:t>spessore</a:t>
            </a:r>
            <a:r>
              <a:rPr lang="en-US" dirty="0"/>
              <a:t> 3</a:t>
            </a:r>
          </a:p>
          <a:p>
            <a:r>
              <a:rPr lang="en-US" dirty="0"/>
              <a:t>cv2.</a:t>
            </a:r>
            <a:r>
              <a:rPr lang="en-US" sz="2900" b="1" dirty="0">
                <a:solidFill>
                  <a:srgbClr val="FF0000"/>
                </a:solidFill>
              </a:rPr>
              <a:t>rectangle</a:t>
            </a:r>
            <a:r>
              <a:rPr lang="en-US" dirty="0"/>
              <a:t>(canvas, (50, 80), (200, 200), (0, 255, 0), 3)</a:t>
            </a:r>
          </a:p>
          <a:p>
            <a:pPr lvl="1"/>
            <a:r>
              <a:rPr lang="en-US" dirty="0" err="1"/>
              <a:t>Disegna</a:t>
            </a:r>
            <a:r>
              <a:rPr lang="en-US" dirty="0"/>
              <a:t> un </a:t>
            </a:r>
            <a:r>
              <a:rPr lang="en-US" dirty="0" err="1"/>
              <a:t>rettangolo</a:t>
            </a:r>
            <a:r>
              <a:rPr lang="en-US" dirty="0"/>
              <a:t> </a:t>
            </a:r>
            <a:r>
              <a:rPr lang="en-US" dirty="0" err="1"/>
              <a:t>verde</a:t>
            </a:r>
            <a:r>
              <a:rPr lang="en-US" dirty="0"/>
              <a:t> con </a:t>
            </a:r>
            <a:r>
              <a:rPr lang="en-US" dirty="0" err="1"/>
              <a:t>angolo</a:t>
            </a:r>
            <a:r>
              <a:rPr lang="en-US" dirty="0"/>
              <a:t> in alto a </a:t>
            </a:r>
            <a:r>
              <a:rPr lang="en-US" dirty="0" err="1"/>
              <a:t>sx</a:t>
            </a:r>
            <a:r>
              <a:rPr lang="en-US" dirty="0"/>
              <a:t> (50,50) e in basso a dx (200,200). </a:t>
            </a:r>
            <a:r>
              <a:rPr lang="en-US" dirty="0" err="1"/>
              <a:t>Spessore</a:t>
            </a:r>
            <a:r>
              <a:rPr lang="en-US" dirty="0"/>
              <a:t> 3 pixel</a:t>
            </a:r>
          </a:p>
          <a:p>
            <a:r>
              <a:rPr lang="en-US" dirty="0"/>
              <a:t>cv2.</a:t>
            </a:r>
            <a:r>
              <a:rPr lang="en-US" sz="2900" b="1" dirty="0">
                <a:solidFill>
                  <a:srgbClr val="FF0000"/>
                </a:solidFill>
              </a:rPr>
              <a:t>circle</a:t>
            </a:r>
            <a:r>
              <a:rPr lang="en-US" dirty="0"/>
              <a:t>(canvas, (300, 300), 50, (0, 0, 255), 3)</a:t>
            </a:r>
          </a:p>
          <a:p>
            <a:pPr lvl="1"/>
            <a:r>
              <a:rPr lang="en-US" dirty="0" err="1"/>
              <a:t>Disegna</a:t>
            </a:r>
            <a:r>
              <a:rPr lang="en-US" dirty="0"/>
              <a:t> un </a:t>
            </a:r>
            <a:r>
              <a:rPr lang="en-US" dirty="0" err="1"/>
              <a:t>cerchio</a:t>
            </a:r>
            <a:r>
              <a:rPr lang="en-US" dirty="0"/>
              <a:t> osso con </a:t>
            </a:r>
            <a:r>
              <a:rPr lang="en-US" dirty="0" err="1"/>
              <a:t>centro</a:t>
            </a:r>
            <a:r>
              <a:rPr lang="en-US" dirty="0"/>
              <a:t> in (300,300) e </a:t>
            </a:r>
            <a:r>
              <a:rPr lang="en-US" dirty="0" err="1"/>
              <a:t>raggio</a:t>
            </a:r>
            <a:r>
              <a:rPr lang="en-US" dirty="0"/>
              <a:t> 50. </a:t>
            </a:r>
            <a:r>
              <a:rPr lang="en-US" dirty="0" err="1"/>
              <a:t>Spessore</a:t>
            </a:r>
            <a:r>
              <a:rPr lang="en-US" dirty="0"/>
              <a:t> 3 pixel</a:t>
            </a:r>
          </a:p>
          <a:p>
            <a:r>
              <a:rPr lang="en-US" dirty="0"/>
              <a:t>cv2.</a:t>
            </a:r>
            <a:r>
              <a:rPr lang="en-US" sz="2900" b="1" dirty="0">
                <a:solidFill>
                  <a:srgbClr val="FF0000"/>
                </a:solidFill>
              </a:rPr>
              <a:t>putText</a:t>
            </a:r>
            <a:r>
              <a:rPr lang="en-US" dirty="0"/>
              <a:t>(canvas, "OpenCV", (50, 350), cv2.FONT_HERSHEY_SIMPLEX, 1, (255, 255, 0), 2)</a:t>
            </a:r>
          </a:p>
          <a:p>
            <a:pPr lvl="1"/>
            <a:r>
              <a:rPr lang="it-IT" dirty="0"/>
              <a:t>Scrive il testo "</a:t>
            </a:r>
            <a:r>
              <a:rPr lang="it-IT" dirty="0" err="1"/>
              <a:t>OpenCV</a:t>
            </a:r>
            <a:r>
              <a:rPr lang="it-IT" dirty="0"/>
              <a:t>" in ciano/azzurro. Inizia al punto (50, 350).Usa il font FONT_HERSHEY_SIMPLEX con una dimensione (scala) 1. Lo spessore del tratto è 2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221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130E2A-368F-4284-B4FB-2305FD89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– Color </a:t>
            </a:r>
            <a:r>
              <a:rPr lang="it-IT" dirty="0" err="1"/>
              <a:t>conversion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69E6A6-5075-4CD9-A9FA-C119EBAC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#Color conversion - BGR2GRAY</a:t>
            </a:r>
          </a:p>
          <a:p>
            <a:r>
              <a:rPr lang="en-US" dirty="0"/>
              <a:t>gray = cv2.</a:t>
            </a:r>
            <a:r>
              <a:rPr lang="en-US" b="1" dirty="0">
                <a:solidFill>
                  <a:srgbClr val="FF0000"/>
                </a:solidFill>
              </a:rPr>
              <a:t>cvtColor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cv2.COLOR_BGR2GRAY) # from BGR to gray</a:t>
            </a:r>
          </a:p>
          <a:p>
            <a:r>
              <a:rPr lang="en-US" b="1" dirty="0">
                <a:solidFill>
                  <a:srgbClr val="00B050"/>
                </a:solidFill>
              </a:rPr>
              <a:t>#Color conversion - BGR2HSV</a:t>
            </a:r>
          </a:p>
          <a:p>
            <a:r>
              <a:rPr lang="en-US" dirty="0" err="1"/>
              <a:t>hsv</a:t>
            </a:r>
            <a:r>
              <a:rPr lang="en-US" dirty="0"/>
              <a:t> = cv2.</a:t>
            </a:r>
            <a:r>
              <a:rPr lang="en-US" b="1" dirty="0">
                <a:solidFill>
                  <a:srgbClr val="FF0000"/>
                </a:solidFill>
              </a:rPr>
              <a:t>cvtColor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cv2.COLOR_BGR2HSV) # from BGR to HSV</a:t>
            </a:r>
          </a:p>
          <a:p>
            <a:r>
              <a:rPr lang="en-US" dirty="0"/>
              <a:t>HSV Hue, Saturation, Value</a:t>
            </a:r>
          </a:p>
          <a:p>
            <a:pPr lvl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Hue</a:t>
            </a:r>
            <a:r>
              <a:rPr lang="en-US" dirty="0"/>
              <a:t> (</a:t>
            </a:r>
            <a:r>
              <a:rPr lang="en-US" dirty="0" err="1"/>
              <a:t>tonalità</a:t>
            </a:r>
            <a:r>
              <a:rPr lang="en-US" dirty="0"/>
              <a:t> o </a:t>
            </a:r>
            <a:r>
              <a:rPr lang="en-US" dirty="0" err="1"/>
              <a:t>tinta</a:t>
            </a:r>
            <a:r>
              <a:rPr lang="en-US" dirty="0"/>
              <a:t>): </a:t>
            </a:r>
            <a:r>
              <a:rPr lang="en-US" dirty="0" err="1"/>
              <a:t>rappresenta</a:t>
            </a:r>
            <a:r>
              <a:rPr lang="en-US" dirty="0"/>
              <a:t> il </a:t>
            </a:r>
            <a:r>
              <a:rPr lang="en-US" b="1" i="1" dirty="0" err="1"/>
              <a:t>colore</a:t>
            </a:r>
            <a:r>
              <a:rPr lang="en-US" dirty="0"/>
              <a:t> (rosso </a:t>
            </a:r>
            <a:r>
              <a:rPr lang="en-US" dirty="0" err="1"/>
              <a:t>giallo</a:t>
            </a:r>
            <a:r>
              <a:rPr lang="en-US" dirty="0"/>
              <a:t> </a:t>
            </a:r>
            <a:r>
              <a:rPr lang="en-US" dirty="0" err="1"/>
              <a:t>verde</a:t>
            </a:r>
            <a:r>
              <a:rPr lang="en-US" dirty="0"/>
              <a:t>). In OpenCV </a:t>
            </a:r>
            <a:r>
              <a:rPr lang="en-US" dirty="0" err="1"/>
              <a:t>valori</a:t>
            </a:r>
            <a:r>
              <a:rPr lang="en-US" dirty="0"/>
              <a:t> [0 179]. </a:t>
            </a:r>
            <a:r>
              <a:rPr lang="en-US" dirty="0" err="1"/>
              <a:t>Esempio</a:t>
            </a:r>
            <a:r>
              <a:rPr lang="en-US" dirty="0"/>
              <a:t>: il </a:t>
            </a:r>
            <a:r>
              <a:rPr lang="en-US" dirty="0" err="1"/>
              <a:t>giallo</a:t>
            </a:r>
            <a:r>
              <a:rPr lang="en-US" dirty="0"/>
              <a:t> è </a:t>
            </a:r>
            <a:r>
              <a:rPr lang="en-US" dirty="0" err="1"/>
              <a:t>intorno</a:t>
            </a:r>
            <a:r>
              <a:rPr lang="en-US" dirty="0"/>
              <a:t> al </a:t>
            </a:r>
            <a:r>
              <a:rPr lang="en-US" dirty="0" err="1"/>
              <a:t>valore</a:t>
            </a:r>
            <a:r>
              <a:rPr lang="en-US" dirty="0"/>
              <a:t> 30</a:t>
            </a:r>
          </a:p>
          <a:p>
            <a:pPr lvl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Saturation</a:t>
            </a:r>
            <a:r>
              <a:rPr lang="en-US" dirty="0"/>
              <a:t> (</a:t>
            </a:r>
            <a:r>
              <a:rPr lang="en-US" dirty="0" err="1"/>
              <a:t>saturazione</a:t>
            </a:r>
            <a:r>
              <a:rPr lang="en-US" dirty="0"/>
              <a:t>): indica </a:t>
            </a:r>
            <a:r>
              <a:rPr lang="en-US" dirty="0" err="1"/>
              <a:t>quanto</a:t>
            </a:r>
            <a:r>
              <a:rPr lang="en-US" dirty="0"/>
              <a:t> è </a:t>
            </a:r>
            <a:r>
              <a:rPr lang="en-US" b="1" i="1" dirty="0"/>
              <a:t>vivo</a:t>
            </a:r>
            <a:r>
              <a:rPr lang="en-US" dirty="0"/>
              <a:t> il </a:t>
            </a:r>
            <a:r>
              <a:rPr lang="en-US" dirty="0" err="1"/>
              <a:t>colore</a:t>
            </a:r>
            <a:r>
              <a:rPr lang="en-US" dirty="0"/>
              <a:t>. 0: </a:t>
            </a:r>
            <a:r>
              <a:rPr lang="en-US" dirty="0" err="1"/>
              <a:t>sbiadito</a:t>
            </a:r>
            <a:r>
              <a:rPr lang="en-US" dirty="0"/>
              <a:t> 255 </a:t>
            </a:r>
            <a:r>
              <a:rPr lang="en-US" dirty="0" err="1"/>
              <a:t>vivacità</a:t>
            </a:r>
            <a:r>
              <a:rPr lang="en-US" dirty="0"/>
              <a:t> </a:t>
            </a:r>
            <a:r>
              <a:rPr lang="en-US" dirty="0" err="1"/>
              <a:t>massima</a:t>
            </a:r>
            <a:endParaRPr lang="en-US" dirty="0"/>
          </a:p>
          <a:p>
            <a:pPr lvl="1"/>
            <a:r>
              <a:rPr lang="it-IT" b="1" dirty="0">
                <a:solidFill>
                  <a:schemeClr val="accent1">
                    <a:lumMod val="75000"/>
                  </a:schemeClr>
                </a:solidFill>
              </a:rPr>
              <a:t>Value</a:t>
            </a:r>
            <a:r>
              <a:rPr lang="it-IT" dirty="0"/>
              <a:t> (Valore/Brillantezza): Rappresenta la </a:t>
            </a:r>
            <a:r>
              <a:rPr lang="it-IT" b="1" i="1" dirty="0"/>
              <a:t>luminosità</a:t>
            </a:r>
            <a:r>
              <a:rPr lang="it-IT" dirty="0"/>
              <a:t>. 0 è completamente nero, 255 è la massima luminosità del colore.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0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530BC1-1329-4FD4-A02A-006537DB6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HSV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62268D6C-6CC7-48B6-BB8D-245CE02FD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9664" y="5640345"/>
            <a:ext cx="10266576" cy="1143050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Nella Computer Vision, l'HSV è quasi sempre preferibile al BGR quando devi effettuare il color tracking o la segmentazione degli oggetti per un motivo fondamentale: la </a:t>
            </a:r>
            <a:r>
              <a:rPr lang="it-IT" b="1" dirty="0"/>
              <a:t>robustezza alle variazioni di luce</a:t>
            </a:r>
            <a:r>
              <a:rPr lang="it-IT" dirty="0"/>
              <a:t>.</a:t>
            </a:r>
          </a:p>
        </p:txBody>
      </p:sp>
      <p:pic>
        <p:nvPicPr>
          <p:cNvPr id="1026" name="Picture 2" descr="The effects hue, saturation, and value each have on a color.">
            <a:extLst>
              <a:ext uri="{FF2B5EF4-FFF2-40B4-BE49-F238E27FC236}">
                <a16:creationId xmlns:a16="http://schemas.microsoft.com/office/drawing/2014/main" id="{D089B656-8DFB-41AE-9524-49A1A0806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12" y="1358417"/>
            <a:ext cx="4799030" cy="4237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A 2-D hue value wheel, indicating perceived color based on red as 0°... | Download Scientific Diagram">
            <a:extLst>
              <a:ext uri="{FF2B5EF4-FFF2-40B4-BE49-F238E27FC236}">
                <a16:creationId xmlns:a16="http://schemas.microsoft.com/office/drawing/2014/main" id="{BC862A5F-DBA1-4A9E-8CBB-2DC2E6B403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47007CF-BF85-470E-A4F0-026B77020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002" y="1157730"/>
            <a:ext cx="3863823" cy="423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598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130E2A-368F-4284-B4FB-2305FD89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OpenCV</a:t>
            </a:r>
            <a:r>
              <a:rPr lang="it-IT" dirty="0"/>
              <a:t> – Color </a:t>
            </a:r>
            <a:r>
              <a:rPr lang="it-IT" dirty="0" err="1"/>
              <a:t>segmentation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69E6A6-5075-4CD9-A9FA-C119EBAC0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Segmentazione basata sul colore: tecnica di Computer Vision che consiste nel separare un'immagine in diverse parti o "regioni" omogenee basandosi esclusivamente sulle informazioni cromatiche.</a:t>
            </a:r>
          </a:p>
          <a:p>
            <a:r>
              <a:rPr lang="en-US" dirty="0" err="1"/>
              <a:t>lower_yellow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([20, 100, 100])</a:t>
            </a:r>
          </a:p>
          <a:p>
            <a:r>
              <a:rPr lang="en-US" dirty="0" err="1"/>
              <a:t>upper_yellow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([40, 255, 255])</a:t>
            </a:r>
          </a:p>
          <a:p>
            <a:r>
              <a:rPr lang="en-US" dirty="0"/>
              <a:t>mask = cv2.</a:t>
            </a:r>
            <a:r>
              <a:rPr lang="en-US" b="1" dirty="0">
                <a:solidFill>
                  <a:srgbClr val="FF0000"/>
                </a:solidFill>
              </a:rPr>
              <a:t>inRange</a:t>
            </a:r>
            <a:r>
              <a:rPr lang="en-US" dirty="0"/>
              <a:t>(</a:t>
            </a:r>
            <a:r>
              <a:rPr lang="en-US" dirty="0" err="1"/>
              <a:t>hsv</a:t>
            </a:r>
            <a:r>
              <a:rPr lang="en-US" dirty="0"/>
              <a:t>, </a:t>
            </a:r>
            <a:r>
              <a:rPr lang="en-US" dirty="0" err="1"/>
              <a:t>lower_yellow</a:t>
            </a:r>
            <a:r>
              <a:rPr lang="en-US" dirty="0"/>
              <a:t>, </a:t>
            </a:r>
            <a:r>
              <a:rPr lang="en-US" dirty="0" err="1"/>
              <a:t>upper_yellow</a:t>
            </a:r>
            <a:r>
              <a:rPr lang="en-US" dirty="0"/>
              <a:t>)</a:t>
            </a:r>
          </a:p>
          <a:p>
            <a:pPr lvl="1"/>
            <a:r>
              <a:rPr lang="it-IT" dirty="0"/>
              <a:t>Il metodo </a:t>
            </a:r>
            <a:r>
              <a:rPr lang="it-IT" b="1" dirty="0" err="1">
                <a:solidFill>
                  <a:srgbClr val="FF0000"/>
                </a:solidFill>
              </a:rPr>
              <a:t>inRange</a:t>
            </a:r>
            <a:r>
              <a:rPr lang="it-IT" dirty="0"/>
              <a:t> crea un'immagine binaria (bianco e nero). I pixel che rientrano nel range diventano bianchi (valore 1), quelli fuori diventano neri (valore 0).</a:t>
            </a:r>
          </a:p>
          <a:p>
            <a:r>
              <a:rPr lang="it-IT" dirty="0" err="1"/>
              <a:t>result</a:t>
            </a:r>
            <a:r>
              <a:rPr lang="it-IT" dirty="0"/>
              <a:t> = cv2.</a:t>
            </a:r>
            <a:r>
              <a:rPr lang="it-IT" b="1" dirty="0">
                <a:solidFill>
                  <a:srgbClr val="FF0000"/>
                </a:solidFill>
              </a:rPr>
              <a:t>bitwise_and</a:t>
            </a:r>
            <a:r>
              <a:rPr lang="it-IT" dirty="0"/>
              <a:t>(</a:t>
            </a:r>
            <a:r>
              <a:rPr lang="it-IT" dirty="0" err="1"/>
              <a:t>img</a:t>
            </a:r>
            <a:r>
              <a:rPr lang="it-IT" dirty="0"/>
              <a:t>, </a:t>
            </a:r>
            <a:r>
              <a:rPr lang="it-IT" dirty="0" err="1"/>
              <a:t>img</a:t>
            </a:r>
            <a:r>
              <a:rPr lang="it-IT" dirty="0"/>
              <a:t>, </a:t>
            </a:r>
            <a:r>
              <a:rPr lang="it-IT" dirty="0" err="1"/>
              <a:t>mask</a:t>
            </a:r>
            <a:r>
              <a:rPr lang="it-IT" dirty="0"/>
              <a:t>=</a:t>
            </a:r>
            <a:r>
              <a:rPr lang="it-IT" dirty="0" err="1"/>
              <a:t>mask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And bit a bit dell’immagine con se stessa ed applicazione della maschera.</a:t>
            </a:r>
          </a:p>
          <a:p>
            <a:pPr lvl="2"/>
            <a:r>
              <a:rPr lang="it-IT" dirty="0"/>
              <a:t>Dove la </a:t>
            </a:r>
            <a:r>
              <a:rPr lang="it-IT" dirty="0" err="1"/>
              <a:t>mask</a:t>
            </a:r>
            <a:r>
              <a:rPr lang="it-IT" dirty="0"/>
              <a:t> è bianca (valore 1 ossia 255) il pixel originale di </a:t>
            </a:r>
            <a:r>
              <a:rPr lang="it-IT" dirty="0" err="1"/>
              <a:t>img</a:t>
            </a:r>
            <a:r>
              <a:rPr lang="it-IT" dirty="0"/>
              <a:t> viene mantenuto</a:t>
            </a:r>
          </a:p>
          <a:p>
            <a:pPr lvl="2"/>
            <a:r>
              <a:rPr lang="it-IT" dirty="0"/>
              <a:t>Dove la </a:t>
            </a:r>
            <a:r>
              <a:rPr lang="it-IT" dirty="0" err="1"/>
              <a:t>mask</a:t>
            </a:r>
            <a:r>
              <a:rPr lang="it-IT" dirty="0"/>
              <a:t> è nera (valore 0) il pixel originale di </a:t>
            </a:r>
            <a:r>
              <a:rPr lang="it-IT" dirty="0" err="1"/>
              <a:t>img</a:t>
            </a:r>
            <a:r>
              <a:rPr lang="it-IT" dirty="0"/>
              <a:t> diventa nero</a:t>
            </a:r>
          </a:p>
          <a:p>
            <a:pPr lvl="2"/>
            <a:endParaRPr lang="it-IT" dirty="0"/>
          </a:p>
          <a:p>
            <a:pPr lvl="2"/>
            <a:endParaRPr lang="it-IT" dirty="0"/>
          </a:p>
          <a:p>
            <a:pPr lvl="1"/>
            <a:endParaRPr lang="it-IT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050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4A6272-4543-49CC-BD51-F2287FC8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Attività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988D05-B755-4066-85F3-4719A8D2FF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6"/>
            <a:ext cx="9842369" cy="483942"/>
          </a:xfrm>
        </p:spPr>
        <p:txBody>
          <a:bodyPr>
            <a:normAutofit fontScale="85000" lnSpcReduction="10000"/>
          </a:bodyPr>
          <a:lstStyle/>
          <a:p>
            <a:r>
              <a:rPr lang="it-IT" dirty="0"/>
              <a:t>Partendo dall’immagine </a:t>
            </a:r>
            <a:r>
              <a:rPr lang="it-IT" b="1" dirty="0"/>
              <a:t>Palloncini.png </a:t>
            </a:r>
            <a:r>
              <a:rPr lang="it-IT" dirty="0"/>
              <a:t>estrarre i palloncini (le zone) gialli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60F7459-DA32-4695-A38E-899C36C5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61" y="2444506"/>
            <a:ext cx="4917565" cy="262835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9F18E00-A805-4AB5-A2EF-99DD0AA34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445" y="2444506"/>
            <a:ext cx="5044124" cy="269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527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1844</TotalTime>
  <Words>817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di Office</vt:lpstr>
      <vt:lpstr>Incontro 9</vt:lpstr>
      <vt:lpstr>OpenCV (Open Source Computer Vision Library)</vt:lpstr>
      <vt:lpstr>OpenCV – Read, write and image properties</vt:lpstr>
      <vt:lpstr>OpenCV – Resize, crop and rotate</vt:lpstr>
      <vt:lpstr>OpenCV – Draw on image</vt:lpstr>
      <vt:lpstr>OpenCV – Color conversion</vt:lpstr>
      <vt:lpstr>HSV</vt:lpstr>
      <vt:lpstr>OpenCV – Color segmentation</vt:lpstr>
      <vt:lpstr>Attività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Incontro 9</dc:title>
  <dc:creator>Carlo TROIANO</dc:creator>
  <cp:lastModifiedBy>Academy</cp:lastModifiedBy>
  <cp:revision>78</cp:revision>
  <dcterms:created xsi:type="dcterms:W3CDTF">2026-05-08T16:39:21Z</dcterms:created>
  <dcterms:modified xsi:type="dcterms:W3CDTF">2026-05-12T14:03:36Z</dcterms:modified>
</cp:coreProperties>
</file>