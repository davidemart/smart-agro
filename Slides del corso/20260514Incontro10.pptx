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66" r:id="rId5"/>
    <p:sldId id="275" r:id="rId6"/>
    <p:sldId id="261" r:id="rId7"/>
    <p:sldId id="262" r:id="rId8"/>
    <p:sldId id="263" r:id="rId9"/>
    <p:sldId id="264" r:id="rId10"/>
    <p:sldId id="258" r:id="rId11"/>
    <p:sldId id="286" r:id="rId12"/>
    <p:sldId id="259" r:id="rId13"/>
    <p:sldId id="287" r:id="rId14"/>
    <p:sldId id="265" r:id="rId15"/>
    <p:sldId id="289" r:id="rId16"/>
    <p:sldId id="267" r:id="rId17"/>
    <p:sldId id="288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4DFDB-DDFE-4859-8803-FCF31A065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BA51FA-874B-4529-868E-48FA1CEB4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C20D52-7B38-4B52-9694-F1414CD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C0B761-E19B-4DDF-A341-46A7E8D7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E30BD3-6AB4-457A-BA89-141233C3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585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2772-A73C-4D06-B1A3-2909EFA3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606FD0-AC46-44CB-841B-2E422C2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8BFFA-B930-401F-B2A6-E357E13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6491C-3454-4E0A-9DC0-1C4F794F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9082C5-4DEC-472C-84D3-579C0766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462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AAF5AB-4CD3-43B9-882B-19BF869D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EF2EB2-BB65-470F-8978-44708862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D90CD9-7ECD-497D-8AC6-53274863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81AB5-6FA6-45AB-9333-ABD9C27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D3D551-CD62-4E66-A121-F8803559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5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CC4B9-80C4-48DA-8339-D08448BC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8EB136-BFFD-4C71-A85F-7C326ED20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DE5E65-65D7-4782-AA2B-2E1A8759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C85470-3896-41E6-933B-55692A4D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AA6A87-03D2-457C-85C7-0468BEB0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BA40D1-0256-45D0-8E95-5D174A89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7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388C3D-DA27-4ACA-BB37-F3EA2C26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856E46-0375-4A29-8CF0-6167A62C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179515-41AB-4EF5-BBCB-E6B5EF7AB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047B7FF-A001-4706-8DA2-4E7165F5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7CC3D65-38D3-42D5-9BB5-9A52CD31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A0D26D-E0E8-4B5F-86DD-6C9EC91B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25F52D-A93D-45D8-9F39-E469F3C6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59CE82-C1D8-47A3-9990-E5AEAB41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18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73951-029C-4346-863D-2A7B215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55AAFB-42D0-44DF-ABC5-67867FC5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8E6CC2-4F04-43EB-BDBC-A40B203B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E0DC53-6196-4896-B46E-4DB01EE4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94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8499AC-E68B-4C3F-9814-D1AD2A23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8A878C4-5578-46B0-8E2C-4A009CB7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6626C8-2F6E-49F5-8F2A-91390F3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55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090B7-0486-4BC1-8452-A57872A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2C30E3-CD9B-4A19-83D1-408ABF24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9665DB-E8CC-4AA5-BBED-6825D708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663973-CF61-4977-B7DA-22E96DB0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AF17D4-1706-45FD-A9A4-8D16619C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7899D-91A5-4507-8252-808BF3C9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10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C68D22-0433-4357-B745-D49EF741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FDF74B4-F3C8-4D68-A458-930720517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8FE15C-9611-4B20-B305-49DE2CCC5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DD364A-B887-4CA4-A1DD-85088816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F181F8-8F6C-4F20-8EB4-382D2FBA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59B160-2726-4CD5-B27E-80FA7C7E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8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82709-6AA0-49B5-A03E-8DB2CB33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23F8BE-09F3-4C17-A57B-50135C669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0B983B-F652-433D-9510-AB61DED3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9C99A-6F48-4237-83B8-49B15AB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E2867-59DE-4361-A38A-0FC4B8E7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007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6E49C0-D4C2-48E7-A50E-D8A388EF3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C38336-591C-44A1-9F34-10ED93E42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1AAE00-4498-441B-9875-3784F70B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B9F283-9157-4AB2-99C9-956508E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FB0180-D990-45C7-A6C6-178AEAE5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9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7F388D-2C66-411A-AA27-28836FC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332D7B-03D4-42EC-A74A-92D0357E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1DB80-D6FB-4FE0-9D28-719C95199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7155-86AE-4B3F-9A9F-9BD08EDE7DA7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185211-59D5-405F-81E9-330CF0CC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3AC23F-DA9E-4989-8B99-9203141A4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430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6DE72-7823-42FD-BD50-F29FE06A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Incontro 10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C2A880C-7C64-4425-B1D5-42C3B36F7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Completamento della panoramica su </a:t>
            </a:r>
            <a:r>
              <a:rPr lang="it-IT" dirty="0" err="1"/>
              <a:t>OpenCV</a:t>
            </a:r>
            <a:endParaRPr lang="it-IT" dirty="0"/>
          </a:p>
          <a:p>
            <a:r>
              <a:rPr lang="it-IT" dirty="0" err="1"/>
              <a:t>cvlib</a:t>
            </a:r>
            <a:r>
              <a:rPr lang="it-IT" dirty="0"/>
              <a:t>: È una libreria di "alto livello" (high-level) costruita sopra </a:t>
            </a:r>
            <a:r>
              <a:rPr lang="it-IT" dirty="0" err="1"/>
              <a:t>OpenCV</a:t>
            </a:r>
            <a:r>
              <a:rPr lang="it-IT" dirty="0"/>
              <a:t> e </a:t>
            </a:r>
            <a:r>
              <a:rPr lang="it-IT" dirty="0" err="1"/>
              <a:t>TensorFlow</a:t>
            </a:r>
            <a:r>
              <a:rPr lang="it-IT" dirty="0"/>
              <a:t>. Il suo unico scopo è rendere le attività complesse (come il riconoscimento di oggetti o di volti) estremamente semplici, riducendo il codice a una o due righe.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431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038F36-5058-4A57-97F8-CEC37B44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Morfologia –1/2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18913B-9A67-4966-B031-205C7294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genere si applica alle immagini binarie (bianco e nero) dopo la segmentazione.</a:t>
            </a:r>
          </a:p>
          <a:p>
            <a:r>
              <a:rPr lang="it-IT" dirty="0"/>
              <a:t>Il suo scopo principale è pulire la maschera eliminando le imperfezioni che il semplice filtro del colore non riesce a gestire.</a:t>
            </a:r>
          </a:p>
          <a:p>
            <a:r>
              <a:rPr lang="it-IT" b="1" dirty="0"/>
              <a:t>Applicare alla maschera prima del rilevamento dei contorni</a:t>
            </a:r>
          </a:p>
          <a:p>
            <a:r>
              <a:rPr lang="it-IT" dirty="0"/>
              <a:t>Le due operazioni principali sono:</a:t>
            </a:r>
          </a:p>
          <a:p>
            <a:pPr lvl="1"/>
            <a:r>
              <a:rPr lang="it-IT" dirty="0"/>
              <a:t>Erosione (cv2.</a:t>
            </a:r>
            <a:r>
              <a:rPr lang="it-IT" b="1" dirty="0">
                <a:solidFill>
                  <a:srgbClr val="FF0000"/>
                </a:solidFill>
              </a:rPr>
              <a:t>ERODE</a:t>
            </a:r>
            <a:r>
              <a:rPr lang="it-IT" dirty="0"/>
              <a:t>): "Consuma" i bordi degli oggetti bianchi e quindi elimina piccoli puntini bianchi isolati (rumore).</a:t>
            </a:r>
          </a:p>
          <a:p>
            <a:pPr lvl="1"/>
            <a:r>
              <a:rPr lang="it-IT" dirty="0"/>
              <a:t>Dilatazione (cv2.</a:t>
            </a:r>
            <a:r>
              <a:rPr lang="it-IT" b="1" dirty="0">
                <a:solidFill>
                  <a:srgbClr val="FF0000"/>
                </a:solidFill>
              </a:rPr>
              <a:t>DILATE</a:t>
            </a:r>
            <a:r>
              <a:rPr lang="it-IT" dirty="0"/>
              <a:t>): "Espande" le zone bianche e quindi chiude piccoli buchi neri all'interno degli oggetti o ricongiunge parti separate.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307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038F36-5058-4A57-97F8-CEC37B44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Morfologia – opzionale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18913B-9A67-4966-B031-205C7294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Le due operazioni si possono usare in maniera combinata:</a:t>
            </a:r>
          </a:p>
          <a:p>
            <a:r>
              <a:rPr lang="it-IT" dirty="0"/>
              <a:t>Opening (</a:t>
            </a:r>
            <a:r>
              <a:rPr lang="it-IT" b="1" dirty="0">
                <a:solidFill>
                  <a:srgbClr val="0070C0"/>
                </a:solidFill>
              </a:rPr>
              <a:t>Apertura</a:t>
            </a:r>
            <a:r>
              <a:rPr lang="it-IT" dirty="0"/>
              <a:t>) - Erosione seguita da una dilatazione.</a:t>
            </a:r>
          </a:p>
          <a:p>
            <a:pPr lvl="1"/>
            <a:r>
              <a:rPr lang="it-IT" dirty="0"/>
              <a:t>Rimuove piccoli oggetti (rumore) ma riporta gli oggetti grandi alla loro dimensione originale.</a:t>
            </a:r>
          </a:p>
          <a:p>
            <a:r>
              <a:rPr lang="it-IT" dirty="0"/>
              <a:t>Closing (</a:t>
            </a:r>
            <a:r>
              <a:rPr lang="it-IT" b="1" dirty="0">
                <a:solidFill>
                  <a:srgbClr val="0070C0"/>
                </a:solidFill>
              </a:rPr>
              <a:t>Chiusura</a:t>
            </a:r>
            <a:r>
              <a:rPr lang="it-IT" dirty="0"/>
              <a:t>) - Dilatazione seguita da una erosione.</a:t>
            </a:r>
          </a:p>
          <a:p>
            <a:pPr lvl="1"/>
            <a:r>
              <a:rPr lang="it-IT" dirty="0"/>
              <a:t>Chiude piccoli buchi o fessure all'interno di un oggetto grande.</a:t>
            </a:r>
          </a:p>
          <a:p>
            <a:pPr lvl="1"/>
            <a:r>
              <a:rPr lang="it-IT" dirty="0"/>
              <a:t>Esempio: Se il riflesso della luce sul palloncino crea un buco nero al centro della maschera, il Closing lo riempie, rendendo il palloncino una forma solida.</a:t>
            </a:r>
          </a:p>
          <a:p>
            <a:r>
              <a:rPr lang="it-IT" b="1" dirty="0">
                <a:solidFill>
                  <a:srgbClr val="00B050"/>
                </a:solidFill>
              </a:rPr>
              <a:t># Creiamo un quadratino 5x5 che serve da "pennello "</a:t>
            </a:r>
          </a:p>
          <a:p>
            <a:r>
              <a:rPr lang="it-IT" dirty="0"/>
              <a:t>kernel = </a:t>
            </a:r>
            <a:r>
              <a:rPr lang="it-IT" dirty="0" err="1"/>
              <a:t>np.ones</a:t>
            </a:r>
            <a:r>
              <a:rPr lang="it-IT" dirty="0"/>
              <a:t>((5,5), np.uint8)</a:t>
            </a:r>
          </a:p>
          <a:p>
            <a:r>
              <a:rPr lang="it-IT" b="1" dirty="0">
                <a:solidFill>
                  <a:srgbClr val="00B050"/>
                </a:solidFill>
              </a:rPr>
              <a:t># Applichiamo l'apertura per pulire i puntini isolati</a:t>
            </a:r>
          </a:p>
          <a:p>
            <a:r>
              <a:rPr lang="it-IT" dirty="0" err="1"/>
              <a:t>mask_pulita</a:t>
            </a:r>
            <a:r>
              <a:rPr lang="it-IT" dirty="0"/>
              <a:t> = cv2.</a:t>
            </a:r>
            <a:r>
              <a:rPr lang="it-IT" b="1" dirty="0">
                <a:solidFill>
                  <a:srgbClr val="FF0000"/>
                </a:solidFill>
              </a:rPr>
              <a:t>morphologyEx</a:t>
            </a:r>
            <a:r>
              <a:rPr lang="it-IT" dirty="0"/>
              <a:t>(</a:t>
            </a:r>
            <a:r>
              <a:rPr lang="it-IT" dirty="0" err="1"/>
              <a:t>mask</a:t>
            </a:r>
            <a:r>
              <a:rPr lang="it-IT" dirty="0"/>
              <a:t>, cv2.</a:t>
            </a:r>
            <a:r>
              <a:rPr lang="it-IT" b="1" dirty="0">
                <a:solidFill>
                  <a:srgbClr val="FF0000"/>
                </a:solidFill>
              </a:rPr>
              <a:t>MORPH_OPEN</a:t>
            </a:r>
            <a:r>
              <a:rPr lang="it-IT" dirty="0"/>
              <a:t>, kernel)</a:t>
            </a:r>
          </a:p>
        </p:txBody>
      </p:sp>
    </p:spTree>
    <p:extLst>
      <p:ext uri="{BB962C8B-B14F-4D97-AF65-F5344CB8AC3E}">
        <p14:creationId xmlns:p14="http://schemas.microsoft.com/office/powerpoint/2010/main" val="166158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C2471C-92FE-401E-A88F-67E83E79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Parentesi su Python – passare argomenti sulla linea di comando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6DEA64-2452-4293-A485-9A5B38070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import </a:t>
            </a:r>
            <a:r>
              <a:rPr lang="it-IT" dirty="0" err="1"/>
              <a:t>argparse</a:t>
            </a:r>
            <a:endParaRPr lang="it-IT" dirty="0"/>
          </a:p>
          <a:p>
            <a:r>
              <a:rPr lang="en-US" b="1" dirty="0"/>
              <a:t>def main</a:t>
            </a:r>
            <a:r>
              <a:rPr lang="en-US" dirty="0"/>
              <a:t>(</a:t>
            </a:r>
            <a:r>
              <a:rPr lang="en-US" dirty="0" err="1"/>
              <a:t>source_image_path,out_image_path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       .....................</a:t>
            </a:r>
            <a:br>
              <a:rPr lang="en-US" dirty="0"/>
            </a:br>
            <a:r>
              <a:rPr lang="en-US" dirty="0"/>
              <a:t>       …………………..</a:t>
            </a:r>
            <a:endParaRPr lang="it-IT" dirty="0"/>
          </a:p>
          <a:p>
            <a:r>
              <a:rPr lang="it-IT" sz="2900" b="1" dirty="0">
                <a:solidFill>
                  <a:srgbClr val="00B050"/>
                </a:solidFill>
              </a:rPr>
              <a:t># Se lo script è eseguito direttamente (da terminale)  la variabile __name__ vale __</a:t>
            </a:r>
            <a:r>
              <a:rPr lang="it-IT" sz="2900" b="1" dirty="0" err="1">
                <a:solidFill>
                  <a:srgbClr val="00B050"/>
                </a:solidFill>
              </a:rPr>
              <a:t>main</a:t>
            </a:r>
            <a:r>
              <a:rPr lang="it-IT" sz="2900" b="1" dirty="0">
                <a:solidFill>
                  <a:srgbClr val="00B050"/>
                </a:solidFill>
              </a:rPr>
              <a:t>__</a:t>
            </a:r>
          </a:p>
          <a:p>
            <a:r>
              <a:rPr lang="it-IT" b="1" dirty="0" err="1"/>
              <a:t>if</a:t>
            </a:r>
            <a:r>
              <a:rPr lang="it-IT" b="1" dirty="0"/>
              <a:t> __name__ == "__</a:t>
            </a:r>
            <a:r>
              <a:rPr lang="it-IT" b="1" dirty="0" err="1"/>
              <a:t>main</a:t>
            </a:r>
            <a:r>
              <a:rPr lang="it-IT" b="1" dirty="0"/>
              <a:t>__":</a:t>
            </a:r>
          </a:p>
          <a:p>
            <a:r>
              <a:rPr lang="it-IT" b="1" dirty="0">
                <a:solidFill>
                  <a:srgbClr val="00B050"/>
                </a:solidFill>
              </a:rPr>
              <a:t># Creazione di un parser con descrizione    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parser</a:t>
            </a:r>
            <a:r>
              <a:rPr lang="it-IT" dirty="0"/>
              <a:t> = </a:t>
            </a:r>
            <a:r>
              <a:rPr lang="it-IT" dirty="0" err="1"/>
              <a:t>argparse.ArgumentParser</a:t>
            </a:r>
            <a:r>
              <a:rPr lang="it-IT" dirty="0"/>
              <a:t>(</a:t>
            </a:r>
            <a:br>
              <a:rPr lang="it-IT" dirty="0"/>
            </a:br>
            <a:r>
              <a:rPr lang="it-IT" dirty="0"/>
              <a:t>             </a:t>
            </a:r>
            <a:r>
              <a:rPr lang="it-IT" dirty="0" err="1"/>
              <a:t>description</a:t>
            </a:r>
            <a:r>
              <a:rPr lang="it-IT" dirty="0"/>
              <a:t>="Display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detection</a:t>
            </a:r>
            <a:r>
              <a:rPr lang="it-IT" dirty="0"/>
              <a:t> on image")</a:t>
            </a:r>
          </a:p>
          <a:p>
            <a:r>
              <a:rPr lang="it-IT" b="1" dirty="0">
                <a:solidFill>
                  <a:srgbClr val="00B050"/>
                </a:solidFill>
              </a:rPr>
              <a:t># Aggiunta di un argomento obbligatorio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parser</a:t>
            </a:r>
            <a:r>
              <a:rPr lang="it-IT" dirty="0" err="1"/>
              <a:t>.</a:t>
            </a:r>
            <a:r>
              <a:rPr lang="it-IT" b="1" dirty="0" err="1">
                <a:solidFill>
                  <a:srgbClr val="0070C0"/>
                </a:solidFill>
              </a:rPr>
              <a:t>add_argument</a:t>
            </a:r>
            <a:r>
              <a:rPr lang="it-IT" dirty="0"/>
              <a:t>("input", </a:t>
            </a:r>
            <a:r>
              <a:rPr lang="it-IT" dirty="0" err="1"/>
              <a:t>type</a:t>
            </a:r>
            <a:r>
              <a:rPr lang="it-IT" dirty="0"/>
              <a:t>=</a:t>
            </a:r>
            <a:r>
              <a:rPr lang="it-IT" dirty="0" err="1"/>
              <a:t>str</a:t>
            </a:r>
            <a:r>
              <a:rPr lang="it-IT" dirty="0"/>
              <a:t>, help="Path to the input image")</a:t>
            </a:r>
          </a:p>
          <a:p>
            <a:pPr lvl="1"/>
            <a:r>
              <a:rPr lang="it-IT" sz="2500" b="1" dirty="0" err="1">
                <a:solidFill>
                  <a:srgbClr val="FF0000"/>
                </a:solidFill>
              </a:rPr>
              <a:t>parser</a:t>
            </a:r>
            <a:r>
              <a:rPr lang="it-IT" dirty="0" err="1"/>
              <a:t>.</a:t>
            </a:r>
            <a:r>
              <a:rPr lang="it-IT" sz="2500" b="1" dirty="0" err="1">
                <a:solidFill>
                  <a:srgbClr val="0070C0"/>
                </a:solidFill>
              </a:rPr>
              <a:t>add_argument</a:t>
            </a:r>
            <a:r>
              <a:rPr lang="it-IT" dirty="0"/>
              <a:t>("--output", </a:t>
            </a:r>
            <a:r>
              <a:rPr lang="it-IT" dirty="0" err="1"/>
              <a:t>type</a:t>
            </a:r>
            <a:r>
              <a:rPr lang="it-IT" dirty="0"/>
              <a:t>=</a:t>
            </a:r>
            <a:r>
              <a:rPr lang="it-IT" dirty="0" err="1"/>
              <a:t>str</a:t>
            </a:r>
            <a:r>
              <a:rPr lang="it-IT" dirty="0"/>
              <a:t>, default="out.jpg", help="Path to </a:t>
            </a:r>
            <a:r>
              <a:rPr lang="it-IT" dirty="0" err="1"/>
              <a:t>save</a:t>
            </a:r>
            <a:r>
              <a:rPr lang="it-IT" dirty="0"/>
              <a:t> the output")</a:t>
            </a:r>
          </a:p>
          <a:p>
            <a:r>
              <a:rPr lang="it-IT" b="1" dirty="0">
                <a:solidFill>
                  <a:srgbClr val="00B050"/>
                </a:solidFill>
              </a:rPr>
              <a:t># Legge ciò che è scritto sulla riga di comando e lo salva nell’oggetto </a:t>
            </a:r>
            <a:r>
              <a:rPr lang="it-IT" b="1" dirty="0" err="1">
                <a:solidFill>
                  <a:srgbClr val="00B050"/>
                </a:solidFill>
              </a:rPr>
              <a:t>args</a:t>
            </a:r>
            <a:endParaRPr lang="it-IT" b="1" dirty="0">
              <a:solidFill>
                <a:srgbClr val="00B050"/>
              </a:solidFill>
            </a:endParaRPr>
          </a:p>
          <a:p>
            <a:pPr lvl="1"/>
            <a:r>
              <a:rPr lang="it-IT" dirty="0"/>
              <a:t> </a:t>
            </a:r>
            <a:r>
              <a:rPr lang="it-IT" sz="2500" b="1" dirty="0" err="1">
                <a:solidFill>
                  <a:srgbClr val="FF0000"/>
                </a:solidFill>
              </a:rPr>
              <a:t>args</a:t>
            </a:r>
            <a:r>
              <a:rPr lang="it-IT" sz="2500" b="1" dirty="0">
                <a:solidFill>
                  <a:srgbClr val="FF0000"/>
                </a:solidFill>
              </a:rPr>
              <a:t> = </a:t>
            </a:r>
            <a:r>
              <a:rPr lang="it-IT" sz="2500" b="1" dirty="0" err="1">
                <a:solidFill>
                  <a:srgbClr val="FF0000"/>
                </a:solidFill>
              </a:rPr>
              <a:t>parser.</a:t>
            </a:r>
            <a:r>
              <a:rPr lang="it-IT" sz="2600" b="1" dirty="0" err="1">
                <a:solidFill>
                  <a:srgbClr val="0070C0"/>
                </a:solidFill>
              </a:rPr>
              <a:t>parse_args</a:t>
            </a:r>
            <a:r>
              <a:rPr lang="it-IT" sz="2600" dirty="0"/>
              <a:t>()</a:t>
            </a:r>
          </a:p>
          <a:p>
            <a:r>
              <a:rPr lang="it-IT" sz="3200" b="1" dirty="0">
                <a:solidFill>
                  <a:srgbClr val="00B050"/>
                </a:solidFill>
              </a:rPr>
              <a:t># Passa gli argomenti letti ad una funzione chiamata </a:t>
            </a:r>
            <a:r>
              <a:rPr lang="it-IT" sz="3200" b="1" dirty="0" err="1">
                <a:solidFill>
                  <a:srgbClr val="00B050"/>
                </a:solidFill>
              </a:rPr>
              <a:t>main</a:t>
            </a:r>
            <a:endParaRPr lang="it-IT" sz="3200" b="1" dirty="0">
              <a:solidFill>
                <a:srgbClr val="00B050"/>
              </a:solidFill>
            </a:endParaRP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main</a:t>
            </a:r>
            <a:r>
              <a:rPr lang="it-IT" dirty="0"/>
              <a:t>(</a:t>
            </a:r>
            <a:r>
              <a:rPr lang="it-IT" dirty="0" err="1"/>
              <a:t>args.input</a:t>
            </a:r>
            <a:r>
              <a:rPr lang="it-IT" dirty="0"/>
              <a:t>, </a:t>
            </a:r>
            <a:r>
              <a:rPr lang="it-IT" dirty="0" err="1"/>
              <a:t>args.output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7932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A6272-4543-49CC-BD51-F2287FC8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988D05-B755-4066-85F3-4719A8D2F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683"/>
            <a:ext cx="9842369" cy="1775590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Partendo dall’immagine </a:t>
            </a:r>
            <a:r>
              <a:rPr lang="it-IT" b="1" dirty="0"/>
              <a:t>Palloncini.png </a:t>
            </a:r>
            <a:r>
              <a:rPr lang="it-IT" dirty="0"/>
              <a:t>estrarre i palloncini (le zone) gialli </a:t>
            </a:r>
          </a:p>
          <a:p>
            <a:r>
              <a:rPr lang="it-IT" dirty="0"/>
              <a:t>Applicando:</a:t>
            </a:r>
          </a:p>
          <a:p>
            <a:pPr lvl="1"/>
            <a:r>
              <a:rPr lang="it-IT" dirty="0"/>
              <a:t>Operazioni morfologiche</a:t>
            </a:r>
          </a:p>
          <a:p>
            <a:pPr lvl="1"/>
            <a:r>
              <a:rPr lang="it-IT" dirty="0"/>
              <a:t>Passando i nomi dell’immagine di input e di quella di output sulla linea di comando</a:t>
            </a:r>
          </a:p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0F7459-DA32-4695-A38E-899C36C5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61" y="3390081"/>
            <a:ext cx="4917565" cy="262835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9F18E00-A805-4AB5-A2EF-99DD0AA3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45" y="3390081"/>
            <a:ext cx="5044124" cy="269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7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COCO Dataset 1/2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Il COCO Dataset (</a:t>
            </a:r>
            <a:r>
              <a:rPr lang="it-IT" b="1" dirty="0">
                <a:solidFill>
                  <a:srgbClr val="FF0000"/>
                </a:solidFill>
              </a:rPr>
              <a:t>C</a:t>
            </a:r>
            <a:r>
              <a:rPr lang="it-IT" dirty="0"/>
              <a:t>ommon </a:t>
            </a:r>
            <a:r>
              <a:rPr lang="it-IT" b="1" dirty="0">
                <a:solidFill>
                  <a:srgbClr val="FF0000"/>
                </a:solidFill>
              </a:rPr>
              <a:t>O</a:t>
            </a:r>
            <a:r>
              <a:rPr lang="it-IT" dirty="0"/>
              <a:t>bjects in </a:t>
            </a:r>
            <a:r>
              <a:rPr lang="it-IT" b="1" dirty="0" err="1">
                <a:solidFill>
                  <a:srgbClr val="FF0000"/>
                </a:solidFill>
              </a:rPr>
              <a:t>CO</a:t>
            </a:r>
            <a:r>
              <a:rPr lang="it-IT" dirty="0" err="1"/>
              <a:t>ntext</a:t>
            </a:r>
            <a:r>
              <a:rPr lang="it-IT" dirty="0"/>
              <a:t>) è uno dei database più importanti e utilizzati al mondo per l'addestramento delle intelligenze artificiali nel campo della </a:t>
            </a:r>
            <a:r>
              <a:rPr lang="it-IT" i="1" dirty="0"/>
              <a:t>Computer Vision</a:t>
            </a:r>
            <a:r>
              <a:rPr lang="it-IT" dirty="0"/>
              <a:t>.</a:t>
            </a:r>
          </a:p>
          <a:p>
            <a:r>
              <a:rPr lang="it-IT" dirty="0"/>
              <a:t>Collezione gigantesca di immagini "reali" (non scattate in studio, ma prese dalla vita quotidiana) che sono state annotate manualmente per insegnare alle macchine a vedere.</a:t>
            </a:r>
          </a:p>
          <a:p>
            <a:r>
              <a:rPr lang="it-IT" dirty="0"/>
              <a:t>Le 4 caratteristiche principali di COCO</a:t>
            </a:r>
          </a:p>
          <a:p>
            <a:pPr lvl="1"/>
            <a:r>
              <a:rPr lang="it-IT" dirty="0"/>
              <a:t>"Common Objects" (80 Categorie) Riconoscimento di oggetti nella vita quotidiana. Include 80 categorie di oggetti, come: </a:t>
            </a:r>
          </a:p>
          <a:p>
            <a:pPr lvl="2"/>
            <a:r>
              <a:rPr lang="it-IT" dirty="0"/>
              <a:t>Persone</a:t>
            </a:r>
          </a:p>
          <a:p>
            <a:pPr lvl="2"/>
            <a:r>
              <a:rPr lang="it-IT" dirty="0"/>
              <a:t>Animali (cani, gatti, uccelli, ecc.),</a:t>
            </a:r>
          </a:p>
          <a:p>
            <a:pPr lvl="2"/>
            <a:r>
              <a:rPr lang="it-IT" dirty="0"/>
              <a:t>Veicoli (auto, biciclette, aeroplani), </a:t>
            </a:r>
          </a:p>
          <a:p>
            <a:pPr lvl="2"/>
            <a:r>
              <a:rPr lang="it-IT" dirty="0"/>
              <a:t>Cibo (mele, pizza, sandwich), </a:t>
            </a:r>
          </a:p>
          <a:p>
            <a:pPr lvl="2"/>
            <a:r>
              <a:rPr lang="it-IT" dirty="0"/>
              <a:t>Oggetti domestici (sedie, tavoli, telecomandi)</a:t>
            </a:r>
          </a:p>
        </p:txBody>
      </p:sp>
    </p:spTree>
    <p:extLst>
      <p:ext uri="{BB962C8B-B14F-4D97-AF65-F5344CB8AC3E}">
        <p14:creationId xmlns:p14="http://schemas.microsoft.com/office/powerpoint/2010/main" val="21801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COCO Dataset 2/2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"in Context" A differenza di altri dataset dove l'oggetto è isolato su sfondo bianco, le foto di COCO mostrano scene naturali. Ad esempio, una sedia non è solo una sedia, ma è posizionata in una cucina con una persona seduta sopra e un piatto sul tavolo. Questo aiuta l'IA a capire le relazioni tra gli oggetti.</a:t>
            </a:r>
          </a:p>
          <a:p>
            <a:r>
              <a:rPr lang="it-IT" dirty="0"/>
              <a:t>Annotazioni Dettagliate (Non solo rettangoli). COCO è famoso perché non fornisce solo le "scatole" (</a:t>
            </a:r>
            <a:r>
              <a:rPr lang="it-IT" dirty="0" err="1"/>
              <a:t>Bounding</a:t>
            </a:r>
            <a:r>
              <a:rPr lang="it-IT" dirty="0"/>
              <a:t> Boxes), ma anche:</a:t>
            </a:r>
          </a:p>
          <a:p>
            <a:pPr lvl="1"/>
            <a:r>
              <a:rPr lang="it-IT" dirty="0" err="1"/>
              <a:t>Segmentation</a:t>
            </a:r>
            <a:r>
              <a:rPr lang="it-IT" dirty="0"/>
              <a:t> </a:t>
            </a:r>
            <a:r>
              <a:rPr lang="it-IT" dirty="0" err="1"/>
              <a:t>Masks</a:t>
            </a:r>
            <a:r>
              <a:rPr lang="it-IT" dirty="0"/>
              <a:t>: I contorni precisi pixel per pixel di ogni oggetto.</a:t>
            </a:r>
          </a:p>
          <a:p>
            <a:pPr lvl="1"/>
            <a:r>
              <a:rPr lang="it-IT" dirty="0" err="1"/>
              <a:t>Keypoints</a:t>
            </a:r>
            <a:r>
              <a:rPr lang="it-IT" dirty="0"/>
              <a:t>: I punti di snodo del corpo umano (gomiti, ginocchia, occhi) per riconoscere le pose.</a:t>
            </a:r>
          </a:p>
          <a:p>
            <a:pPr lvl="1"/>
            <a:r>
              <a:rPr lang="it-IT" dirty="0"/>
              <a:t>Didascalie (</a:t>
            </a:r>
            <a:r>
              <a:rPr lang="it-IT" dirty="0" err="1"/>
              <a:t>Captions</a:t>
            </a:r>
            <a:r>
              <a:rPr lang="it-IT" dirty="0"/>
              <a:t>): Descrizioni testuali della scena.</a:t>
            </a:r>
          </a:p>
          <a:p>
            <a:r>
              <a:rPr lang="it-IT" dirty="0"/>
              <a:t>I numeri di COCO</a:t>
            </a:r>
          </a:p>
          <a:p>
            <a:pPr lvl="1"/>
            <a:r>
              <a:rPr lang="it-IT" dirty="0"/>
              <a:t>Il dataset è enorme e si è evoluto nel tempo. Una delle versioni più usate (COCO 2017) contiene:</a:t>
            </a:r>
          </a:p>
          <a:p>
            <a:pPr lvl="2"/>
            <a:r>
              <a:rPr lang="it-IT" dirty="0"/>
              <a:t>Oltre 200.000 immagini etichettate.</a:t>
            </a:r>
          </a:p>
          <a:p>
            <a:pPr lvl="2"/>
            <a:r>
              <a:rPr lang="it-IT" dirty="0"/>
              <a:t>Più di 1,5 milioni di istanze di oggetti (ovvero singoli oggetti identificati).</a:t>
            </a:r>
          </a:p>
          <a:p>
            <a:pPr lvl="2"/>
            <a:r>
              <a:rPr lang="it-IT" dirty="0"/>
              <a:t>Perché lo trovi citato in </a:t>
            </a:r>
            <a:r>
              <a:rPr lang="it-IT" dirty="0" err="1"/>
              <a:t>cvlib</a:t>
            </a:r>
            <a:r>
              <a:rPr lang="it-IT" dirty="0"/>
              <a:t>?</a:t>
            </a:r>
          </a:p>
          <a:p>
            <a:pPr lvl="2"/>
            <a:r>
              <a:rPr lang="it-IT" dirty="0"/>
              <a:t>Quando usi </a:t>
            </a:r>
            <a:r>
              <a:rPr lang="it-IT" dirty="0" err="1"/>
              <a:t>cv.detect_common_objects</a:t>
            </a:r>
            <a:r>
              <a:rPr lang="it-IT" dirty="0"/>
              <a:t>(image) in </a:t>
            </a:r>
            <a:r>
              <a:rPr lang="it-IT" dirty="0" err="1"/>
              <a:t>cvlib</a:t>
            </a:r>
            <a:r>
              <a:rPr lang="it-IT" dirty="0"/>
              <a:t>, la libreria scarica un modello (come YOLO) che è stato "istruito" proprio usando il COCO Dataset</a:t>
            </a:r>
          </a:p>
          <a:p>
            <a:pPr lvl="2"/>
            <a:r>
              <a:rPr lang="it-IT" dirty="0"/>
              <a:t>.È per questo che la funzione è in grado di riconoscere esattamente quegli 80 oggetti: perché ha passato "settimane" a studiare le foto del dataset COCO durante la fase di addestramento.</a:t>
            </a:r>
          </a:p>
        </p:txBody>
      </p:sp>
    </p:spTree>
    <p:extLst>
      <p:ext uri="{BB962C8B-B14F-4D97-AF65-F5344CB8AC3E}">
        <p14:creationId xmlns:p14="http://schemas.microsoft.com/office/powerpoint/2010/main" val="1515860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C72FEE-D9F7-44EF-96FB-7551FAE1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YOLO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1AF95F-DC7C-4D9A-BE5E-7ED86B88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4751575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YOLO (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Look Once) è uno dei modelli di visione artificiale più famosi e rivoluzionari al mondo. </a:t>
            </a:r>
          </a:p>
          <a:p>
            <a:r>
              <a:rPr lang="it-IT" dirty="0"/>
              <a:t>Algoritmo di </a:t>
            </a:r>
            <a:r>
              <a:rPr lang="it-IT" b="1" dirty="0" err="1"/>
              <a:t>object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 (rilevamento oggetti) </a:t>
            </a:r>
            <a:r>
              <a:rPr lang="it-IT" dirty="0"/>
              <a:t>in tempo reale che, a differenza dei sistemi precedenti che analizzavano l'immagine in più fasi, "guarda" l'intera immagine una sola volta, prevedendo simultaneamente la posizione e la classe degli oggetti.</a:t>
            </a:r>
          </a:p>
          <a:p>
            <a:r>
              <a:rPr lang="it-IT" dirty="0"/>
              <a:t>Nasce nel 2015 e la versione 4 (YOLOv4) è del 2020.</a:t>
            </a:r>
          </a:p>
          <a:p>
            <a:r>
              <a:rPr lang="it-IT" dirty="0"/>
              <a:t>Da allora ci sono state altre versioni</a:t>
            </a:r>
          </a:p>
          <a:p>
            <a:r>
              <a:rPr lang="it-IT" b="1" dirty="0"/>
              <a:t>COCO è il dataset standard utilizzato per addestrare e testare quasi tutte le versioni di YOLO</a:t>
            </a:r>
            <a:r>
              <a:rPr lang="it-IT" dirty="0"/>
              <a:t>.</a:t>
            </a:r>
          </a:p>
          <a:p>
            <a:r>
              <a:rPr lang="it-IT" dirty="0"/>
              <a:t>YOLOv4-tiny è una versione "light" e iper-veloce di YOLOv4</a:t>
            </a:r>
          </a:p>
          <a:p>
            <a:r>
              <a:rPr lang="it-IT" dirty="0"/>
              <a:t>Per rendere il modello </a:t>
            </a:r>
            <a:r>
              <a:rPr lang="it-IT" dirty="0" err="1"/>
              <a:t>tiny</a:t>
            </a:r>
            <a:r>
              <a:rPr lang="it-IT" dirty="0"/>
              <a:t> così veloce, gli sviluppatori hanno applicato una dieta drastica all'architettura della rete neurale:</a:t>
            </a:r>
          </a:p>
          <a:p>
            <a:pPr lvl="1"/>
            <a:r>
              <a:rPr lang="it-IT" b="1" dirty="0"/>
              <a:t>Semplificazione della struttura</a:t>
            </a:r>
            <a:r>
              <a:rPr lang="it-IT" dirty="0"/>
              <a:t>: Il numero di strati </a:t>
            </a:r>
            <a:r>
              <a:rPr lang="it-IT" dirty="0" err="1"/>
              <a:t>convoluzionali</a:t>
            </a:r>
            <a:r>
              <a:rPr lang="it-IT" dirty="0"/>
              <a:t> (i "livelli" del cervello dell'IA) è drasticamente ridotto. Se YOLOv4 ha circa 60 milioni di parametri, YOLOv4-tiny ne ha solo circa 6 milioni.</a:t>
            </a:r>
          </a:p>
          <a:p>
            <a:pPr lvl="1"/>
            <a:r>
              <a:rPr lang="it-IT" b="1" dirty="0"/>
              <a:t>Risoluzione e Precisione</a:t>
            </a:r>
            <a:r>
              <a:rPr lang="it-IT" dirty="0"/>
              <a:t>: Sacrifica un po' di precisione (specialmente nel rilevare oggetti molto piccoli o lontani) in cambio di una velocità di elaborazione immensa.</a:t>
            </a:r>
          </a:p>
          <a:p>
            <a:pPr lvl="1"/>
            <a:r>
              <a:rPr lang="it-IT" b="1" dirty="0"/>
              <a:t>Hardware economico</a:t>
            </a:r>
            <a:r>
              <a:rPr lang="it-IT" dirty="0"/>
              <a:t>: È progettato specificamente per girare su dispositivi con poca potenza di calcolo, come:</a:t>
            </a:r>
          </a:p>
          <a:p>
            <a:pPr lvl="2"/>
            <a:r>
              <a:rPr lang="it-IT" dirty="0"/>
              <a:t>* Smartphone - </a:t>
            </a:r>
            <a:r>
              <a:rPr lang="it-IT" dirty="0" err="1"/>
              <a:t>Raspberry</a:t>
            </a:r>
            <a:r>
              <a:rPr lang="it-IT" dirty="0"/>
              <a:t> </a:t>
            </a:r>
            <a:r>
              <a:rPr lang="it-IT" dirty="0" err="1"/>
              <a:t>Pi</a:t>
            </a:r>
            <a:r>
              <a:rPr lang="it-IT" dirty="0"/>
              <a:t> -  Droni  Sistemi di videosorveglianza integrati (Edge devices)</a:t>
            </a:r>
          </a:p>
          <a:p>
            <a:pPr lvl="2"/>
            <a:endParaRPr lang="it-IT" dirty="0"/>
          </a:p>
          <a:p>
            <a:pPr lvl="2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2501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C72FEE-D9F7-44EF-96FB-7551FAE1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YOLO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1AF95F-DC7C-4D9A-BE5E-7ED86B88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972"/>
            <a:ext cx="10515600" cy="3001158"/>
          </a:xfrm>
        </p:spPr>
        <p:txBody>
          <a:bodyPr>
            <a:normAutofit/>
          </a:bodyPr>
          <a:lstStyle/>
          <a:p>
            <a:r>
              <a:rPr lang="it-IT" b="1" i="1" dirty="0"/>
              <a:t>Si sceglie </a:t>
            </a:r>
            <a:r>
              <a:rPr lang="it-IT" dirty="0"/>
              <a:t>YOLOv4-tiny (o versioni simili) per tre motivi principali:</a:t>
            </a:r>
          </a:p>
          <a:p>
            <a:pPr lvl="1"/>
            <a:r>
              <a:rPr lang="it-IT" b="1" dirty="0"/>
              <a:t>Velocità</a:t>
            </a:r>
            <a:r>
              <a:rPr lang="it-IT" dirty="0"/>
              <a:t>: Può analizzare un'immagine o un flusso video quasi istantaneamente anche su un normale computer portatile senza (GPU) dedicata.</a:t>
            </a:r>
          </a:p>
          <a:p>
            <a:pPr lvl="1"/>
            <a:r>
              <a:rPr lang="it-IT" b="1" dirty="0"/>
              <a:t>Leggerezza</a:t>
            </a:r>
            <a:r>
              <a:rPr lang="it-IT" dirty="0"/>
              <a:t>: I file del modello pesano pochi MB (circa 23 MB), rendendo il download iniziale e il caricamento in memoria molto rapidi.</a:t>
            </a:r>
          </a:p>
          <a:p>
            <a:pPr lvl="1"/>
            <a:r>
              <a:rPr lang="it-IT" b="1" dirty="0"/>
              <a:t>Efficienza</a:t>
            </a:r>
            <a:r>
              <a:rPr lang="it-IT" dirty="0"/>
              <a:t>: Per compiti comuni (capire se in una stanza c'è una persona o un cane), la precisione di una versione "</a:t>
            </a:r>
            <a:r>
              <a:rPr lang="it-IT" dirty="0" err="1"/>
              <a:t>Tiny</a:t>
            </a:r>
            <a:r>
              <a:rPr lang="it-IT" dirty="0"/>
              <a:t>" è più che sufficiente.</a:t>
            </a:r>
          </a:p>
          <a:p>
            <a:pPr lvl="1"/>
            <a:endParaRPr lang="it-IT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050A66D-814E-4D46-8305-81E4B5826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5" y="4177554"/>
            <a:ext cx="5912828" cy="220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5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Object </a:t>
            </a:r>
            <a:r>
              <a:rPr lang="it-IT" dirty="0" err="1"/>
              <a:t>Detection</a:t>
            </a:r>
            <a:r>
              <a:rPr lang="it-IT" dirty="0"/>
              <a:t> in </a:t>
            </a:r>
            <a:r>
              <a:rPr lang="it-IT" dirty="0" err="1"/>
              <a:t>cvlib</a:t>
            </a:r>
            <a:r>
              <a:rPr lang="it-IT" dirty="0"/>
              <a:t> 1/4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t-IT" dirty="0" err="1"/>
              <a:t>cvlib</a:t>
            </a:r>
            <a:r>
              <a:rPr lang="it-IT" dirty="0"/>
              <a:t> utilizza YOLO come motore predefinito per il rilevamento degli oggetti.</a:t>
            </a:r>
          </a:p>
          <a:p>
            <a:r>
              <a:rPr lang="it-IT" dirty="0"/>
              <a:t>La funzione di rilevamento </a:t>
            </a:r>
            <a:r>
              <a:rPr lang="it-IT" dirty="0" err="1"/>
              <a:t>cvlib</a:t>
            </a:r>
            <a:r>
              <a:rPr lang="it-IT" dirty="0"/>
              <a:t> scarica automaticamente i pesi di YOLO (solitamente YOLOv3 o v4 nelle versioni standard) addestrati sul dataset COCO.</a:t>
            </a:r>
          </a:p>
          <a:p>
            <a:r>
              <a:rPr lang="it-IT" dirty="0"/>
              <a:t>Senza scrivere quasi nulla, </a:t>
            </a:r>
            <a:r>
              <a:rPr lang="it-IT" dirty="0" err="1"/>
              <a:t>cvlib</a:t>
            </a:r>
            <a:r>
              <a:rPr lang="it-IT" dirty="0"/>
              <a:t> è (</a:t>
            </a:r>
            <a:r>
              <a:rPr lang="it-IT" b="1" dirty="0">
                <a:solidFill>
                  <a:srgbClr val="FF0000"/>
                </a:solidFill>
              </a:rPr>
              <a:t>dovrebbe</a:t>
            </a:r>
            <a:r>
              <a:rPr lang="it-IT" dirty="0"/>
              <a:t>) in grado di riconoscere le 80 classi standard di COCO (persone, auto, biciclette, ecc.).</a:t>
            </a:r>
          </a:p>
          <a:p>
            <a:r>
              <a:rPr lang="it-IT" dirty="0"/>
              <a:t>Il vero vantaggio di </a:t>
            </a:r>
            <a:r>
              <a:rPr lang="it-IT" dirty="0" err="1"/>
              <a:t>cvlib</a:t>
            </a:r>
            <a:r>
              <a:rPr lang="it-IT" dirty="0"/>
              <a:t> è la brevità. Mentre con </a:t>
            </a:r>
            <a:r>
              <a:rPr lang="it-IT" dirty="0" err="1"/>
              <a:t>OpenCV</a:t>
            </a:r>
            <a:r>
              <a:rPr lang="it-IT" dirty="0"/>
              <a:t> "puro" servirebbero decine di righe di codice per caricare il modello YOLO, definire i livelli e gestire l'output, con </a:t>
            </a:r>
            <a:r>
              <a:rPr lang="it-IT" dirty="0" err="1"/>
              <a:t>cvlib</a:t>
            </a:r>
            <a:r>
              <a:rPr lang="it-IT" dirty="0"/>
              <a:t> bastano poche righe:</a:t>
            </a:r>
          </a:p>
          <a:p>
            <a:r>
              <a:rPr lang="it-IT" dirty="0"/>
              <a:t>import </a:t>
            </a:r>
            <a:r>
              <a:rPr lang="it-IT" dirty="0" err="1"/>
              <a:t>cvlib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cv</a:t>
            </a:r>
          </a:p>
          <a:p>
            <a:r>
              <a:rPr lang="it-IT" dirty="0"/>
              <a:t>from </a:t>
            </a:r>
            <a:r>
              <a:rPr lang="it-IT" dirty="0" err="1"/>
              <a:t>cvlib.object_detection</a:t>
            </a:r>
            <a:r>
              <a:rPr lang="it-IT" dirty="0"/>
              <a:t> import </a:t>
            </a:r>
            <a:r>
              <a:rPr lang="it-IT" dirty="0" err="1"/>
              <a:t>draw_bbox</a:t>
            </a:r>
            <a:endParaRPr lang="it-IT" dirty="0"/>
          </a:p>
          <a:p>
            <a:r>
              <a:rPr lang="it-IT" dirty="0"/>
              <a:t>import cv2</a:t>
            </a:r>
          </a:p>
          <a:p>
            <a:r>
              <a:rPr lang="it-IT" dirty="0"/>
              <a:t># Carichi l'immagine</a:t>
            </a:r>
          </a:p>
          <a:p>
            <a:r>
              <a:rPr lang="it-IT" dirty="0"/>
              <a:t>image = cv2.imread('foto.jpg')</a:t>
            </a:r>
          </a:p>
          <a:p>
            <a:r>
              <a:rPr lang="it-IT" dirty="0"/>
              <a:t># Una sola riga per fare tutto</a:t>
            </a:r>
          </a:p>
          <a:p>
            <a:r>
              <a:rPr lang="it-IT" dirty="0" err="1"/>
              <a:t>bbox</a:t>
            </a:r>
            <a:r>
              <a:rPr lang="it-IT" dirty="0"/>
              <a:t>, label, </a:t>
            </a:r>
            <a:r>
              <a:rPr lang="it-IT" dirty="0" err="1"/>
              <a:t>conf</a:t>
            </a:r>
            <a:r>
              <a:rPr lang="it-IT" dirty="0"/>
              <a:t> = </a:t>
            </a:r>
            <a:r>
              <a:rPr lang="it-IT" dirty="0" err="1"/>
              <a:t>cv.detect_common_objects</a:t>
            </a:r>
            <a:r>
              <a:rPr lang="it-IT" dirty="0"/>
              <a:t>(image)</a:t>
            </a:r>
          </a:p>
          <a:p>
            <a:r>
              <a:rPr lang="it-IT" dirty="0"/>
              <a:t># Disegni i risultati</a:t>
            </a:r>
          </a:p>
          <a:p>
            <a:r>
              <a:rPr lang="it-IT" dirty="0" err="1"/>
              <a:t>output_image</a:t>
            </a:r>
            <a:r>
              <a:rPr lang="it-IT" dirty="0"/>
              <a:t> = </a:t>
            </a:r>
            <a:r>
              <a:rPr lang="it-IT" dirty="0" err="1"/>
              <a:t>draw_bbox</a:t>
            </a:r>
            <a:r>
              <a:rPr lang="it-IT" dirty="0"/>
              <a:t>(image, </a:t>
            </a:r>
            <a:r>
              <a:rPr lang="it-IT" dirty="0" err="1"/>
              <a:t>bbox</a:t>
            </a:r>
            <a:r>
              <a:rPr lang="it-IT" dirty="0"/>
              <a:t>, label, </a:t>
            </a:r>
            <a:r>
              <a:rPr lang="it-IT" dirty="0" err="1"/>
              <a:t>conf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257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Object </a:t>
            </a:r>
            <a:r>
              <a:rPr lang="it-IT" dirty="0" err="1"/>
              <a:t>Detection</a:t>
            </a:r>
            <a:r>
              <a:rPr lang="it-IT" dirty="0"/>
              <a:t> in </a:t>
            </a:r>
            <a:r>
              <a:rPr lang="it-IT" dirty="0" err="1"/>
              <a:t>cvlib</a:t>
            </a:r>
            <a:r>
              <a:rPr lang="it-IT" dirty="0"/>
              <a:t> 2/4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bbox</a:t>
            </a:r>
            <a:r>
              <a:rPr lang="it-IT" b="1" dirty="0">
                <a:solidFill>
                  <a:srgbClr val="FF0000"/>
                </a:solidFill>
              </a:rPr>
              <a:t>, label, </a:t>
            </a:r>
            <a:r>
              <a:rPr lang="it-IT" b="1" dirty="0" err="1">
                <a:solidFill>
                  <a:srgbClr val="FF0000"/>
                </a:solidFill>
              </a:rPr>
              <a:t>conf</a:t>
            </a:r>
            <a:r>
              <a:rPr lang="it-IT" b="1" dirty="0">
                <a:solidFill>
                  <a:srgbClr val="FF0000"/>
                </a:solidFill>
              </a:rPr>
              <a:t> = </a:t>
            </a:r>
            <a:r>
              <a:rPr lang="it-IT" b="1" dirty="0" err="1">
                <a:solidFill>
                  <a:srgbClr val="FF0000"/>
                </a:solidFill>
              </a:rPr>
              <a:t>cv.detect_common_objects</a:t>
            </a:r>
            <a:r>
              <a:rPr lang="it-IT" b="1" dirty="0">
                <a:solidFill>
                  <a:srgbClr val="FF0000"/>
                </a:solidFill>
              </a:rPr>
              <a:t>(image) </a:t>
            </a:r>
          </a:p>
          <a:p>
            <a:r>
              <a:rPr lang="it-IT" dirty="0"/>
              <a:t>Analizza image e restituisce le liste:</a:t>
            </a:r>
          </a:p>
          <a:p>
            <a:pPr lvl="1"/>
            <a:r>
              <a:rPr lang="it-IT" dirty="0"/>
              <a:t>1. </a:t>
            </a:r>
            <a:r>
              <a:rPr lang="it-IT" dirty="0" err="1"/>
              <a:t>bbox</a:t>
            </a:r>
            <a:r>
              <a:rPr lang="it-IT" dirty="0"/>
              <a:t> (</a:t>
            </a:r>
            <a:r>
              <a:rPr lang="it-IT" dirty="0" err="1"/>
              <a:t>Bounding</a:t>
            </a:r>
            <a:r>
              <a:rPr lang="it-IT" dirty="0"/>
              <a:t> Boxes) Lista di liste. </a:t>
            </a:r>
          </a:p>
          <a:p>
            <a:pPr lvl="2"/>
            <a:r>
              <a:rPr lang="it-IT" dirty="0"/>
              <a:t>Ogni sotto-lista contiene 4 numeri interi [</a:t>
            </a:r>
            <a:r>
              <a:rPr lang="it-IT" dirty="0" err="1"/>
              <a:t>x_min</a:t>
            </a:r>
            <a:r>
              <a:rPr lang="it-IT" dirty="0"/>
              <a:t>, </a:t>
            </a:r>
            <a:r>
              <a:rPr lang="it-IT" dirty="0" err="1"/>
              <a:t>y_min</a:t>
            </a:r>
            <a:r>
              <a:rPr lang="it-IT" dirty="0"/>
              <a:t>, </a:t>
            </a:r>
            <a:r>
              <a:rPr lang="it-IT" dirty="0" err="1"/>
              <a:t>x_max</a:t>
            </a:r>
            <a:r>
              <a:rPr lang="it-IT" dirty="0"/>
              <a:t>, </a:t>
            </a:r>
            <a:r>
              <a:rPr lang="it-IT" dirty="0" err="1"/>
              <a:t>y_max</a:t>
            </a:r>
            <a:r>
              <a:rPr lang="it-IT" dirty="0"/>
              <a:t>] che rappresentano l'angolo in alto a sinistra e l'angolo in basso a destra del rettangolo.</a:t>
            </a:r>
          </a:p>
          <a:p>
            <a:pPr lvl="1"/>
            <a:r>
              <a:rPr lang="it-IT" dirty="0"/>
              <a:t>2. label (Etichette) lista di stringhe. </a:t>
            </a:r>
          </a:p>
          <a:p>
            <a:pPr lvl="2"/>
            <a:r>
              <a:rPr lang="it-IT" dirty="0"/>
              <a:t>Nome dell'oggetto identificato per ogni rettangolo trovato in </a:t>
            </a:r>
            <a:r>
              <a:rPr lang="it-IT" dirty="0" err="1"/>
              <a:t>bbox</a:t>
            </a:r>
            <a:r>
              <a:rPr lang="it-IT" dirty="0"/>
              <a:t>. Es: ['</a:t>
            </a:r>
            <a:r>
              <a:rPr lang="it-IT" dirty="0" err="1"/>
              <a:t>person</a:t>
            </a:r>
            <a:r>
              <a:rPr lang="it-IT" dirty="0"/>
              <a:t>', 'dog', 'car’]</a:t>
            </a:r>
          </a:p>
          <a:p>
            <a:pPr lvl="1"/>
            <a:r>
              <a:rPr lang="it-IT" dirty="0"/>
              <a:t>3. </a:t>
            </a:r>
            <a:r>
              <a:rPr lang="it-IT" dirty="0" err="1"/>
              <a:t>conf</a:t>
            </a:r>
            <a:r>
              <a:rPr lang="it-IT" dirty="0"/>
              <a:t> (Confidence Scores) lista di float</a:t>
            </a:r>
          </a:p>
          <a:p>
            <a:pPr lvl="2"/>
            <a:r>
              <a:rPr lang="it-IT" dirty="0"/>
              <a:t> compresi tra 0 e 1. Indica la fiducia Es. 0.98 significa che il modello è sicuro al 98%.</a:t>
            </a:r>
          </a:p>
        </p:txBody>
      </p:sp>
    </p:spTree>
    <p:extLst>
      <p:ext uri="{BB962C8B-B14F-4D97-AF65-F5344CB8AC3E}">
        <p14:creationId xmlns:p14="http://schemas.microsoft.com/office/powerpoint/2010/main" val="316552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Object </a:t>
            </a:r>
            <a:r>
              <a:rPr lang="it-IT" dirty="0" err="1"/>
              <a:t>Detection</a:t>
            </a:r>
            <a:r>
              <a:rPr lang="it-IT" dirty="0"/>
              <a:t> in </a:t>
            </a:r>
            <a:r>
              <a:rPr lang="it-IT" dirty="0" err="1"/>
              <a:t>cvlib</a:t>
            </a:r>
            <a:r>
              <a:rPr lang="it-IT" dirty="0"/>
              <a:t> 3/4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 pratico dei dati restituiti</a:t>
            </a:r>
          </a:p>
          <a:p>
            <a:r>
              <a:rPr lang="it-IT" dirty="0"/>
              <a:t>Passando alla funzione un'immagine con un gatto e un cane, i risultati potrebbero apparire così:</a:t>
            </a:r>
          </a:p>
          <a:p>
            <a:pPr lvl="1"/>
            <a:r>
              <a:rPr lang="it-IT" dirty="0" err="1"/>
              <a:t>bbox</a:t>
            </a:r>
            <a:r>
              <a:rPr lang="it-IT" dirty="0"/>
              <a:t> = [[10, 20, 150, 200], [200, 50, 400, 350]]</a:t>
            </a:r>
          </a:p>
          <a:p>
            <a:pPr lvl="1"/>
            <a:r>
              <a:rPr lang="it-IT" dirty="0"/>
              <a:t>label = ['</a:t>
            </a:r>
            <a:r>
              <a:rPr lang="it-IT" dirty="0" err="1"/>
              <a:t>cat</a:t>
            </a:r>
            <a:r>
              <a:rPr lang="it-IT" dirty="0"/>
              <a:t>', 'dog’]</a:t>
            </a:r>
          </a:p>
          <a:p>
            <a:pPr lvl="1"/>
            <a:r>
              <a:rPr lang="it-IT" dirty="0" err="1"/>
              <a:t>conf</a:t>
            </a:r>
            <a:r>
              <a:rPr lang="it-IT" dirty="0"/>
              <a:t> = [0.95, 0.88]</a:t>
            </a:r>
          </a:p>
          <a:p>
            <a:r>
              <a:rPr lang="it-IT" dirty="0"/>
              <a:t>Come ottenere il conteggio?:</a:t>
            </a:r>
          </a:p>
          <a:p>
            <a:pPr lvl="1"/>
            <a:r>
              <a:rPr lang="it-IT" dirty="0"/>
              <a:t>Conteggio totale: </a:t>
            </a:r>
            <a:r>
              <a:rPr lang="it-IT" b="1" i="1" dirty="0" err="1"/>
              <a:t>len</a:t>
            </a:r>
            <a:r>
              <a:rPr lang="it-IT" b="1" i="1" dirty="0"/>
              <a:t>(label)</a:t>
            </a:r>
          </a:p>
          <a:p>
            <a:pPr lvl="1"/>
            <a:r>
              <a:rPr lang="it-IT" dirty="0"/>
              <a:t>Conteggio di un oggetto specifico (es. quante persone): </a:t>
            </a:r>
            <a:r>
              <a:rPr lang="it-IT" b="1" i="1" dirty="0" err="1"/>
              <a:t>label.count</a:t>
            </a:r>
            <a:r>
              <a:rPr lang="it-IT" b="1" i="1" dirty="0"/>
              <a:t>('</a:t>
            </a:r>
            <a:r>
              <a:rPr lang="it-IT" b="1" i="1" dirty="0" err="1"/>
              <a:t>person</a:t>
            </a:r>
            <a:r>
              <a:rPr lang="it-IT" b="1" i="1" dirty="0"/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1945491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Object </a:t>
            </a:r>
            <a:r>
              <a:rPr lang="it-IT" dirty="0" err="1"/>
              <a:t>Detection</a:t>
            </a:r>
            <a:r>
              <a:rPr lang="it-IT" dirty="0"/>
              <a:t> in </a:t>
            </a:r>
            <a:r>
              <a:rPr lang="it-IT" dirty="0" err="1"/>
              <a:t>cvlib</a:t>
            </a:r>
            <a:r>
              <a:rPr lang="it-IT" dirty="0"/>
              <a:t> 4/4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draw_bbox</a:t>
            </a:r>
            <a:r>
              <a:rPr lang="it-IT" b="1" dirty="0">
                <a:solidFill>
                  <a:srgbClr val="FF0000"/>
                </a:solidFill>
              </a:rPr>
              <a:t>(image, </a:t>
            </a:r>
            <a:r>
              <a:rPr lang="it-IT" b="1" dirty="0" err="1">
                <a:solidFill>
                  <a:srgbClr val="FF0000"/>
                </a:solidFill>
              </a:rPr>
              <a:t>bbox</a:t>
            </a:r>
            <a:r>
              <a:rPr lang="it-IT" b="1" dirty="0">
                <a:solidFill>
                  <a:srgbClr val="FF0000"/>
                </a:solidFill>
              </a:rPr>
              <a:t>, label, </a:t>
            </a:r>
            <a:r>
              <a:rPr lang="it-IT" b="1" dirty="0" err="1">
                <a:solidFill>
                  <a:srgbClr val="FF0000"/>
                </a:solidFill>
              </a:rPr>
              <a:t>conf</a:t>
            </a:r>
            <a:r>
              <a:rPr lang="it-IT" b="1" dirty="0">
                <a:solidFill>
                  <a:srgbClr val="FF0000"/>
                </a:solidFill>
              </a:rPr>
              <a:t>)</a:t>
            </a:r>
          </a:p>
          <a:p>
            <a:r>
              <a:rPr lang="it-IT" dirty="0"/>
              <a:t>Sovrappone a </a:t>
            </a:r>
            <a:r>
              <a:rPr lang="it-IT" i="1" dirty="0"/>
              <a:t>image</a:t>
            </a:r>
            <a:r>
              <a:rPr lang="it-IT" dirty="0"/>
              <a:t> tre elementi visivi per ogni oggetto rilevato:</a:t>
            </a:r>
          </a:p>
          <a:p>
            <a:pPr lvl="1"/>
            <a:r>
              <a:rPr lang="it-IT" dirty="0" err="1"/>
              <a:t>Bounding</a:t>
            </a:r>
            <a:r>
              <a:rPr lang="it-IT" dirty="0"/>
              <a:t> Boxes: rettangolo che racchiude l'oggetto identificato, usando le coordinate contenute in </a:t>
            </a:r>
            <a:r>
              <a:rPr lang="it-IT" dirty="0" err="1"/>
              <a:t>bbox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Etichette (Labels): Nome dell'oggetto (es. "car", "</a:t>
            </a:r>
            <a:r>
              <a:rPr lang="it-IT" dirty="0" err="1"/>
              <a:t>person</a:t>
            </a:r>
            <a:r>
              <a:rPr lang="it-IT" dirty="0"/>
              <a:t>", "dog") sopra il rettangolo, utilizzando i nomi contenuti in label.</a:t>
            </a:r>
          </a:p>
          <a:p>
            <a:pPr lvl="1"/>
            <a:r>
              <a:rPr lang="it-IT" dirty="0"/>
              <a:t>Punteggio di Confidenza (Confidence): Accanto al nome, scrive la percentuale di "sicurezza" del modello (es. 0.98 per indicare il 98%), calcolata da </a:t>
            </a:r>
            <a:r>
              <a:rPr lang="it-IT" dirty="0" err="1"/>
              <a:t>conf.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5059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Impiego della classe YOLO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/>
              <a:t>Per evitare problemi connessi alla scelta in automatica del modello YOLO da utilizzare </a:t>
            </a:r>
            <a:r>
              <a:rPr lang="it-IT" dirty="0"/>
              <a:t>si preferisce usare direttamente la classe YOLO al posto di quella di alto livello </a:t>
            </a:r>
            <a:r>
              <a:rPr lang="en-US" dirty="0" err="1"/>
              <a:t>cv.detect_common_objects</a:t>
            </a:r>
            <a:r>
              <a:rPr lang="en-US" dirty="0"/>
              <a:t>(image) </a:t>
            </a:r>
          </a:p>
          <a:p>
            <a:r>
              <a:rPr lang="en-US" b="1" dirty="0">
                <a:solidFill>
                  <a:srgbClr val="FF0000"/>
                </a:solidFill>
              </a:rPr>
              <a:t>from </a:t>
            </a:r>
            <a:r>
              <a:rPr lang="en-US" b="1" dirty="0" err="1">
                <a:solidFill>
                  <a:srgbClr val="FF0000"/>
                </a:solidFill>
              </a:rPr>
              <a:t>cvlib.object_detection</a:t>
            </a:r>
            <a:r>
              <a:rPr lang="en-US" b="1" dirty="0">
                <a:solidFill>
                  <a:srgbClr val="FF0000"/>
                </a:solidFill>
              </a:rPr>
              <a:t> import YOLO</a:t>
            </a:r>
          </a:p>
          <a:p>
            <a:r>
              <a:rPr lang="en-US" b="1" dirty="0">
                <a:solidFill>
                  <a:srgbClr val="FF0000"/>
                </a:solidFill>
              </a:rPr>
              <a:t>yolo = YOLO("yolov4.weights", "yolov4.cfg", "</a:t>
            </a:r>
            <a:r>
              <a:rPr lang="en-US" b="1" dirty="0" err="1">
                <a:solidFill>
                  <a:srgbClr val="FF0000"/>
                </a:solidFill>
              </a:rPr>
              <a:t>coco.names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</a:p>
          <a:p>
            <a:r>
              <a:rPr lang="en-US" dirty="0" err="1"/>
              <a:t>Fase</a:t>
            </a:r>
            <a:r>
              <a:rPr lang="en-US" dirty="0"/>
              <a:t> di </a:t>
            </a:r>
            <a:r>
              <a:rPr lang="en-US" dirty="0" err="1"/>
              <a:t>inizializzazione</a:t>
            </a:r>
            <a:r>
              <a:rPr lang="en-US" dirty="0"/>
              <a:t> del </a:t>
            </a:r>
            <a:r>
              <a:rPr lang="en-US" dirty="0" err="1"/>
              <a:t>modello</a:t>
            </a:r>
            <a:endParaRPr lang="en-US" dirty="0"/>
          </a:p>
          <a:p>
            <a:pPr lvl="1"/>
            <a:r>
              <a:rPr lang="it-IT" dirty="0"/>
              <a:t>yolov4.weights (I Pesi): È il file dei dati "addestrati". </a:t>
            </a:r>
          </a:p>
          <a:p>
            <a:pPr lvl="1"/>
            <a:r>
              <a:rPr lang="it-IT" dirty="0"/>
              <a:t>yolov4.cfg (La Configurazione): È l'architettura della rete neurale. </a:t>
            </a:r>
          </a:p>
          <a:p>
            <a:pPr lvl="1"/>
            <a:r>
              <a:rPr lang="it-IT" dirty="0" err="1"/>
              <a:t>coco.names</a:t>
            </a:r>
            <a:r>
              <a:rPr lang="it-IT" dirty="0"/>
              <a:t> (Le Etichette): È un semplice file di testo che traduce i numeri in parole</a:t>
            </a:r>
          </a:p>
          <a:p>
            <a:r>
              <a:rPr lang="it-IT" dirty="0"/>
              <a:t>La rete neurale viene caricata nella RAM della CPU o nella VRAM della GPU se disponibile</a:t>
            </a:r>
          </a:p>
          <a:p>
            <a:r>
              <a:rPr lang="it-IT" dirty="0"/>
              <a:t>L’oggetto </a:t>
            </a:r>
            <a:r>
              <a:rPr lang="it-IT" dirty="0" err="1"/>
              <a:t>yolo</a:t>
            </a:r>
            <a:r>
              <a:rPr lang="it-IT" dirty="0"/>
              <a:t> potrà essere utilizzato per analizzare immagini e video</a:t>
            </a:r>
          </a:p>
          <a:p>
            <a:endParaRPr lang="it-IT" b="1" i="1" dirty="0"/>
          </a:p>
        </p:txBody>
      </p:sp>
    </p:spTree>
    <p:extLst>
      <p:ext uri="{BB962C8B-B14F-4D97-AF65-F5344CB8AC3E}">
        <p14:creationId xmlns:p14="http://schemas.microsoft.com/office/powerpoint/2010/main" val="3636445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2E575-DCF8-4D36-9476-AAD8A92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Download dei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7EADD7-5AD3-42B1-8762-C187419D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 err="1"/>
              <a:t>wget</a:t>
            </a:r>
            <a:r>
              <a:rPr lang="it-IT" dirty="0"/>
              <a:t> -O </a:t>
            </a:r>
            <a:r>
              <a:rPr lang="it-IT" b="1" dirty="0">
                <a:solidFill>
                  <a:srgbClr val="FF0000"/>
                </a:solidFill>
              </a:rPr>
              <a:t>yolov4.cfg </a:t>
            </a:r>
            <a:r>
              <a:rPr lang="it-IT" dirty="0"/>
              <a:t>https://raw.githubusercontent.com/AlexeyAB/darknet/master/cfg/yolov4.cfg</a:t>
            </a:r>
          </a:p>
          <a:p>
            <a:r>
              <a:rPr lang="it-IT" dirty="0" err="1"/>
              <a:t>wget</a:t>
            </a:r>
            <a:r>
              <a:rPr lang="it-IT" dirty="0"/>
              <a:t> -O </a:t>
            </a:r>
            <a:r>
              <a:rPr lang="it-IT" b="1" dirty="0">
                <a:solidFill>
                  <a:srgbClr val="FF0000"/>
                </a:solidFill>
              </a:rPr>
              <a:t>yolov4-tiny.cfg </a:t>
            </a:r>
            <a:r>
              <a:rPr lang="it-IT" dirty="0"/>
              <a:t>https://raw.githubusercontent.com/AlexeyAB/darknet/master/cfg/yolov4-tiny.cfg</a:t>
            </a:r>
          </a:p>
          <a:p>
            <a:endParaRPr lang="it-IT" dirty="0"/>
          </a:p>
          <a:p>
            <a:r>
              <a:rPr lang="it-IT" dirty="0" err="1"/>
              <a:t>wget</a:t>
            </a:r>
            <a:r>
              <a:rPr lang="it-IT" dirty="0"/>
              <a:t> -O </a:t>
            </a:r>
            <a:r>
              <a:rPr lang="it-IT" b="1" dirty="0">
                <a:solidFill>
                  <a:srgbClr val="FF0000"/>
                </a:solidFill>
              </a:rPr>
              <a:t>yolov4.weights </a:t>
            </a:r>
            <a:r>
              <a:rPr lang="it-IT" dirty="0"/>
              <a:t>https://github.com/AlexeyAB/darknet/releases/download/yolov4/yolov4.weights</a:t>
            </a:r>
          </a:p>
          <a:p>
            <a:r>
              <a:rPr lang="it-IT" dirty="0" err="1"/>
              <a:t>wget</a:t>
            </a:r>
            <a:r>
              <a:rPr lang="it-IT" dirty="0"/>
              <a:t> -O </a:t>
            </a:r>
            <a:r>
              <a:rPr lang="it-IT" b="1" dirty="0">
                <a:solidFill>
                  <a:srgbClr val="FF0000"/>
                </a:solidFill>
              </a:rPr>
              <a:t>yolov4-tiny.weights </a:t>
            </a:r>
            <a:r>
              <a:rPr lang="it-IT" dirty="0"/>
              <a:t>https://github.com/AlexeyAB/darknet/releases/download/darknet_yolo_v4_pre/yolov4-tiny.weights</a:t>
            </a:r>
          </a:p>
          <a:p>
            <a:endParaRPr lang="it-IT" dirty="0"/>
          </a:p>
          <a:p>
            <a:r>
              <a:rPr lang="it-IT" dirty="0" err="1"/>
              <a:t>wget</a:t>
            </a:r>
            <a:r>
              <a:rPr lang="it-IT" dirty="0"/>
              <a:t> -O </a:t>
            </a:r>
            <a:r>
              <a:rPr lang="it-IT" b="1" dirty="0" err="1">
                <a:solidFill>
                  <a:srgbClr val="FF0000"/>
                </a:solidFill>
              </a:rPr>
              <a:t>coco.names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dirty="0"/>
              <a:t>https://raw.githubusercontent.com/pjreddie/darknet/master/data/coco.names</a:t>
            </a:r>
          </a:p>
          <a:p>
            <a:endParaRPr lang="it-IT" dirty="0"/>
          </a:p>
          <a:p>
            <a:endParaRPr lang="it-IT" b="1" i="1" dirty="0"/>
          </a:p>
        </p:txBody>
      </p:sp>
    </p:spTree>
    <p:extLst>
      <p:ext uri="{BB962C8B-B14F-4D97-AF65-F5344CB8AC3E}">
        <p14:creationId xmlns:p14="http://schemas.microsoft.com/office/powerpoint/2010/main" val="895769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6ED41-212B-4152-839F-A29F499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4EEB48-7406-4EB7-A4E7-9BFAEF286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Realizzare uno script Python che data in input un’immagine ne generi una in output nella quale siano evidenziati gli oggetti identificati.</a:t>
            </a:r>
          </a:p>
          <a:p>
            <a:r>
              <a:rPr lang="it-IT" dirty="0"/>
              <a:t>Si utilizzino le due versioni di modello YOLOv4 e si riscontrino le differenze (tempi di esecuzione ed oggetti rilevati)</a:t>
            </a:r>
          </a:p>
          <a:p>
            <a:r>
              <a:rPr lang="it-IT" dirty="0"/>
              <a:t>Le immagini, sia di input sia di output, nonché la versione di modello da utilizzare, devono essere specificati sulla linea di comando</a:t>
            </a:r>
          </a:p>
          <a:p>
            <a:r>
              <a:rPr lang="it-IT" dirty="0"/>
              <a:t>Si usi la classe YOLO di </a:t>
            </a:r>
            <a:r>
              <a:rPr lang="it-IT" dirty="0" err="1"/>
              <a:t>cvlib.object_detection</a:t>
            </a:r>
            <a:endParaRPr lang="it-IT" dirty="0"/>
          </a:p>
          <a:p>
            <a:pPr lvl="1"/>
            <a:r>
              <a:rPr lang="en-US" dirty="0"/>
              <a:t>from </a:t>
            </a:r>
            <a:r>
              <a:rPr lang="en-US" dirty="0" err="1"/>
              <a:t>cvlib.object_detection</a:t>
            </a:r>
            <a:r>
              <a:rPr lang="en-US" dirty="0"/>
              <a:t> import YOLO</a:t>
            </a:r>
          </a:p>
          <a:p>
            <a:pPr lvl="1"/>
            <a:r>
              <a:rPr lang="en-US" dirty="0"/>
              <a:t>yolo = YOLO("yolov4.weights", "yolov4.cfg", "</a:t>
            </a:r>
            <a:r>
              <a:rPr lang="en-US" dirty="0" err="1"/>
              <a:t>coco.names</a:t>
            </a:r>
            <a:r>
              <a:rPr lang="en-US" dirty="0"/>
              <a:t>")</a:t>
            </a:r>
          </a:p>
          <a:p>
            <a:pPr lvl="1"/>
            <a:r>
              <a:rPr lang="en-US" dirty="0" err="1"/>
              <a:t>bbox</a:t>
            </a:r>
            <a:r>
              <a:rPr lang="en-US" dirty="0"/>
              <a:t>, label, conf = </a:t>
            </a:r>
            <a:r>
              <a:rPr lang="en-US" dirty="0" err="1"/>
              <a:t>yolo.detect_objects</a:t>
            </a:r>
            <a:r>
              <a:rPr lang="en-US" dirty="0"/>
              <a:t>(image)</a:t>
            </a:r>
          </a:p>
          <a:p>
            <a:pPr lvl="1"/>
            <a:r>
              <a:rPr lang="en-US" dirty="0" err="1"/>
              <a:t>yolo.draw_bbox</a:t>
            </a:r>
            <a:r>
              <a:rPr lang="en-US" dirty="0"/>
              <a:t>(image, </a:t>
            </a:r>
            <a:r>
              <a:rPr lang="en-US" dirty="0" err="1"/>
              <a:t>bbox</a:t>
            </a:r>
            <a:r>
              <a:rPr lang="en-US" dirty="0"/>
              <a:t>, label, conf, </a:t>
            </a:r>
            <a:r>
              <a:rPr lang="en-US" dirty="0" err="1"/>
              <a:t>write_conf</a:t>
            </a:r>
            <a:r>
              <a:rPr lang="en-US" dirty="0"/>
              <a:t>=True)	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62100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6ED41-212B-4152-839F-A29F499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4EEB48-7406-4EB7-A4E7-9BFAEF286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Realizzare uno script Python che effettui l’identificazione degli oggetti presenti nel video acquisito dalla videocamera.</a:t>
            </a:r>
          </a:p>
          <a:p>
            <a:r>
              <a:rPr lang="it-IT" dirty="0"/>
              <a:t>Al termine della acquisizione visualizzare un report che riporti il numero di frame processati, il numero di oggetti identificati (totali e mediati per frame) il livello di confidenza medio per tipo di oggetto.</a:t>
            </a:r>
          </a:p>
          <a:p>
            <a:r>
              <a:rPr lang="it-IT" dirty="0"/>
              <a:t>Si utilizzino le due versioni di modello YOLOv4 e si riscontrino le differenze</a:t>
            </a:r>
          </a:p>
        </p:txBody>
      </p:sp>
    </p:spTree>
    <p:extLst>
      <p:ext uri="{BB962C8B-B14F-4D97-AF65-F5344CB8AC3E}">
        <p14:creationId xmlns:p14="http://schemas.microsoft.com/office/powerpoint/2010/main" val="332905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2243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di Office</vt:lpstr>
      <vt:lpstr>Incontro 10</vt:lpstr>
      <vt:lpstr>Morfologia –1/2</vt:lpstr>
      <vt:lpstr>Morfologia – opzionale 2/2</vt:lpstr>
      <vt:lpstr>Parentesi su Python – passare argomenti sulla linea di comando</vt:lpstr>
      <vt:lpstr>Attività 1</vt:lpstr>
      <vt:lpstr>COCO Dataset 1/2 </vt:lpstr>
      <vt:lpstr>COCO Dataset 2/2 </vt:lpstr>
      <vt:lpstr>YOLO 1/2</vt:lpstr>
      <vt:lpstr>YOLO 2/2</vt:lpstr>
      <vt:lpstr>Object Detection in cvlib 1/4</vt:lpstr>
      <vt:lpstr>Object Detection in cvlib 2/4</vt:lpstr>
      <vt:lpstr>Object Detection in cvlib 3/4</vt:lpstr>
      <vt:lpstr>Object Detection in cvlib 4/4</vt:lpstr>
      <vt:lpstr>Impiego della classe YOLO</vt:lpstr>
      <vt:lpstr>Download dei modelli</vt:lpstr>
      <vt:lpstr>Attività 2</vt:lpstr>
      <vt:lpstr>Attività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Incontro 9</dc:title>
  <dc:creator>Carlo TROIANO</dc:creator>
  <cp:lastModifiedBy>Academy</cp:lastModifiedBy>
  <cp:revision>72</cp:revision>
  <dcterms:created xsi:type="dcterms:W3CDTF">2026-05-08T16:39:21Z</dcterms:created>
  <dcterms:modified xsi:type="dcterms:W3CDTF">2026-05-15T06:32:23Z</dcterms:modified>
</cp:coreProperties>
</file>