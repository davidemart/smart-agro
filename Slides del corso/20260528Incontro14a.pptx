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91" r:id="rId3"/>
    <p:sldId id="281" r:id="rId4"/>
    <p:sldId id="257" r:id="rId5"/>
    <p:sldId id="259" r:id="rId6"/>
    <p:sldId id="260" r:id="rId7"/>
    <p:sldId id="292" r:id="rId8"/>
    <p:sldId id="261" r:id="rId9"/>
    <p:sldId id="263" r:id="rId10"/>
    <p:sldId id="294" r:id="rId11"/>
    <p:sldId id="264" r:id="rId12"/>
    <p:sldId id="265" r:id="rId13"/>
    <p:sldId id="295" r:id="rId14"/>
    <p:sldId id="297" r:id="rId15"/>
    <p:sldId id="298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625" autoAdjust="0"/>
  </p:normalViewPr>
  <p:slideViewPr>
    <p:cSldViewPr snapToGrid="0">
      <p:cViewPr varScale="1">
        <p:scale>
          <a:sx n="52" d="100"/>
          <a:sy n="52" d="100"/>
        </p:scale>
        <p:origin x="12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0EB6F-2DCF-479C-8247-34069C34D88B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D712C-6FF6-49EF-A787-1EF9353BDB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5570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d3c977ef9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d3c977ef9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238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D7B6B3-3BD2-4F24-B17D-F539BC6FD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572592E-E449-4F98-87B2-60A768247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8BFAE2-28F9-45C2-928C-55E45E53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267F1C-C7B4-4A1C-8F58-DF0CD793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83FB32-3C3F-4DC6-8BF9-9CA0FB26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195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DB5D0-72B2-41FD-A3D7-809CB71A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CC8CDC-C20E-463E-AEB0-1DD315CF0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87DD1D-B996-4FAA-B1E9-3BF6D0D2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F08852-E1BB-4BD6-8A8B-7E2C22BB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D838F4-A058-41B6-8DCE-817FC6D1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624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58616C-5B90-4FC4-B237-9ED7E53B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7A4DD3A-B232-403F-B8DD-9C9176831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E2AE77-D832-41E2-A440-F1FEA6BC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C36D9A-9A31-4237-A2EA-35BB75D1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4FBBEEC-AFF9-43B2-969E-07DA2E53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44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99F67-BFDF-484C-9800-47F27918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18E53C-0446-4ED6-AE37-53A267C54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3E523C3-F316-448C-B9FE-968076FBB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BF9C5E0-98D6-4D08-A463-06090C4A0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16FAAF0-2E62-4625-A61E-B711C8D0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141A07A-B8AA-4040-A93C-C1E2B366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771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AEEA8D-AA96-4A53-B1A7-7E5D5FAB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B4D5FF-B344-425E-AC18-36E5BF45A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1E91320-9E1D-41B6-BACD-E98139209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E1B5C5-F73A-42B6-AC63-EEAF94255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E62F10B-C4DC-4AB6-9FCB-758467162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421DC7F-13AB-4241-AA31-4B7581AA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C52C4E4-56D0-49F6-882E-6C185B26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D129ED9-73FA-4BDB-BAF9-9789C58D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909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C59BEE-9801-4459-922B-7DF9EFD2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413168C-C08F-4597-AC0B-A2FB509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F92FE3B-E76B-4D6F-A596-DD2A0F7CD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67F0A05-DB6A-4789-AACF-35A91A79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291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13055EC-74E4-4B8D-86C6-B55D1C63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5D34291-500D-4A53-BB60-B1988E94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8C9752B-070B-461F-B238-F5864D3D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651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1D7212-2691-4652-A68C-106FFD9D9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F59940-CADE-486A-B1B5-B43DD8B0B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670325C-127F-4E6F-9250-52865696E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AD55CD-E95C-48C1-9E86-174E69B2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D888891-BD93-4B82-8522-AB5570EF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C6F6A59-33C4-47E0-BADF-CDC67A8DD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582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BD12-2C3E-4C33-8511-199EB3BA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A01D9A5-790D-4AD1-87DE-1F6E78CEF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8B48D7A-FAB4-4A29-83C5-A6AEC1ABC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87F154-3596-442B-9929-D77F2C38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BB2BC8-A049-4BA6-A295-FEF98674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B57047-CBF9-4099-A70A-E9CA9E29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945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3466A2-F269-417A-82A3-5D68493B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D026D13-11E4-4FD4-ABD9-C8F30D78A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A78246-3097-443D-A50A-2EB38B4B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CDE0616-439A-46E8-84C3-6ACD75F6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EAD284-429D-4C5A-9B9F-EE78B686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168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A94A02F-BC0E-473B-A817-9B866508C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8721D6-2562-49A5-AE1F-1BCEC0CF7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0FD23D-FC20-4E2F-B0B0-3524D93C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915B81-E8D6-4DEC-B0B2-4B7E3AD7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DDEB22-9DB0-42D4-9A0A-45959888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646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997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E81B6FA-B143-491D-908A-F0480F60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CEE48F-5FFD-4CA8-8593-A60178725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823164-9E93-4659-914A-C89672498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F3EE3-595B-4FE9-88FA-E4EC7462B8AD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D7EE13-3E9E-4F08-A996-E1985F385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651187-D1F7-40A1-839C-F798B3053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444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miosito/webhook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ashboard.ngrok.com/signu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222A86-78FF-45A5-9098-AFA189DF4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Dialog</a:t>
            </a:r>
            <a:r>
              <a:rPr lang="it-IT" dirty="0"/>
              <a:t> Flow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52E4C7C-0FFB-44D6-8368-D71A9BD8B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Fulfillment</a:t>
            </a:r>
          </a:p>
        </p:txBody>
      </p:sp>
    </p:spTree>
    <p:extLst>
      <p:ext uri="{BB962C8B-B14F-4D97-AF65-F5344CB8AC3E}">
        <p14:creationId xmlns:p14="http://schemas.microsoft.com/office/powerpoint/2010/main" val="373428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F97CD4-7663-4D29-BDBA-3D1ABBD7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" dirty="0"/>
              <a:t>Fulfillment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4A00B0-86D4-4C61-B61A-B071DAEB4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7024"/>
          </a:xfrm>
        </p:spPr>
        <p:txBody>
          <a:bodyPr>
            <a:normAutofit fontScale="92500"/>
          </a:bodyPr>
          <a:lstStyle/>
          <a:p>
            <a:r>
              <a:rPr lang="it-IT" dirty="0"/>
              <a:t>Di default l’</a:t>
            </a:r>
            <a:r>
              <a:rPr lang="it-IT" b="1" dirty="0">
                <a:solidFill>
                  <a:schemeClr val="accent2">
                    <a:lumMod val="75000"/>
                  </a:schemeClr>
                </a:solidFill>
              </a:rPr>
              <a:t>Agent</a:t>
            </a:r>
            <a:r>
              <a:rPr lang="it-IT" dirty="0"/>
              <a:t> risponde a un </a:t>
            </a:r>
            <a:r>
              <a:rPr lang="it-IT" b="1" dirty="0">
                <a:solidFill>
                  <a:schemeClr val="accent2">
                    <a:lumMod val="75000"/>
                  </a:schemeClr>
                </a:solidFill>
              </a:rPr>
              <a:t>Intent</a:t>
            </a:r>
            <a:r>
              <a:rPr lang="it-IT" dirty="0"/>
              <a:t> selezionato con una </a:t>
            </a:r>
            <a:r>
              <a:rPr lang="it-IT" b="1" dirty="0"/>
              <a:t>risposta statica</a:t>
            </a:r>
            <a:r>
              <a:rPr lang="it-IT" dirty="0"/>
              <a:t>. </a:t>
            </a:r>
          </a:p>
          <a:p>
            <a:r>
              <a:rPr lang="it-IT" dirty="0"/>
              <a:t>È possibile fornire una risposta più dinamica utilizzando il </a:t>
            </a:r>
            <a:r>
              <a:rPr lang="it-IT" b="1" dirty="0">
                <a:solidFill>
                  <a:srgbClr val="00B050"/>
                </a:solidFill>
              </a:rPr>
              <a:t>fulfillment</a:t>
            </a:r>
            <a:r>
              <a:rPr lang="it-IT" dirty="0"/>
              <a:t> che richiama un servizio personalizzato</a:t>
            </a:r>
          </a:p>
          <a:p>
            <a:r>
              <a:rPr lang="it-IT" dirty="0"/>
              <a:t>Es.  se un utente vuole effettuare una prenotazione tavolo, il servizio può controllare (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in un </a:t>
            </a:r>
            <a:r>
              <a:rPr lang="it-IT" b="1" dirty="0" err="1">
                <a:solidFill>
                  <a:schemeClr val="accent5">
                    <a:lumMod val="75000"/>
                  </a:schemeClr>
                </a:solidFill>
              </a:rPr>
              <a:t>db</a:t>
            </a:r>
            <a:r>
              <a:rPr lang="it-IT" dirty="0"/>
              <a:t>) e rispondere con le informazioni sulla disponibilità per il giorno prescelto.</a:t>
            </a:r>
          </a:p>
          <a:p>
            <a:r>
              <a:rPr lang="it-IT" dirty="0"/>
              <a:t>Per ogni Intent è possibile abilitare il fulfillment. </a:t>
            </a:r>
          </a:p>
          <a:p>
            <a:r>
              <a:rPr lang="it-IT" dirty="0"/>
              <a:t>Al momento della selezione di un Intent con il fulfillment abilitato, Dialogflow, invece di rispondere con la risposta statica:</a:t>
            </a:r>
          </a:p>
          <a:p>
            <a:pPr lvl="1"/>
            <a:r>
              <a:rPr lang="it-IT" dirty="0"/>
              <a:t>Invia una richiesta al servizio (</a:t>
            </a:r>
            <a:r>
              <a:rPr lang="it-IT" b="1" dirty="0" err="1">
                <a:solidFill>
                  <a:srgbClr val="00B050"/>
                </a:solidFill>
              </a:rPr>
              <a:t>webhook</a:t>
            </a:r>
            <a:r>
              <a:rPr lang="it-IT" dirty="0"/>
              <a:t>) con informazioni sull'intent associato.</a:t>
            </a:r>
          </a:p>
          <a:p>
            <a:pPr lvl="1"/>
            <a:r>
              <a:rPr lang="it-IT" dirty="0"/>
              <a:t>Il servizio esegue le azioni richieste ed inoltra a Dialogflow le informazioni su come procedere.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0081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it"/>
              <a:t>Fulfillment</a:t>
            </a:r>
            <a:endParaRPr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560167"/>
            <a:ext cx="11785603" cy="4548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303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6C7472-AE19-41C8-81FB-065F2C64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Scenario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5367FD-5D0C-4331-AD06-B153199E4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L’interazione con il chatbot prevede che alcuni dati vengano </a:t>
            </a:r>
            <a:r>
              <a:rPr lang="it-IT" b="1" dirty="0"/>
              <a:t>elaborati</a:t>
            </a:r>
            <a:r>
              <a:rPr lang="it-IT" dirty="0"/>
              <a:t> (es. scrittura/lettura su un </a:t>
            </a:r>
            <a:r>
              <a:rPr lang="it-IT" dirty="0" err="1"/>
              <a:t>db</a:t>
            </a:r>
            <a:r>
              <a:rPr lang="it-IT" dirty="0"/>
              <a:t>)</a:t>
            </a:r>
          </a:p>
          <a:p>
            <a:r>
              <a:rPr lang="it-IT" dirty="0"/>
              <a:t>Esempio:</a:t>
            </a:r>
          </a:p>
          <a:p>
            <a:pPr lvl="1"/>
            <a:r>
              <a:rPr lang="it-IT" b="1" dirty="0"/>
              <a:t>Assistente virtuale per la gestione di ordini</a:t>
            </a:r>
          </a:p>
          <a:p>
            <a:r>
              <a:rPr lang="it-IT" dirty="0"/>
              <a:t>Bisogna usare il Fulfillment.</a:t>
            </a:r>
          </a:p>
          <a:p>
            <a:r>
              <a:rPr lang="it-IT" dirty="0"/>
              <a:t>Come si traduce Fulfillment</a:t>
            </a:r>
          </a:p>
          <a:p>
            <a:pPr lvl="1"/>
            <a:r>
              <a:rPr lang="it-IT" dirty="0"/>
              <a:t>Adempimento / Evasione (della richiesta):</a:t>
            </a:r>
          </a:p>
          <a:p>
            <a:pPr lvl="1"/>
            <a:r>
              <a:rPr lang="it-IT" dirty="0"/>
              <a:t>Gestione della logica di </a:t>
            </a:r>
            <a:r>
              <a:rPr lang="it-IT" dirty="0" err="1"/>
              <a:t>backend</a:t>
            </a:r>
            <a:endParaRPr lang="it-IT" dirty="0"/>
          </a:p>
          <a:p>
            <a:pPr lvl="1"/>
            <a:r>
              <a:rPr lang="it-IT" dirty="0"/>
              <a:t>Servizio di risposta dinamica</a:t>
            </a:r>
          </a:p>
          <a:p>
            <a:r>
              <a:rPr lang="it-IT" dirty="0"/>
              <a:t>In pratica non si traduce e indica un  componente intermedio che fa da "ponte" tra Dialogflow e il database.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526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6C7472-AE19-41C8-81FB-065F2C64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Flusso di comunicazione con il Fulfillment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5367FD-5D0C-4331-AD06-B153199E4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524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b="1" dirty="0"/>
              <a:t>L'utente parla con il bot</a:t>
            </a:r>
            <a:r>
              <a:rPr lang="it-IT" dirty="0"/>
              <a:t>: Es: "Qual è lo stato del mio ordine 1234?".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Dialogflow riconosce l'intento</a:t>
            </a:r>
            <a:r>
              <a:rPr lang="it-IT" dirty="0"/>
              <a:t>: Identifica l'intento (es. </a:t>
            </a:r>
            <a:r>
              <a:rPr lang="it-IT" dirty="0" err="1"/>
              <a:t>Verifica_Ordine</a:t>
            </a:r>
            <a:r>
              <a:rPr lang="it-IT" dirty="0"/>
              <a:t>) ed estrae i parametri utili (es. </a:t>
            </a:r>
            <a:r>
              <a:rPr lang="it-IT" dirty="0" err="1"/>
              <a:t>numero_ordine</a:t>
            </a:r>
            <a:r>
              <a:rPr lang="it-IT" dirty="0"/>
              <a:t>: 1234).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Attivazione del Fulfillment </a:t>
            </a:r>
            <a:r>
              <a:rPr lang="it-IT" dirty="0"/>
              <a:t>(Chiamata </a:t>
            </a:r>
            <a:r>
              <a:rPr lang="it-IT" dirty="0" err="1"/>
              <a:t>Webhook</a:t>
            </a:r>
            <a:r>
              <a:rPr lang="it-IT" dirty="0"/>
              <a:t>):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/>
              <a:t>Invece di rispondere direttamente, Dialogflow invia una richiesta HTTP POST (un payload JSON) al server/funzione con i dati estratti dalla richiesta dell’utente.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/>
              <a:t>JSON (JavaScript Object </a:t>
            </a:r>
            <a:r>
              <a:rPr lang="it-IT" dirty="0" err="1"/>
              <a:t>Notation</a:t>
            </a:r>
            <a:r>
              <a:rPr lang="it-IT" dirty="0"/>
              <a:t>) è un formato di testo leggero e standardizzato utilizzato per memorizzare e scambiare dati strutturati tra applicazioni, server e siti web. È indipendente dal linguaggio di programmazione, sebbene derivi dalla sintassi di JavaScript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>
                <a:solidFill>
                  <a:srgbClr val="FF0000"/>
                </a:solidFill>
              </a:rPr>
              <a:t>Il server interroga il DB</a:t>
            </a:r>
            <a:r>
              <a:rPr lang="it-IT" dirty="0">
                <a:solidFill>
                  <a:srgbClr val="FF0000"/>
                </a:solidFill>
              </a:rPr>
              <a:t>: Il server riceve il numero d'ordine, si collega al DB, esegue la query (SELECT * FROM ordini WHERE id = 1234) e recupera il risultato. </a:t>
            </a:r>
            <a:r>
              <a:rPr lang="it-IT" dirty="0">
                <a:solidFill>
                  <a:srgbClr val="FF0000"/>
                </a:solidFill>
                <a:highlight>
                  <a:srgbClr val="FFFF00"/>
                </a:highlight>
              </a:rPr>
              <a:t>(la vediamo in seguito)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Risposta a Dialogflow</a:t>
            </a:r>
            <a:r>
              <a:rPr lang="it-IT" dirty="0"/>
              <a:t>: Il server formatta la risposta in un JSON compatibile con Dialogflow (es. "Il tuo ordine è in spedizione") e gliela invia.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Il bot risponde all'utente</a:t>
            </a:r>
            <a:r>
              <a:rPr lang="it-IT" dirty="0"/>
              <a:t>: Dialogflow mostra la risposta finale all'utente.</a:t>
            </a:r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8982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DDF7D7-3063-46BB-83D8-09F3C98A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Webhook</a:t>
            </a:r>
            <a:r>
              <a:rPr lang="it-IT" dirty="0"/>
              <a:t>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28B467-3839-420D-B030-ED0D33FBC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883"/>
          </a:xfrm>
        </p:spPr>
        <p:txBody>
          <a:bodyPr>
            <a:normAutofit/>
          </a:bodyPr>
          <a:lstStyle/>
          <a:p>
            <a:r>
              <a:rPr lang="it-IT" dirty="0"/>
              <a:t>Detto anche "HTTP </a:t>
            </a:r>
            <a:r>
              <a:rPr lang="it-IT" dirty="0" err="1"/>
              <a:t>callback</a:t>
            </a:r>
            <a:r>
              <a:rPr lang="it-IT" dirty="0"/>
              <a:t>«:</a:t>
            </a:r>
          </a:p>
          <a:p>
            <a:pPr lvl="1"/>
            <a:r>
              <a:rPr lang="it-IT" dirty="0"/>
              <a:t>meccanismo che consente a un'applicazione di inviare dati a un'altra applicazione non appena si verifica un determinato evento.</a:t>
            </a:r>
          </a:p>
          <a:p>
            <a:r>
              <a:rPr lang="it-IT" dirty="0"/>
              <a:t>Il funzionamento si basa su una semplice </a:t>
            </a:r>
            <a:r>
              <a:rPr lang="it-IT" b="1" dirty="0"/>
              <a:t>architettura Client-Server invertita</a:t>
            </a:r>
            <a:r>
              <a:rPr lang="it-IT" dirty="0"/>
              <a:t>:</a:t>
            </a:r>
          </a:p>
          <a:p>
            <a:r>
              <a:rPr lang="it-IT" b="1" dirty="0"/>
              <a:t>La preparazione (Il </a:t>
            </a:r>
            <a:r>
              <a:rPr lang="it-IT" b="1" dirty="0" err="1"/>
              <a:t>Listener</a:t>
            </a:r>
            <a:r>
              <a:rPr lang="it-IT" b="1" dirty="0"/>
              <a:t>): </a:t>
            </a:r>
          </a:p>
          <a:p>
            <a:pPr lvl="1"/>
            <a:r>
              <a:rPr lang="it-IT" dirty="0"/>
              <a:t>Creazione di una applicazione web </a:t>
            </a:r>
            <a:r>
              <a:rPr lang="it-IT" i="1" dirty="0"/>
              <a:t>in ascolto </a:t>
            </a:r>
            <a:r>
              <a:rPr lang="it-IT" dirty="0"/>
              <a:t>su un URL pubblico</a:t>
            </a:r>
          </a:p>
          <a:p>
            <a:pPr lvl="1"/>
            <a:r>
              <a:rPr lang="it-IT" dirty="0"/>
              <a:t>In questo incontro realizzata da uno script in Python con </a:t>
            </a:r>
            <a:r>
              <a:rPr lang="it-IT" dirty="0" err="1"/>
              <a:t>Flask</a:t>
            </a:r>
            <a:endParaRPr lang="it-IT" dirty="0"/>
          </a:p>
          <a:p>
            <a:r>
              <a:rPr lang="it-IT" b="1" dirty="0"/>
              <a:t>La registrazione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Su Dialogflow si si configura la "regola": "Ogni volta che succede l'evento X, invia i dati a questa URL".</a:t>
            </a:r>
          </a:p>
        </p:txBody>
      </p:sp>
    </p:spTree>
    <p:extLst>
      <p:ext uri="{BB962C8B-B14F-4D97-AF65-F5344CB8AC3E}">
        <p14:creationId xmlns:p14="http://schemas.microsoft.com/office/powerpoint/2010/main" val="555156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DDF7D7-3063-46BB-83D8-09F3C98A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Webhook</a:t>
            </a:r>
            <a:r>
              <a:rPr lang="it-IT" dirty="0"/>
              <a:t>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28B467-3839-420D-B030-ED0D33FBC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664"/>
            <a:ext cx="10515600" cy="5004487"/>
          </a:xfrm>
        </p:spPr>
        <p:txBody>
          <a:bodyPr>
            <a:normAutofit/>
          </a:bodyPr>
          <a:lstStyle/>
          <a:p>
            <a:r>
              <a:rPr lang="it-IT" b="1" dirty="0"/>
              <a:t>L'evento e la notifica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Quando l'evento si verifica (l'utente effettua un ordine, viene effettuato un pagamento, viene caricato un file), il sistema genera un pacchetto di dati (solitamente in formato JSON) e lo invia all’ URL tramite una richiesta HTTP POST.</a:t>
            </a:r>
          </a:p>
          <a:p>
            <a:r>
              <a:rPr lang="it-IT" b="1" dirty="0"/>
              <a:t>L'elaborazione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 Il servizio riceve il pacchetto, legge i dati (es. i dettagli sull’ordine), esegue le sue operazioni (es. scrive nel database) e risponde con un codice di successo (HTTP 200 OK).</a:t>
            </a:r>
          </a:p>
        </p:txBody>
      </p:sp>
    </p:spTree>
    <p:extLst>
      <p:ext uri="{BB962C8B-B14F-4D97-AF65-F5344CB8AC3E}">
        <p14:creationId xmlns:p14="http://schemas.microsoft.com/office/powerpoint/2010/main" val="1324747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25641F-6169-4FDA-B505-6FAC9E0A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</a:t>
            </a:r>
            <a:r>
              <a:rPr lang="it-IT" dirty="0" err="1"/>
              <a:t>Webhook</a:t>
            </a:r>
            <a:r>
              <a:rPr lang="it-IT" dirty="0"/>
              <a:t> 1/3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5D771C-5512-4EAA-A006-94725BB6F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/>
              <a:t>Script Python con </a:t>
            </a:r>
            <a:r>
              <a:rPr lang="it-IT" dirty="0" err="1"/>
              <a:t>Flask</a:t>
            </a:r>
            <a:endParaRPr lang="it-IT" dirty="0"/>
          </a:p>
          <a:p>
            <a:r>
              <a:rPr lang="it-IT" dirty="0" err="1"/>
              <a:t>Flask</a:t>
            </a:r>
            <a:r>
              <a:rPr lang="it-IT" dirty="0"/>
              <a:t> è un popolare micro-framework (essenziale e leggero) per lo sviluppo web scritto in Python. </a:t>
            </a:r>
          </a:p>
          <a:p>
            <a:pPr lvl="1"/>
            <a:r>
              <a:rPr lang="it-IT" dirty="0"/>
              <a:t>Creazione di siti web dinamici basati su script Python</a:t>
            </a:r>
          </a:p>
          <a:p>
            <a:r>
              <a:rPr lang="it-IT" b="1" dirty="0" err="1">
                <a:solidFill>
                  <a:srgbClr val="FF0000"/>
                </a:solidFill>
              </a:rPr>
              <a:t>pip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install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Flask</a:t>
            </a:r>
            <a:endParaRPr lang="it-IT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from flask import Flask, request, </a:t>
            </a:r>
            <a:r>
              <a:rPr lang="en-US" b="1" dirty="0" err="1">
                <a:solidFill>
                  <a:srgbClr val="00B050"/>
                </a:solidFill>
              </a:rPr>
              <a:t>jsonify</a:t>
            </a:r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#Importazione moduli di flask</a:t>
            </a:r>
          </a:p>
          <a:p>
            <a:r>
              <a:rPr lang="it-IT" sz="2900" b="1" dirty="0">
                <a:solidFill>
                  <a:srgbClr val="00B050"/>
                </a:solidFill>
              </a:rPr>
              <a:t>app = </a:t>
            </a:r>
            <a:r>
              <a:rPr lang="it-IT" sz="2900" b="1" dirty="0" err="1">
                <a:solidFill>
                  <a:srgbClr val="00B050"/>
                </a:solidFill>
              </a:rPr>
              <a:t>Flask</a:t>
            </a:r>
            <a:r>
              <a:rPr lang="it-IT" sz="2900" b="1" dirty="0">
                <a:solidFill>
                  <a:srgbClr val="00B050"/>
                </a:solidFill>
              </a:rPr>
              <a:t>(__name__)</a:t>
            </a:r>
          </a:p>
          <a:p>
            <a:pPr lvl="1"/>
            <a:r>
              <a:rPr lang="it-IT" dirty="0"/>
              <a:t>crea l'oggetto dell'applicazione che gestirà il server web. </a:t>
            </a:r>
          </a:p>
          <a:p>
            <a:r>
              <a:rPr lang="it-IT" b="1" dirty="0">
                <a:solidFill>
                  <a:srgbClr val="00B050"/>
                </a:solidFill>
              </a:rPr>
              <a:t>@app.route('/webhook', </a:t>
            </a:r>
            <a:r>
              <a:rPr lang="it-IT" b="1" dirty="0" err="1">
                <a:solidFill>
                  <a:srgbClr val="00B050"/>
                </a:solidFill>
              </a:rPr>
              <a:t>methods</a:t>
            </a:r>
            <a:r>
              <a:rPr lang="it-IT" b="1" dirty="0">
                <a:solidFill>
                  <a:srgbClr val="00B050"/>
                </a:solidFill>
              </a:rPr>
              <a:t>=['POST’])</a:t>
            </a:r>
          </a:p>
          <a:p>
            <a:r>
              <a:rPr lang="it-IT" b="1" dirty="0" err="1">
                <a:solidFill>
                  <a:srgbClr val="00B050"/>
                </a:solidFill>
              </a:rPr>
              <a:t>def</a:t>
            </a:r>
            <a:r>
              <a:rPr lang="it-IT" b="1" dirty="0">
                <a:solidFill>
                  <a:srgbClr val="00B050"/>
                </a:solidFill>
              </a:rPr>
              <a:t> </a:t>
            </a:r>
            <a:r>
              <a:rPr lang="it-IT" b="1" dirty="0" err="1">
                <a:solidFill>
                  <a:srgbClr val="00B050"/>
                </a:solidFill>
              </a:rPr>
              <a:t>webhook</a:t>
            </a:r>
            <a:r>
              <a:rPr lang="it-IT" b="1" dirty="0">
                <a:solidFill>
                  <a:srgbClr val="00B050"/>
                </a:solidFill>
              </a:rPr>
              <a:t>():</a:t>
            </a:r>
          </a:p>
          <a:p>
            <a:pPr lvl="1"/>
            <a:r>
              <a:rPr lang="it-IT" dirty="0"/>
              <a:t>Quando un utente richiede l’indirizzo </a:t>
            </a:r>
            <a:r>
              <a:rPr lang="it-IT" dirty="0">
                <a:hlinkClick r:id="rId2"/>
              </a:rPr>
              <a:t>http://miosito/webhook</a:t>
            </a:r>
            <a:r>
              <a:rPr lang="it-IT" dirty="0"/>
              <a:t> inviando dati tramite il metodo POST, esegui questa funzione (</a:t>
            </a:r>
            <a:r>
              <a:rPr lang="it-IT" dirty="0" err="1"/>
              <a:t>webhook</a:t>
            </a:r>
            <a:r>
              <a:rPr lang="it-IT" dirty="0"/>
              <a:t>) e mostragli il risultato."</a:t>
            </a:r>
          </a:p>
          <a:p>
            <a:r>
              <a:rPr lang="en-US" b="1" dirty="0">
                <a:solidFill>
                  <a:srgbClr val="00B050"/>
                </a:solidFill>
              </a:rPr>
              <a:t>if __name__ == '__main__':    </a:t>
            </a:r>
          </a:p>
          <a:p>
            <a:pPr lvl="1"/>
            <a:r>
              <a:rPr lang="en-US" b="1" dirty="0" err="1">
                <a:solidFill>
                  <a:srgbClr val="00B050"/>
                </a:solidFill>
              </a:rPr>
              <a:t>app.run</a:t>
            </a:r>
            <a:r>
              <a:rPr lang="en-US" b="1" dirty="0">
                <a:solidFill>
                  <a:srgbClr val="00B050"/>
                </a:solidFill>
              </a:rPr>
              <a:t>(port=5000, debug=True)</a:t>
            </a:r>
          </a:p>
          <a:p>
            <a:pPr lvl="1"/>
            <a:r>
              <a:rPr lang="en-US" dirty="0"/>
              <a:t>Il server web </a:t>
            </a:r>
            <a:r>
              <a:rPr lang="en-US" dirty="0" err="1"/>
              <a:t>sarà</a:t>
            </a:r>
            <a:r>
              <a:rPr lang="en-US" dirty="0"/>
              <a:t> in </a:t>
            </a:r>
            <a:r>
              <a:rPr lang="en-US" dirty="0" err="1"/>
              <a:t>ascolto</a:t>
            </a:r>
            <a:r>
              <a:rPr lang="en-US" dirty="0"/>
              <a:t> </a:t>
            </a:r>
            <a:r>
              <a:rPr lang="en-US" dirty="0" err="1"/>
              <a:t>sulla</a:t>
            </a:r>
            <a:r>
              <a:rPr lang="en-US" dirty="0"/>
              <a:t> porta 5000</a:t>
            </a:r>
          </a:p>
        </p:txBody>
      </p:sp>
    </p:spTree>
    <p:extLst>
      <p:ext uri="{BB962C8B-B14F-4D97-AF65-F5344CB8AC3E}">
        <p14:creationId xmlns:p14="http://schemas.microsoft.com/office/powerpoint/2010/main" val="2302448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D0151D-6066-45F6-9FF9-1E0E8DF7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</a:t>
            </a:r>
            <a:r>
              <a:rPr lang="it-IT" dirty="0" err="1"/>
              <a:t>Webhook</a:t>
            </a:r>
            <a:r>
              <a:rPr lang="it-IT" dirty="0"/>
              <a:t> 2/3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65F28E-D9DA-4B45-8AF3-9A61E1FB6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def</a:t>
            </a:r>
            <a:r>
              <a:rPr lang="it-IT" b="1" dirty="0">
                <a:solidFill>
                  <a:srgbClr val="00B050"/>
                </a:solidFill>
              </a:rPr>
              <a:t> </a:t>
            </a:r>
            <a:r>
              <a:rPr lang="it-IT" b="1" dirty="0" err="1">
                <a:solidFill>
                  <a:srgbClr val="00B050"/>
                </a:solidFill>
              </a:rPr>
              <a:t>webhook</a:t>
            </a:r>
            <a:r>
              <a:rPr lang="it-IT" b="1" dirty="0">
                <a:solidFill>
                  <a:srgbClr val="00B050"/>
                </a:solidFill>
              </a:rPr>
              <a:t>():</a:t>
            </a:r>
          </a:p>
          <a:p>
            <a:r>
              <a:rPr lang="it-IT" dirty="0"/>
              <a:t>    # Riceve i dati da Dialogflow</a:t>
            </a:r>
          </a:p>
          <a:p>
            <a:r>
              <a:rPr lang="it-IT" dirty="0"/>
              <a:t>    </a:t>
            </a:r>
            <a:r>
              <a:rPr lang="it-IT" b="1" dirty="0" err="1">
                <a:solidFill>
                  <a:srgbClr val="00B050"/>
                </a:solidFill>
              </a:rPr>
              <a:t>req</a:t>
            </a:r>
            <a:r>
              <a:rPr lang="it-IT" b="1" dirty="0">
                <a:solidFill>
                  <a:srgbClr val="00B050"/>
                </a:solidFill>
              </a:rPr>
              <a:t> = </a:t>
            </a:r>
            <a:r>
              <a:rPr lang="it-IT" b="1" dirty="0" err="1">
                <a:solidFill>
                  <a:srgbClr val="00B050"/>
                </a:solidFill>
              </a:rPr>
              <a:t>request.get_json</a:t>
            </a:r>
            <a:r>
              <a:rPr lang="it-IT" b="1" dirty="0">
                <a:solidFill>
                  <a:srgbClr val="00B050"/>
                </a:solidFill>
              </a:rPr>
              <a:t>(</a:t>
            </a:r>
            <a:r>
              <a:rPr lang="it-IT" b="1" dirty="0" err="1">
                <a:solidFill>
                  <a:srgbClr val="00B050"/>
                </a:solidFill>
              </a:rPr>
              <a:t>silent</a:t>
            </a:r>
            <a:r>
              <a:rPr lang="it-IT" b="1" dirty="0">
                <a:solidFill>
                  <a:srgbClr val="00B050"/>
                </a:solidFill>
              </a:rPr>
              <a:t>=True, force=True)</a:t>
            </a:r>
            <a:r>
              <a:rPr lang="it-IT" dirty="0"/>
              <a:t>  </a:t>
            </a:r>
          </a:p>
          <a:p>
            <a:r>
              <a:rPr lang="it-IT" dirty="0"/>
              <a:t>    # Estrae il nome dell'intento</a:t>
            </a:r>
          </a:p>
          <a:p>
            <a:r>
              <a:rPr lang="it-IT" dirty="0"/>
              <a:t>    </a:t>
            </a:r>
            <a:r>
              <a:rPr lang="it-IT" b="1" dirty="0" err="1">
                <a:solidFill>
                  <a:srgbClr val="00B050"/>
                </a:solidFill>
              </a:rPr>
              <a:t>intent_name</a:t>
            </a:r>
            <a:r>
              <a:rPr lang="it-IT" b="1" dirty="0">
                <a:solidFill>
                  <a:srgbClr val="00B050"/>
                </a:solidFill>
              </a:rPr>
              <a:t> = </a:t>
            </a:r>
            <a:r>
              <a:rPr lang="it-IT" b="1" dirty="0" err="1">
                <a:solidFill>
                  <a:srgbClr val="00B050"/>
                </a:solidFill>
              </a:rPr>
              <a:t>req.get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queryResult</a:t>
            </a:r>
            <a:r>
              <a:rPr lang="it-IT" b="1" dirty="0">
                <a:solidFill>
                  <a:srgbClr val="00B050"/>
                </a:solidFill>
              </a:rPr>
              <a:t>').</a:t>
            </a:r>
            <a:r>
              <a:rPr lang="it-IT" b="1" dirty="0" err="1">
                <a:solidFill>
                  <a:srgbClr val="00B050"/>
                </a:solidFill>
              </a:rPr>
              <a:t>get</a:t>
            </a:r>
            <a:r>
              <a:rPr lang="it-IT" b="1" dirty="0">
                <a:solidFill>
                  <a:srgbClr val="00B050"/>
                </a:solidFill>
              </a:rPr>
              <a:t>('intent').</a:t>
            </a:r>
            <a:r>
              <a:rPr lang="it-IT" b="1" dirty="0" err="1">
                <a:solidFill>
                  <a:srgbClr val="00B050"/>
                </a:solidFill>
              </a:rPr>
              <a:t>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displayName</a:t>
            </a:r>
            <a:r>
              <a:rPr lang="it-IT" b="1" dirty="0">
                <a:solidFill>
                  <a:srgbClr val="00B050"/>
                </a:solidFill>
              </a:rPr>
              <a:t>')</a:t>
            </a:r>
          </a:p>
          <a:p>
            <a:r>
              <a:rPr lang="it-IT" dirty="0"/>
              <a:t>    </a:t>
            </a:r>
            <a:r>
              <a:rPr lang="it-IT" b="1" dirty="0" err="1">
                <a:solidFill>
                  <a:srgbClr val="00B050"/>
                </a:solidFill>
              </a:rPr>
              <a:t>risposta_testo</a:t>
            </a:r>
            <a:r>
              <a:rPr lang="it-IT" b="1" dirty="0">
                <a:solidFill>
                  <a:srgbClr val="00B050"/>
                </a:solidFill>
              </a:rPr>
              <a:t> = "C'è stato un errore nell'elaborazione del tuo ordine."</a:t>
            </a:r>
          </a:p>
          <a:p>
            <a:endParaRPr lang="it-IT" b="1" dirty="0">
              <a:solidFill>
                <a:srgbClr val="00B050"/>
              </a:solidFill>
            </a:endParaRPr>
          </a:p>
          <a:p>
            <a:r>
              <a:rPr lang="it-IT" b="1" dirty="0">
                <a:solidFill>
                  <a:srgbClr val="00B050"/>
                </a:solidFill>
              </a:rPr>
              <a:t>    </a:t>
            </a:r>
            <a:r>
              <a:rPr lang="it-IT" b="1" dirty="0" err="1">
                <a:solidFill>
                  <a:srgbClr val="00B050"/>
                </a:solidFill>
              </a:rPr>
              <a:t>if</a:t>
            </a:r>
            <a:r>
              <a:rPr lang="it-IT" b="1" dirty="0">
                <a:solidFill>
                  <a:srgbClr val="00B050"/>
                </a:solidFill>
              </a:rPr>
              <a:t> </a:t>
            </a:r>
            <a:r>
              <a:rPr lang="it-IT" b="1" dirty="0" err="1">
                <a:solidFill>
                  <a:srgbClr val="00B050"/>
                </a:solidFill>
              </a:rPr>
              <a:t>intent_name</a:t>
            </a:r>
            <a:r>
              <a:rPr lang="it-IT" b="1" dirty="0">
                <a:solidFill>
                  <a:srgbClr val="00B050"/>
                </a:solidFill>
              </a:rPr>
              <a:t> == '</a:t>
            </a:r>
            <a:r>
              <a:rPr lang="it-IT" b="1" dirty="0" err="1">
                <a:solidFill>
                  <a:srgbClr val="00B050"/>
                </a:solidFill>
              </a:rPr>
              <a:t>nuovo_ordine</a:t>
            </a:r>
            <a:r>
              <a:rPr lang="it-IT" b="1" dirty="0">
                <a:solidFill>
                  <a:srgbClr val="00B050"/>
                </a:solidFill>
              </a:rPr>
              <a:t>':</a:t>
            </a:r>
          </a:p>
          <a:p>
            <a:r>
              <a:rPr lang="it-IT" b="1" dirty="0">
                <a:solidFill>
                  <a:srgbClr val="00B050"/>
                </a:solidFill>
              </a:rPr>
              <a:t>        </a:t>
            </a:r>
            <a:r>
              <a:rPr lang="it-IT" b="1" dirty="0" err="1">
                <a:solidFill>
                  <a:srgbClr val="00B050"/>
                </a:solidFill>
              </a:rPr>
              <a:t>parameters</a:t>
            </a:r>
            <a:r>
              <a:rPr lang="it-IT" b="1" dirty="0">
                <a:solidFill>
                  <a:srgbClr val="00B050"/>
                </a:solidFill>
              </a:rPr>
              <a:t> = </a:t>
            </a:r>
            <a:r>
              <a:rPr lang="it-IT" b="1" dirty="0" err="1">
                <a:solidFill>
                  <a:srgbClr val="00B050"/>
                </a:solidFill>
              </a:rPr>
              <a:t>req.get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queryResult</a:t>
            </a:r>
            <a:r>
              <a:rPr lang="it-IT" b="1" dirty="0">
                <a:solidFill>
                  <a:srgbClr val="00B050"/>
                </a:solidFill>
              </a:rPr>
              <a:t>').</a:t>
            </a:r>
            <a:r>
              <a:rPr lang="it-IT" b="1" dirty="0" err="1">
                <a:solidFill>
                  <a:srgbClr val="00B050"/>
                </a:solidFill>
              </a:rPr>
              <a:t>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parameters</a:t>
            </a:r>
            <a:r>
              <a:rPr lang="it-IT" b="1" dirty="0">
                <a:solidFill>
                  <a:srgbClr val="00B050"/>
                </a:solidFill>
              </a:rPr>
              <a:t>')</a:t>
            </a:r>
          </a:p>
          <a:p>
            <a:endParaRPr lang="it-IT" dirty="0"/>
          </a:p>
          <a:p>
            <a:r>
              <a:rPr lang="it-IT" dirty="0"/>
              <a:t>        # Estrae i parametri (es. </a:t>
            </a:r>
            <a:r>
              <a:rPr lang="it-IT" dirty="0" err="1"/>
              <a:t>quantita</a:t>
            </a:r>
            <a:r>
              <a:rPr lang="it-IT" dirty="0"/>
              <a:t> = 2.0, </a:t>
            </a:r>
            <a:r>
              <a:rPr lang="it-IT" dirty="0" err="1"/>
              <a:t>tipo_pizza</a:t>
            </a:r>
            <a:r>
              <a:rPr lang="it-IT" dirty="0"/>
              <a:t> = "pizza rossa")</a:t>
            </a:r>
          </a:p>
          <a:p>
            <a:r>
              <a:rPr lang="it-IT" dirty="0"/>
              <a:t>        </a:t>
            </a:r>
            <a:r>
              <a:rPr lang="it-IT" b="1" dirty="0" err="1">
                <a:solidFill>
                  <a:srgbClr val="00B050"/>
                </a:solidFill>
              </a:rPr>
              <a:t>tipo_pizza_raw</a:t>
            </a:r>
            <a:r>
              <a:rPr lang="it-IT" b="1" dirty="0">
                <a:solidFill>
                  <a:srgbClr val="00B050"/>
                </a:solidFill>
              </a:rPr>
              <a:t> = </a:t>
            </a:r>
            <a:r>
              <a:rPr lang="it-IT" b="1" dirty="0" err="1">
                <a:solidFill>
                  <a:srgbClr val="00B050"/>
                </a:solidFill>
              </a:rPr>
              <a:t>parameters.get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tipo_pizza</a:t>
            </a:r>
            <a:r>
              <a:rPr lang="it-IT" b="1" dirty="0">
                <a:solidFill>
                  <a:srgbClr val="00B050"/>
                </a:solidFill>
              </a:rPr>
              <a:t>')</a:t>
            </a:r>
          </a:p>
          <a:p>
            <a:r>
              <a:rPr lang="it-IT" b="1" dirty="0">
                <a:solidFill>
                  <a:srgbClr val="00B050"/>
                </a:solidFill>
              </a:rPr>
              <a:t>        </a:t>
            </a:r>
            <a:r>
              <a:rPr lang="it-IT" b="1" dirty="0" err="1">
                <a:solidFill>
                  <a:srgbClr val="00B050"/>
                </a:solidFill>
              </a:rPr>
              <a:t>quantita_raw</a:t>
            </a:r>
            <a:r>
              <a:rPr lang="it-IT" b="1" dirty="0">
                <a:solidFill>
                  <a:srgbClr val="00B050"/>
                </a:solidFill>
              </a:rPr>
              <a:t> = </a:t>
            </a:r>
            <a:r>
              <a:rPr lang="it-IT" b="1" dirty="0" err="1">
                <a:solidFill>
                  <a:srgbClr val="00B050"/>
                </a:solidFill>
              </a:rPr>
              <a:t>parameters.get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number</a:t>
            </a:r>
            <a:r>
              <a:rPr lang="it-IT" b="1" dirty="0">
                <a:solidFill>
                  <a:srgbClr val="00B050"/>
                </a:solidFill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3677942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D0151D-6066-45F6-9FF9-1E0E8DF7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</a:t>
            </a:r>
            <a:r>
              <a:rPr lang="it-IT" dirty="0" err="1"/>
              <a:t>Webhook</a:t>
            </a:r>
            <a:r>
              <a:rPr lang="it-IT" dirty="0"/>
              <a:t> 3/3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6FE4DF5-41CC-4C53-A0E6-89B62067B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919" y="1690688"/>
            <a:ext cx="11751275" cy="5006674"/>
          </a:xfrm>
        </p:spPr>
        <p:txBody>
          <a:bodyPr>
            <a:normAutofit/>
          </a:bodyPr>
          <a:lstStyle/>
          <a:p>
            <a:r>
              <a:rPr lang="it-IT" dirty="0"/>
              <a:t> </a:t>
            </a:r>
            <a:r>
              <a:rPr lang="it-IT" b="1" dirty="0" err="1">
                <a:solidFill>
                  <a:srgbClr val="00B050"/>
                </a:solidFill>
              </a:rPr>
              <a:t>if</a:t>
            </a:r>
            <a:r>
              <a:rPr lang="it-IT" b="1" dirty="0">
                <a:solidFill>
                  <a:srgbClr val="00B050"/>
                </a:solidFill>
              </a:rPr>
              <a:t> </a:t>
            </a:r>
            <a:r>
              <a:rPr lang="it-IT" b="1" dirty="0" err="1">
                <a:solidFill>
                  <a:srgbClr val="00B050"/>
                </a:solidFill>
              </a:rPr>
              <a:t>tipo_pizza_raw</a:t>
            </a:r>
            <a:r>
              <a:rPr lang="it-IT" b="1" dirty="0">
                <a:solidFill>
                  <a:srgbClr val="00B050"/>
                </a:solidFill>
              </a:rPr>
              <a:t> and </a:t>
            </a:r>
            <a:r>
              <a:rPr lang="it-IT" b="1" dirty="0" err="1">
                <a:solidFill>
                  <a:srgbClr val="00B050"/>
                </a:solidFill>
              </a:rPr>
              <a:t>quantita_raw</a:t>
            </a:r>
            <a:r>
              <a:rPr lang="it-IT" b="1" dirty="0">
                <a:solidFill>
                  <a:srgbClr val="00B050"/>
                </a:solidFill>
              </a:rPr>
              <a:t>:</a:t>
            </a:r>
          </a:p>
          <a:p>
            <a:r>
              <a:rPr lang="it-IT" dirty="0"/>
              <a:t>         </a:t>
            </a:r>
            <a:r>
              <a:rPr lang="it-IT" sz="2200" dirty="0"/>
              <a:t># Dialogflow invia i numeri come float (es. 2.0), lo convertiamo in intero</a:t>
            </a:r>
          </a:p>
          <a:p>
            <a:r>
              <a:rPr lang="it-IT" dirty="0">
                <a:solidFill>
                  <a:srgbClr val="FF0000"/>
                </a:solidFill>
              </a:rPr>
              <a:t>         </a:t>
            </a:r>
            <a:r>
              <a:rPr lang="it-IT" sz="2200" b="1" dirty="0" err="1">
                <a:solidFill>
                  <a:srgbClr val="FF0000"/>
                </a:solidFill>
              </a:rPr>
              <a:t>quantita</a:t>
            </a:r>
            <a:r>
              <a:rPr lang="it-IT" sz="2200" b="1" dirty="0">
                <a:solidFill>
                  <a:srgbClr val="FF0000"/>
                </a:solidFill>
              </a:rPr>
              <a:t> = </a:t>
            </a:r>
            <a:r>
              <a:rPr lang="it-IT" sz="2200" b="1" dirty="0" err="1">
                <a:solidFill>
                  <a:srgbClr val="FF0000"/>
                </a:solidFill>
              </a:rPr>
              <a:t>int</a:t>
            </a:r>
            <a:r>
              <a:rPr lang="it-IT" sz="2200" b="1" dirty="0">
                <a:solidFill>
                  <a:srgbClr val="FF0000"/>
                </a:solidFill>
              </a:rPr>
              <a:t>( </a:t>
            </a:r>
            <a:r>
              <a:rPr lang="it-IT" sz="2200" b="1" dirty="0" err="1">
                <a:solidFill>
                  <a:srgbClr val="FF0000"/>
                </a:solidFill>
              </a:rPr>
              <a:t>quantita_raw</a:t>
            </a:r>
            <a:r>
              <a:rPr lang="it-IT" sz="2200" b="1" dirty="0">
                <a:solidFill>
                  <a:srgbClr val="FF0000"/>
                </a:solidFill>
              </a:rPr>
              <a:t>) *2</a:t>
            </a:r>
          </a:p>
          <a:p>
            <a:r>
              <a:rPr lang="it-IT" sz="2200" b="1" dirty="0">
                <a:solidFill>
                  <a:srgbClr val="FF0000"/>
                </a:solidFill>
              </a:rPr>
              <a:t>            </a:t>
            </a:r>
            <a:r>
              <a:rPr lang="it-IT" sz="2200" b="1" dirty="0" err="1">
                <a:solidFill>
                  <a:srgbClr val="FF0000"/>
                </a:solidFill>
              </a:rPr>
              <a:t>tipo_pizza</a:t>
            </a:r>
            <a:r>
              <a:rPr lang="it-IT" sz="2200" b="1" dirty="0">
                <a:solidFill>
                  <a:srgbClr val="FF0000"/>
                </a:solidFill>
              </a:rPr>
              <a:t> = "Pizza bianca" </a:t>
            </a:r>
            <a:r>
              <a:rPr lang="it-IT" sz="2200" b="1" dirty="0" err="1">
                <a:solidFill>
                  <a:srgbClr val="FF0000"/>
                </a:solidFill>
              </a:rPr>
              <a:t>if</a:t>
            </a:r>
            <a:r>
              <a:rPr lang="it-IT" sz="2200" b="1" dirty="0">
                <a:solidFill>
                  <a:srgbClr val="FF0000"/>
                </a:solidFill>
              </a:rPr>
              <a:t> </a:t>
            </a:r>
            <a:r>
              <a:rPr lang="it-IT" sz="2200" b="1" dirty="0" err="1">
                <a:solidFill>
                  <a:srgbClr val="FF0000"/>
                </a:solidFill>
              </a:rPr>
              <a:t>tipo_pizza_raw</a:t>
            </a:r>
            <a:r>
              <a:rPr lang="it-IT" sz="2200" b="1" dirty="0">
                <a:solidFill>
                  <a:srgbClr val="FF0000"/>
                </a:solidFill>
              </a:rPr>
              <a:t> == "Pizza rossa"  else "Pizza rossa"</a:t>
            </a:r>
          </a:p>
          <a:p>
            <a:r>
              <a:rPr lang="it-IT" sz="2200" b="1" dirty="0">
                <a:solidFill>
                  <a:srgbClr val="FF0000"/>
                </a:solidFill>
              </a:rPr>
              <a:t>            </a:t>
            </a:r>
            <a:r>
              <a:rPr lang="it-IT" sz="2200" b="1" dirty="0" err="1">
                <a:solidFill>
                  <a:srgbClr val="FF0000"/>
                </a:solidFill>
              </a:rPr>
              <a:t>risposta_testo</a:t>
            </a:r>
            <a:r>
              <a:rPr lang="it-IT" sz="2200" b="1" dirty="0">
                <a:solidFill>
                  <a:srgbClr val="FF0000"/>
                </a:solidFill>
              </a:rPr>
              <a:t> = </a:t>
            </a:r>
            <a:r>
              <a:rPr lang="it-IT" sz="2200" b="1" dirty="0" err="1">
                <a:solidFill>
                  <a:srgbClr val="FF0000"/>
                </a:solidFill>
              </a:rPr>
              <a:t>f"Perfetto</a:t>
            </a:r>
            <a:r>
              <a:rPr lang="it-IT" sz="2200" b="1" dirty="0">
                <a:solidFill>
                  <a:srgbClr val="FF0000"/>
                </a:solidFill>
              </a:rPr>
              <a:t>! Ordine per {</a:t>
            </a:r>
            <a:r>
              <a:rPr lang="it-IT" sz="2200" b="1" dirty="0" err="1">
                <a:solidFill>
                  <a:srgbClr val="FF0000"/>
                </a:solidFill>
              </a:rPr>
              <a:t>quantita</a:t>
            </a:r>
            <a:r>
              <a:rPr lang="it-IT" sz="2200" b="1" dirty="0">
                <a:solidFill>
                  <a:srgbClr val="FF0000"/>
                </a:solidFill>
              </a:rPr>
              <a:t>} {</a:t>
            </a:r>
            <a:r>
              <a:rPr lang="it-IT" sz="2200" b="1" dirty="0" err="1">
                <a:solidFill>
                  <a:srgbClr val="FF0000"/>
                </a:solidFill>
              </a:rPr>
              <a:t>tipo_pizza</a:t>
            </a:r>
            <a:r>
              <a:rPr lang="it-IT" sz="2200" b="1" dirty="0">
                <a:solidFill>
                  <a:srgbClr val="FF0000"/>
                </a:solidFill>
              </a:rPr>
              <a:t>} registrato con successo."</a:t>
            </a:r>
          </a:p>
          <a:p>
            <a:r>
              <a:rPr lang="it-IT" b="1" dirty="0">
                <a:solidFill>
                  <a:srgbClr val="00B050"/>
                </a:solidFill>
              </a:rPr>
              <a:t>else:</a:t>
            </a:r>
          </a:p>
          <a:p>
            <a:r>
              <a:rPr lang="it-IT" dirty="0"/>
              <a:t>         </a:t>
            </a:r>
            <a:r>
              <a:rPr lang="it-IT" sz="2200" dirty="0" err="1"/>
              <a:t>risposta_testo</a:t>
            </a:r>
            <a:r>
              <a:rPr lang="it-IT" sz="2200" dirty="0"/>
              <a:t> = «Dati incompleti per effettuare l'ordine (quantità o tipo di pizza)."</a:t>
            </a:r>
          </a:p>
          <a:p>
            <a:r>
              <a:rPr lang="it-IT" b="1" dirty="0" err="1">
                <a:solidFill>
                  <a:srgbClr val="00B050"/>
                </a:solidFill>
              </a:rPr>
              <a:t>return</a:t>
            </a:r>
            <a:r>
              <a:rPr lang="it-IT" b="1" dirty="0">
                <a:solidFill>
                  <a:srgbClr val="00B050"/>
                </a:solidFill>
              </a:rPr>
              <a:t> </a:t>
            </a:r>
            <a:r>
              <a:rPr lang="it-IT" b="1" dirty="0" err="1">
                <a:solidFill>
                  <a:srgbClr val="00B050"/>
                </a:solidFill>
              </a:rPr>
              <a:t>jsonify</a:t>
            </a:r>
            <a:r>
              <a:rPr lang="it-IT" b="1" dirty="0">
                <a:solidFill>
                  <a:srgbClr val="00B050"/>
                </a:solidFill>
              </a:rPr>
              <a:t>({</a:t>
            </a:r>
          </a:p>
          <a:p>
            <a:r>
              <a:rPr lang="it-IT" b="1" dirty="0">
                <a:solidFill>
                  <a:srgbClr val="00B050"/>
                </a:solidFill>
              </a:rPr>
              <a:t>    "</a:t>
            </a:r>
            <a:r>
              <a:rPr lang="it-IT" b="1" dirty="0" err="1">
                <a:solidFill>
                  <a:srgbClr val="00B050"/>
                </a:solidFill>
              </a:rPr>
              <a:t>fulfillmentMessages</a:t>
            </a:r>
            <a:r>
              <a:rPr lang="it-IT" b="1" dirty="0">
                <a:solidFill>
                  <a:srgbClr val="00B050"/>
                </a:solidFill>
              </a:rPr>
              <a:t>": [{"text": {"text": [</a:t>
            </a:r>
            <a:r>
              <a:rPr lang="it-IT" b="1" dirty="0" err="1">
                <a:solidFill>
                  <a:srgbClr val="00B050"/>
                </a:solidFill>
              </a:rPr>
              <a:t>risposta_testo</a:t>
            </a:r>
            <a:r>
              <a:rPr lang="it-IT" b="1" dirty="0">
                <a:solidFill>
                  <a:srgbClr val="00B050"/>
                </a:solidFill>
              </a:rPr>
              <a:t>]}}]</a:t>
            </a:r>
          </a:p>
          <a:p>
            <a:r>
              <a:rPr lang="it-IT" b="1" dirty="0">
                <a:solidFill>
                  <a:srgbClr val="00B050"/>
                </a:solidFill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226746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A92DF3-EAA1-4F94-83AD-B6F2078F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Configurazione lato </a:t>
            </a:r>
            <a:r>
              <a:rPr lang="it-IT" dirty="0" err="1"/>
              <a:t>Dialog</a:t>
            </a:r>
            <a:r>
              <a:rPr lang="it-IT" dirty="0"/>
              <a:t> Flow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DA0CE439-3BCF-4C62-BC46-7A7A0D06C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/>
              <a:t>Crea l'Entità </a:t>
            </a:r>
            <a:r>
              <a:rPr lang="it-IT" b="1" dirty="0" err="1">
                <a:solidFill>
                  <a:srgbClr val="FF0000"/>
                </a:solidFill>
              </a:rPr>
              <a:t>tipo_pizza</a:t>
            </a:r>
            <a:r>
              <a:rPr lang="it-IT" dirty="0"/>
              <a:t>: </a:t>
            </a:r>
          </a:p>
          <a:p>
            <a:pPr lvl="1"/>
            <a:r>
              <a:rPr lang="it-IT" dirty="0" err="1"/>
              <a:t>Entities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Create </a:t>
            </a:r>
            <a:r>
              <a:rPr lang="it-IT" dirty="0" err="1"/>
              <a:t>Entity</a:t>
            </a:r>
            <a:r>
              <a:rPr lang="it-IT" dirty="0" err="1">
                <a:sym typeface="Wingdings" panose="05000000000000000000" pitchFamily="2" charset="2"/>
              </a:rPr>
              <a:t></a:t>
            </a:r>
            <a:r>
              <a:rPr lang="it-IT" i="1" dirty="0" err="1"/>
              <a:t>tipo_pizza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Inserimento valori ammessi:</a:t>
            </a:r>
          </a:p>
          <a:p>
            <a:pPr lvl="2"/>
            <a:r>
              <a:rPr lang="it-IT" i="1" dirty="0"/>
              <a:t>pizza rossa </a:t>
            </a:r>
            <a:r>
              <a:rPr lang="it-IT" dirty="0"/>
              <a:t>ed eventuali sinonimi</a:t>
            </a:r>
          </a:p>
          <a:p>
            <a:pPr lvl="2"/>
            <a:r>
              <a:rPr lang="it-IT" i="1" dirty="0"/>
              <a:t>pizza bianca </a:t>
            </a:r>
            <a:r>
              <a:rPr lang="it-IT" dirty="0"/>
              <a:t>ed eventuali sinonimi</a:t>
            </a:r>
          </a:p>
          <a:p>
            <a:pPr lvl="1"/>
            <a:r>
              <a:rPr lang="it-IT" dirty="0"/>
              <a:t>Save</a:t>
            </a:r>
          </a:p>
          <a:p>
            <a:r>
              <a:rPr lang="it-IT" dirty="0"/>
              <a:t>Crea l'Intento </a:t>
            </a:r>
            <a:r>
              <a:rPr lang="it-IT" b="1" dirty="0" err="1">
                <a:solidFill>
                  <a:srgbClr val="FF0000"/>
                </a:solidFill>
              </a:rPr>
              <a:t>Nuovo_Ordine</a:t>
            </a:r>
            <a:endParaRPr lang="it-IT" b="1" dirty="0">
              <a:solidFill>
                <a:srgbClr val="FF0000"/>
              </a:solidFill>
            </a:endParaRPr>
          </a:p>
          <a:p>
            <a:pPr lvl="1"/>
            <a:r>
              <a:rPr lang="it-IT" dirty="0" err="1"/>
              <a:t>Intents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Create </a:t>
            </a:r>
            <a:r>
              <a:rPr lang="it-IT" dirty="0" err="1"/>
              <a:t>Intent</a:t>
            </a:r>
            <a:r>
              <a:rPr lang="it-IT" dirty="0" err="1">
                <a:sym typeface="Wingdings" panose="05000000000000000000" pitchFamily="2" charset="2"/>
              </a:rPr>
              <a:t></a:t>
            </a:r>
            <a:r>
              <a:rPr lang="it-IT" i="1" dirty="0" err="1"/>
              <a:t>Nuovo_Ordine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In Training </a:t>
            </a:r>
            <a:r>
              <a:rPr lang="it-IT" dirty="0" err="1"/>
              <a:t>phrases</a:t>
            </a:r>
            <a:r>
              <a:rPr lang="it-IT" dirty="0"/>
              <a:t>, inserisci alcune frasi di esempio che un utente potrebbe dire. </a:t>
            </a:r>
          </a:p>
          <a:p>
            <a:pPr lvl="1"/>
            <a:r>
              <a:rPr lang="it-IT" dirty="0"/>
              <a:t>Es: "</a:t>
            </a:r>
            <a:r>
              <a:rPr lang="it-IT" i="1" dirty="0"/>
              <a:t>Vorrei ordinare </a:t>
            </a:r>
            <a:r>
              <a:rPr lang="it-IT" b="1" i="1" dirty="0">
                <a:solidFill>
                  <a:srgbClr val="00B050"/>
                </a:solidFill>
              </a:rPr>
              <a:t>una</a:t>
            </a:r>
            <a:r>
              <a:rPr lang="it-IT" i="1" dirty="0"/>
              <a:t> </a:t>
            </a:r>
            <a:r>
              <a:rPr lang="it-IT" i="1" dirty="0">
                <a:solidFill>
                  <a:schemeClr val="accent2">
                    <a:lumMod val="50000"/>
                  </a:schemeClr>
                </a:solidFill>
              </a:rPr>
              <a:t>pizza rossa</a:t>
            </a:r>
            <a:r>
              <a:rPr lang="it-IT" dirty="0"/>
              <a:t>" </a:t>
            </a:r>
          </a:p>
          <a:p>
            <a:pPr lvl="1"/>
            <a:r>
              <a:rPr lang="it-IT" dirty="0"/>
              <a:t>Dialogflow dovrebbe evidenziare automaticamente i parametri.</a:t>
            </a:r>
          </a:p>
          <a:p>
            <a:pPr lvl="1"/>
            <a:r>
              <a:rPr lang="it-IT" b="1" i="1" dirty="0">
                <a:solidFill>
                  <a:srgbClr val="00B050"/>
                </a:solidFill>
              </a:rPr>
              <a:t>una: </a:t>
            </a:r>
            <a:r>
              <a:rPr lang="it-IT" dirty="0"/>
              <a:t>numero/quantità </a:t>
            </a:r>
          </a:p>
          <a:p>
            <a:pPr lvl="1"/>
            <a:r>
              <a:rPr lang="it-IT" b="1" dirty="0">
                <a:solidFill>
                  <a:schemeClr val="accent2">
                    <a:lumMod val="50000"/>
                  </a:schemeClr>
                </a:solidFill>
              </a:rPr>
              <a:t>pizza rossa </a:t>
            </a:r>
            <a:r>
              <a:rPr lang="it-IT" dirty="0"/>
              <a:t>come </a:t>
            </a:r>
            <a:r>
              <a:rPr lang="it-IT" dirty="0" err="1"/>
              <a:t>tipo_pizza</a:t>
            </a:r>
            <a:endParaRPr lang="it-IT" dirty="0"/>
          </a:p>
          <a:p>
            <a:pPr lvl="1"/>
            <a:r>
              <a:rPr lang="it-IT" dirty="0"/>
              <a:t>Sezione Fulfillment (dell’intento)</a:t>
            </a:r>
          </a:p>
          <a:p>
            <a:pPr lvl="2"/>
            <a:r>
              <a:rPr lang="it-IT" dirty="0" err="1"/>
              <a:t>Enable</a:t>
            </a:r>
            <a:r>
              <a:rPr lang="it-IT" dirty="0"/>
              <a:t> </a:t>
            </a:r>
            <a:r>
              <a:rPr lang="it-IT" dirty="0" err="1"/>
              <a:t>webhook</a:t>
            </a:r>
            <a:r>
              <a:rPr lang="it-IT" dirty="0"/>
              <a:t> call for </a:t>
            </a:r>
            <a:r>
              <a:rPr lang="it-IT" dirty="0" err="1"/>
              <a:t>this</a:t>
            </a:r>
            <a:r>
              <a:rPr lang="it-IT" dirty="0"/>
              <a:t> Intent</a:t>
            </a:r>
          </a:p>
          <a:p>
            <a:pPr lvl="1"/>
            <a:r>
              <a:rPr lang="it-IT" dirty="0"/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127725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CD253C-5E8F-4D22-8B8D-2CECDD29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Server su IP pubblico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2521CD-F734-4FFC-B3E2-5D1CD4C6D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Creazione di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architettura client/server invertita</a:t>
            </a:r>
          </a:p>
          <a:p>
            <a:r>
              <a:rPr lang="it-IT" dirty="0"/>
              <a:t>Il «nostro» pc diventa server e il server di Google diventa client</a:t>
            </a:r>
          </a:p>
          <a:p>
            <a:r>
              <a:rPr lang="it-IT" dirty="0"/>
              <a:t>Dialogflow ha bisogno di un </a:t>
            </a:r>
            <a:r>
              <a:rPr lang="it-IT" b="1" dirty="0">
                <a:solidFill>
                  <a:srgbClr val="00B050"/>
                </a:solidFill>
              </a:rPr>
              <a:t>URL pubblico </a:t>
            </a:r>
            <a:r>
              <a:rPr lang="it-IT" dirty="0"/>
              <a:t>(</a:t>
            </a:r>
            <a:r>
              <a:rPr lang="it-IT" b="1" dirty="0">
                <a:solidFill>
                  <a:srgbClr val="00B050"/>
                </a:solidFill>
              </a:rPr>
              <a:t>https</a:t>
            </a:r>
            <a:r>
              <a:rPr lang="it-IT" dirty="0"/>
              <a:t>://...) per inviare i dati allo script Python eseguito in locale ed in ascolto sulla porta 5000 con protocollo </a:t>
            </a:r>
            <a:r>
              <a:rPr lang="it-IT" b="1" dirty="0">
                <a:solidFill>
                  <a:schemeClr val="accent2">
                    <a:lumMod val="50000"/>
                  </a:schemeClr>
                </a:solidFill>
              </a:rPr>
              <a:t>http</a:t>
            </a:r>
            <a:r>
              <a:rPr lang="it-IT" dirty="0"/>
              <a:t>.</a:t>
            </a:r>
          </a:p>
          <a:p>
            <a:r>
              <a:rPr lang="it-IT" dirty="0"/>
              <a:t>L’indirizzo IP del computer locale non è generalmente un IP pubblico (</a:t>
            </a:r>
            <a:r>
              <a:rPr lang="it-IT" b="1" dirty="0">
                <a:solidFill>
                  <a:schemeClr val="accent2">
                    <a:lumMod val="50000"/>
                  </a:schemeClr>
                </a:solidFill>
              </a:rPr>
              <a:t>IP privato</a:t>
            </a:r>
            <a:r>
              <a:rPr lang="it-IT" dirty="0"/>
              <a:t>) e quindi Google non può vederlo.</a:t>
            </a:r>
          </a:p>
          <a:p>
            <a:r>
              <a:rPr lang="it-IT" dirty="0"/>
              <a:t>In fase di sviluppo, si può usare uno strumento come </a:t>
            </a:r>
            <a:r>
              <a:rPr lang="it-IT" b="1" dirty="0" err="1">
                <a:solidFill>
                  <a:srgbClr val="FF0000"/>
                </a:solidFill>
              </a:rPr>
              <a:t>ngrok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Servizio che permette di esporre un server locale (</a:t>
            </a:r>
            <a:r>
              <a:rPr lang="it-IT" dirty="0" err="1"/>
              <a:t>localhost</a:t>
            </a:r>
            <a:r>
              <a:rPr lang="it-IT" dirty="0"/>
              <a:t>) su Internet creando un "tunnel" protetto che consente di accedere a un'applicazione in fase di sviluppo dal web pubblico</a:t>
            </a:r>
          </a:p>
          <a:p>
            <a:pPr lvl="2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15795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CD253C-5E8F-4D22-8B8D-2CECDD29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ngrok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2521CD-F734-4FFC-B3E2-5D1CD4C6D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89508" cy="4351338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Registrazione su </a:t>
            </a:r>
            <a:r>
              <a:rPr lang="it-IT" dirty="0" err="1"/>
              <a:t>ngrok</a:t>
            </a:r>
            <a:endParaRPr lang="it-IT" dirty="0"/>
          </a:p>
          <a:p>
            <a:pPr lvl="1"/>
            <a:r>
              <a:rPr lang="it-IT" dirty="0">
                <a:hlinkClick r:id="rId2"/>
              </a:rPr>
              <a:t>https://dashboard.ngrok.com/signup</a:t>
            </a:r>
            <a:endParaRPr lang="it-IT" dirty="0"/>
          </a:p>
          <a:p>
            <a:pPr lvl="1"/>
            <a:r>
              <a:rPr lang="it-IT" dirty="0"/>
              <a:t>Crea un account gratuito (login rapido con Google o GitHub).</a:t>
            </a:r>
          </a:p>
          <a:p>
            <a:r>
              <a:rPr lang="it-IT" dirty="0"/>
              <a:t>Recupera dell’</a:t>
            </a:r>
            <a:r>
              <a:rPr lang="it-IT" dirty="0" err="1"/>
              <a:t>Authtoken</a:t>
            </a:r>
            <a:endParaRPr lang="it-IT" dirty="0"/>
          </a:p>
          <a:p>
            <a:pPr lvl="2"/>
            <a:r>
              <a:rPr lang="it-IT" dirty="0"/>
              <a:t>Da dashboard di </a:t>
            </a:r>
            <a:r>
              <a:rPr lang="it-IT" dirty="0" err="1"/>
              <a:t>ngrok</a:t>
            </a:r>
            <a:r>
              <a:rPr lang="it-IT" dirty="0"/>
              <a:t>, </a:t>
            </a:r>
          </a:p>
          <a:p>
            <a:pPr lvl="2"/>
            <a:r>
              <a:rPr lang="it-IT" dirty="0"/>
              <a:t>https://dashboard.ngrok.com/get-started/your-authtoken</a:t>
            </a:r>
          </a:p>
          <a:p>
            <a:pPr lvl="2"/>
            <a:r>
              <a:rPr lang="it-IT" dirty="0"/>
              <a:t>Copia il token</a:t>
            </a:r>
          </a:p>
          <a:p>
            <a:r>
              <a:rPr lang="it-IT" dirty="0"/>
              <a:t>Installazione di </a:t>
            </a:r>
            <a:r>
              <a:rPr lang="it-IT" dirty="0" err="1"/>
              <a:t>ngrok</a:t>
            </a:r>
            <a:r>
              <a:rPr lang="it-IT" dirty="0"/>
              <a:t>: </a:t>
            </a:r>
            <a:r>
              <a:rPr lang="it-IT" b="1" dirty="0">
                <a:solidFill>
                  <a:srgbClr val="FF0000"/>
                </a:solidFill>
              </a:rPr>
              <a:t>sudo snap </a:t>
            </a:r>
            <a:r>
              <a:rPr lang="it-IT" b="1" dirty="0" err="1">
                <a:solidFill>
                  <a:srgbClr val="FF0000"/>
                </a:solidFill>
              </a:rPr>
              <a:t>install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ngrok</a:t>
            </a:r>
            <a:endParaRPr lang="it-IT" b="1" dirty="0">
              <a:solidFill>
                <a:srgbClr val="FF0000"/>
              </a:solidFill>
            </a:endParaRPr>
          </a:p>
          <a:p>
            <a:r>
              <a:rPr lang="it-IT" dirty="0"/>
              <a:t>Configurare l’</a:t>
            </a:r>
            <a:r>
              <a:rPr lang="it-IT" dirty="0" err="1"/>
              <a:t>Authtoken</a:t>
            </a:r>
            <a:r>
              <a:rPr lang="it-IT" dirty="0"/>
              <a:t>: </a:t>
            </a:r>
            <a:r>
              <a:rPr lang="it-IT" b="1" dirty="0" err="1">
                <a:solidFill>
                  <a:srgbClr val="FF0000"/>
                </a:solidFill>
              </a:rPr>
              <a:t>ngrok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config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add-authtoken</a:t>
            </a:r>
            <a:r>
              <a:rPr lang="it-IT" b="1" dirty="0">
                <a:solidFill>
                  <a:srgbClr val="FF0000"/>
                </a:solidFill>
              </a:rPr>
              <a:t>  abcdefghilmnopqrstuvz7890</a:t>
            </a:r>
          </a:p>
          <a:p>
            <a:r>
              <a:rPr lang="it-IT" dirty="0"/>
              <a:t>Avviare il tunnel: </a:t>
            </a:r>
            <a:r>
              <a:rPr lang="it-IT" b="1" dirty="0" err="1">
                <a:solidFill>
                  <a:srgbClr val="FF0000"/>
                </a:solidFill>
              </a:rPr>
              <a:t>ngrok</a:t>
            </a:r>
            <a:r>
              <a:rPr lang="it-IT" b="1" dirty="0">
                <a:solidFill>
                  <a:srgbClr val="FF0000"/>
                </a:solidFill>
              </a:rPr>
              <a:t> http 5000</a:t>
            </a:r>
          </a:p>
          <a:p>
            <a:r>
              <a:rPr lang="it-IT" dirty="0"/>
              <a:t>Visualizzazione dell'URL pubblico https://... da copiare e incollare nella sezione Fulfillment di Dialogflow.</a:t>
            </a:r>
          </a:p>
          <a:p>
            <a:endParaRPr lang="it-IT" dirty="0"/>
          </a:p>
          <a:p>
            <a:pPr marL="914400" lvl="2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27851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F734E902-F3BE-4173-A9F5-1598C3C69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62" y="122395"/>
            <a:ext cx="11564277" cy="373291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5A031A3-E9CB-4DB3-A151-A4BDDEFF1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505" y="3997146"/>
            <a:ext cx="7519661" cy="267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37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B8E2CB67-260C-434A-98B4-3C4BAB3A7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Specifica del </a:t>
            </a:r>
            <a:r>
              <a:rPr lang="it-IT" dirty="0" err="1"/>
              <a:t>webhook</a:t>
            </a:r>
            <a:r>
              <a:rPr lang="it-IT" dirty="0"/>
              <a:t> in DF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856FC1D-443E-4F71-82DE-38DDC3162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90" y="2040742"/>
            <a:ext cx="9608770" cy="43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614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4535</TotalTime>
  <Words>1320</Words>
  <Application>Microsoft Office PowerPoint</Application>
  <PresentationFormat>Widescreen</PresentationFormat>
  <Paragraphs>121</Paragraphs>
  <Slides>15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di Office</vt:lpstr>
      <vt:lpstr>Dialog Flow</vt:lpstr>
      <vt:lpstr>Fulfillment</vt:lpstr>
      <vt:lpstr>Fulfillment</vt:lpstr>
      <vt:lpstr>Scenario </vt:lpstr>
      <vt:lpstr>Flusso di comunicazione con il Fulfillment </vt:lpstr>
      <vt:lpstr>Webhook 1/2</vt:lpstr>
      <vt:lpstr>Webhook 2/2</vt:lpstr>
      <vt:lpstr>Creazione Webhook 1/3</vt:lpstr>
      <vt:lpstr>Creazione Webhook 2/3</vt:lpstr>
      <vt:lpstr>Creazione Webhook 3/3</vt:lpstr>
      <vt:lpstr>Configurazione lato Dialog Flow</vt:lpstr>
      <vt:lpstr>Server su IP pubblico</vt:lpstr>
      <vt:lpstr>ngrok</vt:lpstr>
      <vt:lpstr>Presentazione standard di PowerPoint</vt:lpstr>
      <vt:lpstr>Specifica del webhook in DF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Dialog Flow</dc:title>
  <dc:creator>Academy</dc:creator>
  <cp:lastModifiedBy>Academy</cp:lastModifiedBy>
  <cp:revision>131</cp:revision>
  <dcterms:created xsi:type="dcterms:W3CDTF">2026-05-21T06:18:12Z</dcterms:created>
  <dcterms:modified xsi:type="dcterms:W3CDTF">2026-05-28T12:44:35Z</dcterms:modified>
</cp:coreProperties>
</file>