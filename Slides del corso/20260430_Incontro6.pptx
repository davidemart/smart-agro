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74" r:id="rId10"/>
    <p:sldId id="277" r:id="rId11"/>
    <p:sldId id="275" r:id="rId12"/>
    <p:sldId id="276" r:id="rId13"/>
    <p:sldId id="278" r:id="rId14"/>
    <p:sldId id="279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5708F-C991-4E7B-B2D3-F0FB5CDA0BE8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62770-2E94-4DC4-9E97-6AC253A0DA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72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62770-2E94-4DC4-9E97-6AC253A0DAA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8501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47B1E4-8A3D-4316-AE25-82043CFAD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446B6F9-9925-4C40-AED9-04CE73FDC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01E6BE-2B1E-4F2D-82A2-43CC1536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14DB60-DA40-4FFC-B3D8-A6050A3D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04A76C-B7ED-45D3-A796-6B4CEC1A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734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DEB3C4-AE90-4279-ADB7-163BEAA2C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FEC387-5E1E-481B-9CF0-13DFC1A58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D1A2EF-14C7-4D01-823D-2CDAFC760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EFA10C-A1F2-4BA3-849B-0890D412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2DAB67-2B12-4F73-938F-8BF13D68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93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87A98E-96A2-4E2A-ADCD-99737BF36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B753DC-D443-47AD-9DCF-D0574B30F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99F432-6420-4655-B765-AA4C5375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D3ADA2-6ECA-476F-A71A-1E2F2C40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33E4E5-65AE-48B2-B263-B8437599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64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E0F2A9-A75C-48EA-A805-305F6677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E17C42-A6AE-4C29-9B76-F6004E57A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FB0CB8-7D5B-48E7-B873-C73B0C534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2E2BC12-3885-4D5C-8CE8-BC6EF536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228ACA-D252-4BC1-BA42-A48E2900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B5C15F-112E-4E6E-AE85-7231CF3E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388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3887CD-C89B-40B5-82B7-E0AF7A59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355AD3-9789-450D-9FBE-DCA6635FC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07C861C-C65F-4F62-92F4-43E7ED187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77AAE6D-EE1E-4BF6-9C4A-CBB881FB9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771D172-E4EA-4F3F-9813-D8CAA284C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32C5B3-2B65-4905-9FA7-57078228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2EA8F4-430E-4637-AD27-1E79ECB8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C9F4D8F-F763-4238-AEDB-28E99B7C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2346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5C93E5-1F71-42EA-91C6-E0FE4454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BC3D0-4AD8-4858-AB82-1EC1B27AF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AD017-47ED-438A-9100-8EE217E7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4B6D3D6-CF03-411C-8D74-1C648274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88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9BE8D41-A1CB-458A-A25E-02EE6052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845212A-5709-462B-A69E-D3D21475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1007FA-7A54-45AC-9A0A-A64EFB6B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98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BC6480-2B43-4488-A035-5E7CD069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241833-13DA-4E54-9991-A022DA18D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568852-35F8-4D3C-9101-8609B9267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A69A32-6957-48F8-87DA-BD4C27E8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088C200-D696-4FB0-85A5-D1A12BD0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DC905F5-30EB-4703-AF64-6B5BDE8B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83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0684A2-0D06-4868-BEF1-1C8F5EE4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34C16FE-A694-45F2-9797-D9617C93E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F488E63-91D1-45C7-9F0F-57754DB4C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538086-3CF0-4744-8830-E62F67AB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0365CA4-8B06-47A0-B3EB-64B0EDC6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EEFA72A-42E0-4B80-BBE6-7A267A16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066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6A6EE1-E23E-4463-9A40-0C4ACEE5C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37B3953-033F-4715-BE45-7D4ADCB51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9DC6C6-5979-418C-989F-BF974CB7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09ED7A-F689-4D04-A43A-5832B751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243EBF-B8F5-4A3A-BBF2-748E740A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249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AB3E9E4-F3F1-4CED-8586-29A5192F4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9DE6F94-06E8-4786-979F-6795E45FA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ED197E-7A9F-459E-A2E2-D6744436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23111C-5F17-46FB-833D-3E8D8CD0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0136F4-F2A3-4B78-A829-34A53173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898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1E1CF9B-BBAE-4D02-99E8-FB9DB136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823397-98D7-4AE2-9399-41C3F013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AAA7F4-76DE-46C9-83E4-3C9D08207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2E746-DD93-40B8-B50B-810D5554210E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5C3652-227D-40BB-8EA1-46AE5B05B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91F7FE-FBF9-42DE-877E-6D5E16486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945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eachablemachine.withgoogle.com/models/e9JQB9_v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teachablemachine.withgoogle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0636A5-7FD0-4085-BE41-14A68EFE4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Teachable</a:t>
            </a:r>
            <a:r>
              <a:rPr lang="it-IT" dirty="0"/>
              <a:t> Machine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E562C3C-B7E4-4127-9A1C-73FF05CFB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Il classificatore di immagini di </a:t>
            </a:r>
            <a:r>
              <a:rPr lang="it-IT" b="1" dirty="0" err="1"/>
              <a:t>Teachable</a:t>
            </a:r>
            <a:r>
              <a:rPr lang="it-IT" b="1" dirty="0"/>
              <a:t> Machine</a:t>
            </a:r>
            <a:r>
              <a:rPr lang="it-IT" dirty="0"/>
              <a:t> è uno strumento basato sul web che permette di creare modelli di machine learning in modo visivo, senza scrivere una riga di codice. È pensato per scopi educativi, prototipazione rapida e per chiunque voglia approcciarsi all'IA in modo intuitivo.</a:t>
            </a:r>
          </a:p>
        </p:txBody>
      </p:sp>
    </p:spTree>
    <p:extLst>
      <p:ext uri="{BB962C8B-B14F-4D97-AF65-F5344CB8AC3E}">
        <p14:creationId xmlns:p14="http://schemas.microsoft.com/office/powerpoint/2010/main" val="386736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412D12-326E-41BF-A382-72E2D52C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Come funziona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6B68FF-1963-4099-9CCD-9F4DCC540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it-IT" dirty="0"/>
              <a:t>Sebbene l'interfaccia sia semplicissima, la tecnologia utilizzata è molto avanzata:</a:t>
            </a:r>
          </a:p>
          <a:p>
            <a:pPr algn="just"/>
            <a:r>
              <a:rPr lang="it-IT" b="1" dirty="0"/>
              <a:t>Transfer Learning (Apprendimento per Trasferimento):</a:t>
            </a:r>
            <a:r>
              <a:rPr lang="it-IT" dirty="0"/>
              <a:t> È il segreto della sua velocità. Invece di addestrare un'intelligenza artificiale da zero (cosa che richiederebbe migliaia di immagini e ore di calcolo), </a:t>
            </a:r>
            <a:r>
              <a:rPr lang="it-IT" dirty="0" err="1"/>
              <a:t>Teachable</a:t>
            </a:r>
            <a:r>
              <a:rPr lang="it-IT" dirty="0"/>
              <a:t> Machine utilizza un modello </a:t>
            </a:r>
            <a:r>
              <a:rPr lang="it-IT" dirty="0" err="1"/>
              <a:t>pre</a:t>
            </a:r>
            <a:r>
              <a:rPr lang="it-IT" dirty="0"/>
              <a:t>-addestrato da Google (solitamente </a:t>
            </a:r>
            <a:r>
              <a:rPr lang="it-IT" b="1" dirty="0" err="1"/>
              <a:t>MobileNet</a:t>
            </a:r>
            <a:r>
              <a:rPr lang="it-IT" dirty="0"/>
              <a:t>). Questo modello sa già riconoscere forme, bordi e colori; tu devi solo "istruirlo" sull'ultimo strato per distinguere le tue categorie specifiche.</a:t>
            </a:r>
          </a:p>
          <a:p>
            <a:pPr algn="just"/>
            <a:r>
              <a:rPr lang="it-IT" b="1" dirty="0"/>
              <a:t>TensorFlow.js:</a:t>
            </a:r>
            <a:r>
              <a:rPr lang="it-IT" dirty="0"/>
              <a:t> Tutto il processo di addestramento e di esecuzione avviene direttamente nel tuo </a:t>
            </a:r>
            <a:r>
              <a:rPr lang="it-IT" b="1" dirty="0"/>
              <a:t>browser</a:t>
            </a:r>
            <a:r>
              <a:rPr lang="it-IT" dirty="0"/>
              <a:t>. I dati non vengono inviati ai server di Google per l'addestramento, il che garantisce privacy e velocità.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515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8698DF-0F6A-45F6-8E74-FA3EF073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fasi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F7A6D6-670A-47F5-998D-1DC84490A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Il flusso di lavoro si divide in tre passaggi chiari:</a:t>
            </a:r>
          </a:p>
          <a:p>
            <a:r>
              <a:rPr lang="it-IT" b="1" dirty="0"/>
              <a:t>Raccolta (</a:t>
            </a:r>
            <a:r>
              <a:rPr lang="it-IT" b="1" dirty="0" err="1"/>
              <a:t>Gather</a:t>
            </a:r>
            <a:r>
              <a:rPr lang="it-IT" b="1" dirty="0"/>
              <a:t>):</a:t>
            </a:r>
            <a:r>
              <a:rPr lang="it-IT" dirty="0"/>
              <a:t> Crei delle "classi" (es. "Cane" vs "Gatto") e carichi le immagini tramite webcam o file locali. È fondamentale avere campioni variati (diverse angolazioni, luci e sfondi) per rendere il modello robusto.</a:t>
            </a:r>
          </a:p>
          <a:p>
            <a:r>
              <a:rPr lang="it-IT" b="1" dirty="0"/>
              <a:t>Addestramento (Train):</a:t>
            </a:r>
            <a:r>
              <a:rPr lang="it-IT" dirty="0"/>
              <a:t> Cliccando su "Train", il computer analizza i pattern. Nelle impostazioni avanzate puoi modificare parametri come:</a:t>
            </a:r>
          </a:p>
          <a:p>
            <a:pPr lvl="1"/>
            <a:r>
              <a:rPr lang="it-IT" b="1" dirty="0" err="1"/>
              <a:t>Epochs</a:t>
            </a:r>
            <a:r>
              <a:rPr lang="it-IT" b="1" dirty="0"/>
              <a:t> (Epoche):</a:t>
            </a:r>
            <a:r>
              <a:rPr lang="it-IT" dirty="0"/>
              <a:t> Quante volte il modello analizza l'intero set di dati.</a:t>
            </a:r>
          </a:p>
          <a:p>
            <a:pPr lvl="1"/>
            <a:r>
              <a:rPr lang="it-IT" b="1" dirty="0"/>
              <a:t>Batch Size:</a:t>
            </a:r>
            <a:r>
              <a:rPr lang="it-IT" dirty="0"/>
              <a:t> Quanti campioni vengono elaborati prima di aggiornare il modello.</a:t>
            </a:r>
          </a:p>
          <a:p>
            <a:pPr lvl="1"/>
            <a:r>
              <a:rPr lang="it-IT" b="1" dirty="0"/>
              <a:t>Learning Rate:</a:t>
            </a:r>
            <a:r>
              <a:rPr lang="it-IT" dirty="0"/>
              <a:t> Quanto velocemente il modello apprende.</a:t>
            </a:r>
          </a:p>
          <a:p>
            <a:r>
              <a:rPr lang="it-IT" b="1" dirty="0"/>
              <a:t>Anteprima ed Esportazione:</a:t>
            </a:r>
            <a:r>
              <a:rPr lang="it-IT" dirty="0"/>
              <a:t> Puoi testare subito il modello usando la webcam. Se sei soddisfatto, puoi esportarlo per usarlo in siti web, app o progetti con </a:t>
            </a:r>
            <a:r>
              <a:rPr lang="it-IT" b="1" dirty="0"/>
              <a:t>Arduino</a:t>
            </a:r>
            <a:r>
              <a:rPr lang="it-IT" dirty="0"/>
              <a:t> e </a:t>
            </a:r>
            <a:r>
              <a:rPr lang="it-IT" b="1" dirty="0" err="1"/>
              <a:t>Raspberry</a:t>
            </a:r>
            <a:r>
              <a:rPr lang="it-IT" b="1" dirty="0"/>
              <a:t> </a:t>
            </a:r>
            <a:r>
              <a:rPr lang="it-IT" b="1" dirty="0" err="1"/>
              <a:t>Pi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7867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1C7B7A-A025-48FE-908A-0D6D5286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Formati di esportazione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212AAF-456A-4F4F-A55E-57EFC466D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Una volta creato il tuo classificatore, puoi scaricarlo in diversi formati:</a:t>
            </a:r>
          </a:p>
          <a:p>
            <a:r>
              <a:rPr lang="it-IT" b="1" dirty="0"/>
              <a:t>TensorFlow.js:</a:t>
            </a:r>
            <a:r>
              <a:rPr lang="it-IT" dirty="0"/>
              <a:t> Per applicazioni web (JavaScript).</a:t>
            </a:r>
          </a:p>
          <a:p>
            <a:r>
              <a:rPr lang="it-IT" b="1" dirty="0" err="1"/>
              <a:t>TensorFlow</a:t>
            </a:r>
            <a:r>
              <a:rPr lang="it-IT" b="1" dirty="0"/>
              <a:t> / </a:t>
            </a:r>
            <a:r>
              <a:rPr lang="it-IT" b="1" dirty="0" err="1"/>
              <a:t>Keras</a:t>
            </a:r>
            <a:r>
              <a:rPr lang="it-IT" b="1" dirty="0"/>
              <a:t>:</a:t>
            </a:r>
            <a:r>
              <a:rPr lang="it-IT" dirty="0"/>
              <a:t> Per progetti </a:t>
            </a:r>
            <a:r>
              <a:rPr lang="it-IT" dirty="0" err="1"/>
              <a:t>Python</a:t>
            </a:r>
            <a:r>
              <a:rPr lang="it-IT" dirty="0"/>
              <a:t>.</a:t>
            </a:r>
          </a:p>
          <a:p>
            <a:r>
              <a:rPr lang="it-IT" b="1" dirty="0" err="1"/>
              <a:t>TensorFlow</a:t>
            </a:r>
            <a:r>
              <a:rPr lang="it-IT" b="1" dirty="0"/>
              <a:t> Lite:</a:t>
            </a:r>
            <a:r>
              <a:rPr lang="it-IT" dirty="0"/>
              <a:t> Ottimizzato per dispositivi mobili (Android/iOS) o microcontrollori (Edge AI).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8348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2AFD61-A33A-4115-AEA5-072B2513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Limiti da considerare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699C73-B8DF-4893-9A13-9370D0344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Dataset ridotti:</a:t>
            </a:r>
            <a:r>
              <a:rPr lang="it-IT" dirty="0"/>
              <a:t> Funziona bene con poche decine di immagini, ma per applicazioni professionali o critiche (es. diagnostica medica) servono modelli molto più complessi e controllati.</a:t>
            </a:r>
          </a:p>
          <a:p>
            <a:r>
              <a:rPr lang="it-IT" dirty="0" err="1"/>
              <a:t>Bias</a:t>
            </a:r>
            <a:r>
              <a:rPr lang="it-IT" dirty="0"/>
              <a:t> (Pregiudizio): Se addestri il modello solo con foto di mele rosse, non riconoscerà una mela verde. </a:t>
            </a:r>
            <a:r>
              <a:rPr lang="it-IT" dirty="0" err="1"/>
              <a:t>Teachable</a:t>
            </a:r>
            <a:r>
              <a:rPr lang="it-IT" dirty="0"/>
              <a:t> Machine è ottimo per visualizzare come i nostri errori nella raccolta dati influenzano l'IA.</a:t>
            </a:r>
          </a:p>
        </p:txBody>
      </p:sp>
    </p:spTree>
    <p:extLst>
      <p:ext uri="{BB962C8B-B14F-4D97-AF65-F5344CB8AC3E}">
        <p14:creationId xmlns:p14="http://schemas.microsoft.com/office/powerpoint/2010/main" val="54986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280590-9BC0-4E5B-9D38-7F7223666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Consiglio pratico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46D2D4-48D5-41AA-AE12-CB7E69807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 vuoi ottenere risultati migliori, prova a muovere l'oggetto davanti alla webcam durante la fase di registrazione, cambiando distanza e inclinazione. Questo aiuta il modello a capire che l'oggetto è lo stesso anche se appare diverso nel frame.</a:t>
            </a:r>
          </a:p>
        </p:txBody>
      </p:sp>
    </p:spTree>
    <p:extLst>
      <p:ext uri="{BB962C8B-B14F-4D97-AF65-F5344CB8AC3E}">
        <p14:creationId xmlns:p14="http://schemas.microsoft.com/office/powerpoint/2010/main" val="325822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1CEBAF-B859-48C9-848C-BB78C58B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TensorFlow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1E07F7-5B6D-41C9-B4E2-A01CF4579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Sviluppato dai ricercatori di Google Brain, </a:t>
            </a:r>
            <a:r>
              <a:rPr lang="it-IT" b="1" dirty="0" err="1"/>
              <a:t>TensorFlow</a:t>
            </a:r>
            <a:r>
              <a:rPr lang="it-IT" dirty="0"/>
              <a:t> è una libreria di software open source per il calcolo numerico e il machine learning su larga scala.</a:t>
            </a:r>
          </a:p>
          <a:p>
            <a:r>
              <a:rPr lang="it-IT" b="1" dirty="0"/>
              <a:t>Il nome:</a:t>
            </a:r>
            <a:r>
              <a:rPr lang="it-IT" dirty="0"/>
              <a:t> Deriva dai </a:t>
            </a:r>
            <a:r>
              <a:rPr lang="it-IT" b="1" dirty="0" err="1"/>
              <a:t>Tensor</a:t>
            </a:r>
            <a:r>
              <a:rPr lang="it-IT" dirty="0"/>
              <a:t> (Tensori), che sono array multidimensionali (matrici di dati), e dal loro </a:t>
            </a:r>
            <a:r>
              <a:rPr lang="it-IT" b="1" dirty="0"/>
              <a:t>Flow</a:t>
            </a:r>
            <a:r>
              <a:rPr lang="it-IT" dirty="0"/>
              <a:t> (Flusso) attraverso un grafico di operazioni matematiche.</a:t>
            </a:r>
          </a:p>
          <a:p>
            <a:r>
              <a:rPr lang="it-IT" b="1" dirty="0"/>
              <a:t>Cosa fa:</a:t>
            </a:r>
            <a:r>
              <a:rPr lang="it-IT" dirty="0"/>
              <a:t> Gestisce le operazioni matematiche estremamente complesse necessarie per addestrare le reti neurali. È progettato per girare ovunque: dalla CPU del tuo portatile alle potenti GPU dei server, fino ai chip specializzati (TPU).</a:t>
            </a:r>
          </a:p>
          <a:p>
            <a:r>
              <a:rPr lang="it-IT" b="1" dirty="0"/>
              <a:t>Target:</a:t>
            </a:r>
            <a:r>
              <a:rPr lang="it-IT" dirty="0"/>
              <a:t> È uno strumento molto potente ma "di basso livello". Scrivere codice direttamente in </a:t>
            </a:r>
            <a:r>
              <a:rPr lang="it-IT" dirty="0" err="1"/>
              <a:t>TensorFlow</a:t>
            </a:r>
            <a:r>
              <a:rPr lang="it-IT" dirty="0"/>
              <a:t> può essere complesso perché richiede di gestire molti dettagli tecnici.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521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EB72FE-FE99-40E4-96CF-1C6FE36B3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Keras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BBE873-E3C8-416A-A810-9410E72E7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b="1" dirty="0" err="1"/>
              <a:t>Keras</a:t>
            </a:r>
            <a:r>
              <a:rPr lang="it-IT" dirty="0"/>
              <a:t> è una libreria (API) per reti neurali di alto livello, scritta in </a:t>
            </a:r>
            <a:r>
              <a:rPr lang="it-IT" dirty="0" err="1"/>
              <a:t>Python</a:t>
            </a:r>
            <a:r>
              <a:rPr lang="it-IT" dirty="0"/>
              <a:t>. Originariamente era un progetto indipendente, ma ora è integrata ufficialmente dentro </a:t>
            </a:r>
            <a:r>
              <a:rPr lang="it-IT" dirty="0" err="1"/>
              <a:t>TensorFlow</a:t>
            </a:r>
            <a:r>
              <a:rPr lang="it-IT" dirty="0"/>
              <a:t>.</a:t>
            </a:r>
          </a:p>
          <a:p>
            <a:r>
              <a:rPr lang="it-IT" b="1" dirty="0"/>
              <a:t>Filosofia:</a:t>
            </a:r>
            <a:r>
              <a:rPr lang="it-IT" dirty="0"/>
              <a:t> È progettata per essere facile da usare, modulare ed estensibile. Il suo obiettivo è permettere agli sviluppatori di passare dall'idea al risultato nel minor tempo possibile.</a:t>
            </a:r>
          </a:p>
          <a:p>
            <a:r>
              <a:rPr lang="it-IT" b="1" dirty="0"/>
              <a:t>Semplicità:</a:t>
            </a:r>
            <a:r>
              <a:rPr lang="it-IT" dirty="0"/>
              <a:t> In </a:t>
            </a:r>
            <a:r>
              <a:rPr lang="it-IT" dirty="0" err="1"/>
              <a:t>Keras</a:t>
            </a:r>
            <a:r>
              <a:rPr lang="it-IT" dirty="0"/>
              <a:t>, una rete neurale non è vista come una serie di equazioni matematiche, ma come una </a:t>
            </a:r>
            <a:r>
              <a:rPr lang="it-IT" b="1" dirty="0"/>
              <a:t>sequenza di strati (</a:t>
            </a:r>
            <a:r>
              <a:rPr lang="it-IT" b="1" dirty="0" err="1"/>
              <a:t>Layers</a:t>
            </a:r>
            <a:r>
              <a:rPr lang="it-IT" b="1" dirty="0"/>
              <a:t>)</a:t>
            </a:r>
            <a:r>
              <a:rPr lang="it-IT" dirty="0"/>
              <a:t> che puoi impilare come se fossero mattoncini LEGO.</a:t>
            </a:r>
          </a:p>
          <a:p>
            <a:r>
              <a:rPr lang="it-IT" b="1" dirty="0"/>
              <a:t>Target:</a:t>
            </a:r>
            <a:r>
              <a:rPr lang="it-IT" dirty="0"/>
              <a:t> Ideale per chi inizia, per i ricercatori che devono fare prototipazione rapida e per la maggior parte delle applicazioni commerciali.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02740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7494B1-4424-4F91-A6B2-2C3B025A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2FD9D2-524F-4ACA-AED7-5BC43213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Oggi non c'è più bisogno di scegliere tra l'uno o l'altro. In termini tecnici, diciamo che </a:t>
            </a:r>
            <a:r>
              <a:rPr lang="it-IT" b="1" dirty="0" err="1"/>
              <a:t>Keras</a:t>
            </a:r>
            <a:r>
              <a:rPr lang="it-IT" b="1" dirty="0"/>
              <a:t> funge da interfaccia (</a:t>
            </a:r>
            <a:r>
              <a:rPr lang="it-IT" b="1" dirty="0" err="1"/>
              <a:t>frontend</a:t>
            </a:r>
            <a:r>
              <a:rPr lang="it-IT" b="1" dirty="0"/>
              <a:t>)</a:t>
            </a:r>
            <a:r>
              <a:rPr lang="it-IT" dirty="0"/>
              <a:t> per </a:t>
            </a:r>
            <a:r>
              <a:rPr lang="it-IT" b="1" dirty="0" err="1"/>
              <a:t>TensorFlow</a:t>
            </a:r>
            <a:r>
              <a:rPr lang="it-IT" b="1" dirty="0"/>
              <a:t> (backend)</a:t>
            </a:r>
            <a:r>
              <a:rPr lang="it-IT" dirty="0"/>
              <a:t>.</a:t>
            </a:r>
          </a:p>
          <a:p>
            <a:r>
              <a:rPr lang="it-IT" dirty="0"/>
              <a:t>Quando usi </a:t>
            </a:r>
            <a:r>
              <a:rPr lang="it-IT" dirty="0" err="1"/>
              <a:t>Teachable</a:t>
            </a:r>
            <a:r>
              <a:rPr lang="it-IT" dirty="0"/>
              <a:t> Machine di Google, succede proprio questo:</a:t>
            </a:r>
          </a:p>
          <a:p>
            <a:r>
              <a:rPr lang="it-IT" b="1" dirty="0" err="1"/>
              <a:t>Keras</a:t>
            </a:r>
            <a:r>
              <a:rPr lang="it-IT" dirty="0"/>
              <a:t> definisce la struttura della rete (quanti strati, quante classi).</a:t>
            </a:r>
          </a:p>
          <a:p>
            <a:r>
              <a:rPr lang="it-IT" b="1" dirty="0" err="1"/>
              <a:t>TensorFlow</a:t>
            </a:r>
            <a:r>
              <a:rPr lang="it-IT" dirty="0"/>
              <a:t> esegue i calcoli pesanti per addestrare quella rete sulle tue immagini.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6410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C4C56D-5E44-4368-83BB-B73C3FC8F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Tensorflow.js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508F60-87F5-4887-8571-B005702DC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Cliccando su Carica (link condivisibile)</a:t>
            </a:r>
          </a:p>
          <a:p>
            <a:pPr lvl="1"/>
            <a:r>
              <a:rPr lang="it-IT" dirty="0"/>
              <a:t>Si attiva il pulsante Carica che consente di ospitare il modello ad un link sul cloud Google tipo: </a:t>
            </a:r>
            <a:r>
              <a:rPr lang="it-IT" dirty="0">
                <a:hlinkClick r:id="rId2"/>
              </a:rPr>
              <a:t>https://teachablemachine.withgoogle.com/models/e9JQB9_vm/</a:t>
            </a:r>
            <a:endParaRPr lang="it-IT" dirty="0"/>
          </a:p>
          <a:p>
            <a:pPr lvl="1"/>
            <a:endParaRPr lang="it-IT" dirty="0"/>
          </a:p>
          <a:p>
            <a:r>
              <a:rPr lang="it-IT" dirty="0"/>
              <a:t>Cliccando su Scarica si esporta il modello costituito da tre file</a:t>
            </a:r>
          </a:p>
          <a:p>
            <a:pPr lvl="1"/>
            <a:r>
              <a:rPr lang="it-IT" dirty="0" err="1"/>
              <a:t>weights.bin</a:t>
            </a:r>
            <a:endParaRPr lang="it-IT" dirty="0"/>
          </a:p>
          <a:p>
            <a:pPr lvl="1"/>
            <a:r>
              <a:rPr lang="it-IT" dirty="0" err="1"/>
              <a:t>metadata.json</a:t>
            </a:r>
            <a:endParaRPr lang="it-IT" dirty="0"/>
          </a:p>
          <a:p>
            <a:pPr lvl="1"/>
            <a:r>
              <a:rPr lang="it-IT" dirty="0" err="1"/>
              <a:t>model.json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50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C068AC-2349-4A02-8AA7-9843261A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Primo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157E2A-3B36-4BC0-A896-8533EECAE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Verifica presenza o assenza</a:t>
            </a:r>
          </a:p>
          <a:p>
            <a:r>
              <a:rPr lang="it-IT" dirty="0"/>
              <a:t>Passi da seguire</a:t>
            </a:r>
          </a:p>
          <a:p>
            <a:r>
              <a:rPr lang="it-IT" dirty="0"/>
              <a:t>Collegarsi al sito: </a:t>
            </a:r>
            <a:r>
              <a:rPr lang="it-IT" dirty="0">
                <a:hlinkClick r:id="rId2"/>
              </a:rPr>
              <a:t>https://teachablemachine.withgoogle.com/</a:t>
            </a:r>
            <a:endParaRPr lang="it-IT" dirty="0"/>
          </a:p>
          <a:p>
            <a:pPr lvl="1"/>
            <a:r>
              <a:rPr lang="it-IT" dirty="0"/>
              <a:t>Inizia</a:t>
            </a:r>
            <a:r>
              <a:rPr lang="it-IT" dirty="0">
                <a:sym typeface="Wingdings" panose="05000000000000000000" pitchFamily="2" charset="2"/>
              </a:rPr>
              <a:t> Progetto di immagini  Modello standard</a:t>
            </a:r>
          </a:p>
          <a:p>
            <a:r>
              <a:rPr lang="it-IT" dirty="0">
                <a:sym typeface="Wingdings" panose="05000000000000000000" pitchFamily="2" charset="2"/>
              </a:rPr>
              <a:t>Compito: verificare la presenza/assenza di una persona davanti alla videocamera</a:t>
            </a:r>
          </a:p>
          <a:p>
            <a:r>
              <a:rPr lang="it-IT" dirty="0">
                <a:sym typeface="Wingdings" panose="05000000000000000000" pitchFamily="2" charset="2"/>
              </a:rPr>
              <a:t>Denominare e popolare una classe Presenza raccogliendo campioni dalla webcam quando la persona è di fronte. Cliccando si ottengono diverse immagini</a:t>
            </a:r>
          </a:p>
          <a:p>
            <a:r>
              <a:rPr lang="it-IT" dirty="0">
                <a:sym typeface="Wingdings" panose="05000000000000000000" pitchFamily="2" charset="2"/>
              </a:rPr>
              <a:t>Denominare e popolare una classe Assenza raccogliendo campioni dalla webcam quando la persona è di fronte. Cliccando si ottengono diverse immagini</a:t>
            </a:r>
          </a:p>
          <a:p>
            <a:endParaRPr lang="it-IT" dirty="0">
              <a:sym typeface="Wingdings" panose="05000000000000000000" pitchFamily="2" charset="2"/>
            </a:endParaRPr>
          </a:p>
          <a:p>
            <a:endParaRPr lang="it-IT" dirty="0">
              <a:sym typeface="Wingdings" panose="05000000000000000000" pitchFamily="2" charset="2"/>
            </a:endParaRPr>
          </a:p>
          <a:p>
            <a:endParaRPr lang="it-IT" dirty="0">
              <a:sym typeface="Wingdings" panose="05000000000000000000" pitchFamily="2" charset="2"/>
            </a:endParaRPr>
          </a:p>
          <a:p>
            <a:endParaRPr lang="it-IT" dirty="0">
              <a:sym typeface="Wingdings" panose="05000000000000000000" pitchFamily="2" charset="2"/>
            </a:endParaRP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48256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174F25-4434-4754-9244-602FD7A3A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Primo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BF8D94-A164-4989-971A-A4552D0D0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Dopo aver creato le due classi è possibile addestrare il modello</a:t>
            </a:r>
          </a:p>
          <a:p>
            <a:r>
              <a:rPr lang="it-IT" dirty="0"/>
              <a:t>Rimanendo sulla stessa pagina avremo l’anteprima del nostro modello addestrato</a:t>
            </a:r>
          </a:p>
          <a:p>
            <a:r>
              <a:rPr lang="it-IT" dirty="0"/>
              <a:t>Un progetto può essere scaricato in locale come file con estensione .</a:t>
            </a:r>
            <a:r>
              <a:rPr lang="it-IT" dirty="0" err="1"/>
              <a:t>tm</a:t>
            </a:r>
            <a:r>
              <a:rPr lang="it-IT" dirty="0"/>
              <a:t> tramite la voce di menù «Scarica il progetto come file» e poi ricaricato tramite la voce «Apri progetto da file»</a:t>
            </a:r>
          </a:p>
          <a:p>
            <a:r>
              <a:rPr lang="it-IT" dirty="0"/>
              <a:t>In maniera analoga si può salvare ed aprire da Google Drive</a:t>
            </a:r>
          </a:p>
          <a:p>
            <a:endParaRPr lang="it-IT" dirty="0"/>
          </a:p>
          <a:p>
            <a:r>
              <a:rPr lang="it-IT" dirty="0"/>
              <a:t>Il modello può essere anche esportato cliccando su esporta modello</a:t>
            </a:r>
          </a:p>
          <a:p>
            <a:r>
              <a:rPr lang="it-IT" dirty="0"/>
              <a:t>Ci sono diverse opzioni</a:t>
            </a:r>
          </a:p>
          <a:p>
            <a:r>
              <a:rPr lang="it-IT" dirty="0"/>
              <a:t>Tensorflow.js: per l’utilizzo via web/browser</a:t>
            </a:r>
          </a:p>
          <a:p>
            <a:r>
              <a:rPr lang="it-IT" dirty="0" err="1"/>
              <a:t>Tensorflow</a:t>
            </a:r>
            <a:r>
              <a:rPr lang="it-IT" dirty="0"/>
              <a:t>: per l’utilizzo con linguaggi come </a:t>
            </a:r>
            <a:r>
              <a:rPr lang="it-IT" dirty="0" err="1"/>
              <a:t>python</a:t>
            </a:r>
            <a:endParaRPr lang="it-IT" dirty="0"/>
          </a:p>
          <a:p>
            <a:r>
              <a:rPr lang="it-IT" dirty="0" err="1"/>
              <a:t>Tensorflow</a:t>
            </a:r>
            <a:r>
              <a:rPr lang="it-IT" dirty="0"/>
              <a:t> Lite: per dispositivi mobili o TPU Edge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1448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C4C56D-5E44-4368-83BB-B73C3FC8F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Tensorflow.js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508F60-87F5-4887-8571-B005702DC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E’ possibile copiare un frammento di codice </a:t>
            </a:r>
            <a:r>
              <a:rPr lang="it-IT" dirty="0" err="1"/>
              <a:t>js</a:t>
            </a:r>
            <a:r>
              <a:rPr lang="it-IT" dirty="0"/>
              <a:t> per poter usare il modello su un proprio sito web</a:t>
            </a:r>
          </a:p>
          <a:p>
            <a:pPr lvl="1"/>
            <a:r>
              <a:rPr lang="it-IT" dirty="0"/>
              <a:t>Creare un sito web locale esempio tramite comando </a:t>
            </a:r>
            <a:r>
              <a:rPr lang="it-IT" dirty="0" err="1"/>
              <a:t>python</a:t>
            </a:r>
            <a:endParaRPr lang="it-IT" dirty="0"/>
          </a:p>
          <a:p>
            <a:pPr lvl="1"/>
            <a:r>
              <a:rPr lang="it-IT" dirty="0"/>
              <a:t>Inserire il codice </a:t>
            </a:r>
            <a:r>
              <a:rPr lang="it-IT" dirty="0" err="1"/>
              <a:t>javascript</a:t>
            </a:r>
            <a:r>
              <a:rPr lang="it-IT" dirty="0"/>
              <a:t> in una pagina html</a:t>
            </a:r>
          </a:p>
          <a:p>
            <a:pPr lvl="1"/>
            <a:r>
              <a:rPr lang="it-IT" dirty="0"/>
              <a:t>Accedere alla pagina html pubblicata sul sito tramite un browser</a:t>
            </a:r>
          </a:p>
        </p:txBody>
      </p:sp>
    </p:spTree>
    <p:extLst>
      <p:ext uri="{BB962C8B-B14F-4D97-AF65-F5344CB8AC3E}">
        <p14:creationId xmlns:p14="http://schemas.microsoft.com/office/powerpoint/2010/main" val="583553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174F25-4434-4754-9244-602FD7A3A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Primo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BF8D94-A164-4989-971A-A4552D0D0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Creare un sito web locale con il modello addestrato in precedenza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115856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1144</Words>
  <Application>Microsoft Office PowerPoint</Application>
  <PresentationFormat>Widescreen</PresentationFormat>
  <Paragraphs>77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di Office</vt:lpstr>
      <vt:lpstr>Teachable Machine</vt:lpstr>
      <vt:lpstr>Come funziona</vt:lpstr>
      <vt:lpstr>Le fasi del progetto</vt:lpstr>
      <vt:lpstr>Formati di esportazione</vt:lpstr>
      <vt:lpstr>Limiti da considerare</vt:lpstr>
      <vt:lpstr>Consiglio pratico</vt:lpstr>
      <vt:lpstr>TensorFlow</vt:lpstr>
      <vt:lpstr>Keras</vt:lpstr>
      <vt:lpstr>Relazione</vt:lpstr>
      <vt:lpstr>Tensorflow.js </vt:lpstr>
      <vt:lpstr>Primo progetto</vt:lpstr>
      <vt:lpstr>Primo progetto</vt:lpstr>
      <vt:lpstr>Tensorflow.js </vt:lpstr>
      <vt:lpstr>Primo progetto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Teachable Machine</dc:title>
  <dc:creator>Carlo TROIANO</dc:creator>
  <cp:lastModifiedBy>Academy</cp:lastModifiedBy>
  <cp:revision>33</cp:revision>
  <dcterms:created xsi:type="dcterms:W3CDTF">2026-04-23T09:11:08Z</dcterms:created>
  <dcterms:modified xsi:type="dcterms:W3CDTF">2026-04-30T15:27:21Z</dcterms:modified>
</cp:coreProperties>
</file>