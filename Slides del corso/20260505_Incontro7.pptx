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2" r:id="rId3"/>
    <p:sldId id="295" r:id="rId4"/>
    <p:sldId id="299" r:id="rId5"/>
    <p:sldId id="279" r:id="rId6"/>
    <p:sldId id="280" r:id="rId7"/>
    <p:sldId id="296" r:id="rId8"/>
    <p:sldId id="283" r:id="rId9"/>
    <p:sldId id="284" r:id="rId10"/>
    <p:sldId id="297" r:id="rId11"/>
    <p:sldId id="286" r:id="rId12"/>
    <p:sldId id="290" r:id="rId13"/>
    <p:sldId id="291" r:id="rId14"/>
    <p:sldId id="292" r:id="rId15"/>
    <p:sldId id="293" r:id="rId16"/>
    <p:sldId id="298" r:id="rId17"/>
    <p:sldId id="287" r:id="rId18"/>
    <p:sldId id="288" r:id="rId19"/>
    <p:sldId id="300" r:id="rId20"/>
    <p:sldId id="301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5708F-C991-4E7B-B2D3-F0FB5CDA0BE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62770-2E94-4DC4-9E97-6AC253A0DA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72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47B1E4-8A3D-4316-AE25-82043CFAD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446B6F9-9925-4C40-AED9-04CE73FDC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01E6BE-2B1E-4F2D-82A2-43CC1536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14DB60-DA40-4FFC-B3D8-A6050A3D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04A76C-B7ED-45D3-A796-6B4CEC1A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734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DEB3C4-AE90-4279-ADB7-163BEAA2C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FEC387-5E1E-481B-9CF0-13DFC1A58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D1A2EF-14C7-4D01-823D-2CDAFC760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EFA10C-A1F2-4BA3-849B-0890D412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2DAB67-2B12-4F73-938F-8BF13D68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93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87A98E-96A2-4E2A-ADCD-99737BF3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B753DC-D443-47AD-9DCF-D0574B30F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99F432-6420-4655-B765-AA4C5375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D3ADA2-6ECA-476F-A71A-1E2F2C40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33E4E5-65AE-48B2-B263-B8437599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64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E0F2A9-A75C-48EA-A805-305F6677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E17C42-A6AE-4C29-9B76-F6004E57A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FB0CB8-7D5B-48E7-B873-C73B0C534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E2BC12-3885-4D5C-8CE8-BC6EF536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228ACA-D252-4BC1-BA42-A48E2900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B5C15F-112E-4E6E-AE85-7231CF3E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88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3887CD-C89B-40B5-82B7-E0AF7A59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355AD3-9789-450D-9FBE-DCA6635FC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07C861C-C65F-4F62-92F4-43E7ED187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77AAE6D-EE1E-4BF6-9C4A-CBB881FB9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71D172-E4EA-4F3F-9813-D8CAA284C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32C5B3-2B65-4905-9FA7-57078228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2EA8F4-430E-4637-AD27-1E79ECB8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C9F4D8F-F763-4238-AEDB-28E99B7C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34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5C93E5-1F71-42EA-91C6-E0FE4454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BC3D0-4AD8-4858-AB82-1EC1B27A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AD017-47ED-438A-9100-8EE217E7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B6D3D6-CF03-411C-8D74-1C648274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88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9BE8D41-A1CB-458A-A25E-02EE6052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845212A-5709-462B-A69E-D3D21475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1007FA-7A54-45AC-9A0A-A64EFB6B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8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BC6480-2B43-4488-A035-5E7CD069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241833-13DA-4E54-9991-A022DA18D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568852-35F8-4D3C-9101-8609B9267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A69A32-6957-48F8-87DA-BD4C27E8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088C200-D696-4FB0-85A5-D1A12BD0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DC905F5-30EB-4703-AF64-6B5BDE8B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83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0684A2-0D06-4868-BEF1-1C8F5EE4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34C16FE-A694-45F2-9797-D9617C93E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F488E63-91D1-45C7-9F0F-57754DB4C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538086-3CF0-4744-8830-E62F67AB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0365CA4-8B06-47A0-B3EB-64B0EDC6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EEFA72A-42E0-4B80-BBE6-7A267A16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066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6A6EE1-E23E-4463-9A40-0C4ACEE5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7B3953-033F-4715-BE45-7D4ADCB51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9DC6C6-5979-418C-989F-BF974CB7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09ED7A-F689-4D04-A43A-5832B751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243EBF-B8F5-4A3A-BBF2-748E740A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249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AB3E9E4-F3F1-4CED-8586-29A5192F4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9DE6F94-06E8-4786-979F-6795E45FA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ED197E-7A9F-459E-A2E2-D6744436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23111C-5F17-46FB-833D-3E8D8CD0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0136F4-F2A3-4B78-A829-34A53173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898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1E1CF9B-BBAE-4D02-99E8-FB9DB136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823397-98D7-4AE2-9399-41C3F013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AAA7F4-76DE-46C9-83E4-3C9D08207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2E746-DD93-40B8-B50B-810D5554210E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5C3652-227D-40BB-8EA1-46AE5B05B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91F7FE-FBF9-42DE-877E-6D5E16486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9A74C-F6CC-4BFA-91C0-046F6ABEB2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945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0636A5-7FD0-4085-BE41-14A68EFE4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Teachable</a:t>
            </a:r>
            <a:r>
              <a:rPr lang="it-IT" dirty="0"/>
              <a:t> Machine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E562C3C-B7E4-4127-9A1C-73FF05CFB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Il classificatore di immagini di </a:t>
            </a:r>
            <a:r>
              <a:rPr lang="it-IT" b="1" dirty="0" err="1"/>
              <a:t>Teachable</a:t>
            </a:r>
            <a:r>
              <a:rPr lang="it-IT" b="1" dirty="0"/>
              <a:t> Machine</a:t>
            </a:r>
            <a:r>
              <a:rPr lang="it-IT" dirty="0"/>
              <a:t> è uno strumento basato sul web che permette di creare modelli di machine learning in modo visivo, senza scrivere una riga di codice. È pensato per scopi educativi, prototipazione rapida e per chiunque voglia approcciarsi all'IA in modo intuitivo.</a:t>
            </a:r>
          </a:p>
        </p:txBody>
      </p:sp>
    </p:spTree>
    <p:extLst>
      <p:ext uri="{BB962C8B-B14F-4D97-AF65-F5344CB8AC3E}">
        <p14:creationId xmlns:p14="http://schemas.microsoft.com/office/powerpoint/2010/main" val="386736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E1C9D7-4217-4235-B6EF-8339CE19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Classificazione Audio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84E490-BC91-4288-9B46-2DEDDB6F6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it-IT" dirty="0"/>
          </a:p>
          <a:p>
            <a:r>
              <a:rPr lang="it-IT" dirty="0" err="1"/>
              <a:t>Teachable</a:t>
            </a:r>
            <a:r>
              <a:rPr lang="it-IT" dirty="0"/>
              <a:t> Machine al fine di classificare il suono trasforma i frammenti audio in spettrogrammi ossia in una rappresentazione grafica tridimensionale dell'intensità del segnale audio nel tempo e nella frequenza </a:t>
            </a:r>
          </a:p>
          <a:p>
            <a:r>
              <a:rPr lang="it-IT" dirty="0"/>
              <a:t>L’acquisizione dei campioni deve essere effettuata direttamente dall’interfaccia web</a:t>
            </a:r>
          </a:p>
          <a:p>
            <a:r>
              <a:rPr lang="it-IT" dirty="0"/>
              <a:t>Non è possibile esportare direttamente da </a:t>
            </a:r>
            <a:r>
              <a:rPr lang="it-IT" dirty="0" err="1"/>
              <a:t>Teachable</a:t>
            </a:r>
            <a:r>
              <a:rPr lang="it-IT" dirty="0"/>
              <a:t> Machine verso </a:t>
            </a:r>
            <a:r>
              <a:rPr lang="it-IT" dirty="0" err="1"/>
              <a:t>TensorFlow</a:t>
            </a:r>
            <a:r>
              <a:rPr lang="it-IT" dirty="0"/>
              <a:t> che è poi utilizzato da Python</a:t>
            </a:r>
          </a:p>
          <a:p>
            <a:r>
              <a:rPr lang="it-IT" dirty="0"/>
              <a:t>Tale trasformazione in T.M. è effettuata da una libreria specifica chiamata </a:t>
            </a:r>
            <a:r>
              <a:rPr lang="it-IT" b="1" dirty="0"/>
              <a:t>Web Audio API </a:t>
            </a:r>
            <a:r>
              <a:rPr lang="it-IT" dirty="0"/>
              <a:t>presente nel browser.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125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E1C9D7-4217-4235-B6EF-8339CE19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Classificazione Audio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84E490-BC91-4288-9B46-2DEDDB6F6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Esportando il modello in </a:t>
            </a:r>
            <a:r>
              <a:rPr lang="it-IT" dirty="0" err="1"/>
              <a:t>TensorFlow</a:t>
            </a:r>
            <a:r>
              <a:rPr lang="it-IT" dirty="0"/>
              <a:t> "puro" (Python), si dovrebbe  ricostruire esattamente lo stesso identico sistema di </a:t>
            </a:r>
            <a:r>
              <a:rPr lang="it-IT" dirty="0" err="1"/>
              <a:t>pre</a:t>
            </a:r>
            <a:r>
              <a:rPr lang="it-IT" dirty="0"/>
              <a:t>-elaborazione audio in Python per ottenere gli stessi risultati. </a:t>
            </a:r>
          </a:p>
          <a:p>
            <a:r>
              <a:rPr lang="it-IT" dirty="0"/>
              <a:t>Se il modo in cui Python "disegna" lo spettrogramma differisce anche di poco da come lo fa il browser, il modello non funzionerà correttamente.</a:t>
            </a:r>
          </a:p>
          <a:p>
            <a:r>
              <a:rPr lang="it-IT" dirty="0"/>
              <a:t>In sintesi:</a:t>
            </a:r>
          </a:p>
          <a:p>
            <a:pPr lvl="1"/>
            <a:r>
              <a:rPr lang="it-IT" dirty="0"/>
              <a:t>Dipendenza da TensorFlow.js: </a:t>
            </a:r>
            <a:r>
              <a:rPr lang="it-IT" dirty="0" err="1"/>
              <a:t>Teachable</a:t>
            </a:r>
            <a:r>
              <a:rPr lang="it-IT" dirty="0"/>
              <a:t> Machine per l'audio è costruito quasi esclusivamente sopra TensorFlow.js.</a:t>
            </a:r>
          </a:p>
          <a:p>
            <a:pPr lvl="1"/>
            <a:r>
              <a:rPr lang="it-IT" dirty="0"/>
              <a:t>Il modello audio </a:t>
            </a:r>
            <a:r>
              <a:rPr lang="it-IT" dirty="0" err="1"/>
              <a:t>pre</a:t>
            </a:r>
            <a:r>
              <a:rPr lang="it-IT" dirty="0"/>
              <a:t>-addestrato di Google (Speech </a:t>
            </a:r>
            <a:r>
              <a:rPr lang="it-IT" dirty="0" err="1"/>
              <a:t>Commands</a:t>
            </a:r>
            <a:r>
              <a:rPr lang="it-IT" dirty="0"/>
              <a:t>) è ottimizzato per girare nei browser e nei dispositivi Node.js.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33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255F05-A998-4F6F-A0BB-C5DADA14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3678EB-C96D-4696-B328-F09E3851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Integrare classificazione di immagini e classificazione audio per il riconoscimento di una persona</a:t>
            </a:r>
          </a:p>
        </p:txBody>
      </p:sp>
    </p:spTree>
    <p:extLst>
      <p:ext uri="{BB962C8B-B14F-4D97-AF65-F5344CB8AC3E}">
        <p14:creationId xmlns:p14="http://schemas.microsoft.com/office/powerpoint/2010/main" val="1948285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D1A7C2-4735-48CE-BFFB-8DAEB7B9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Tensorflow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9E274F-6B3E-4933-997A-8E2D78819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Conversione </a:t>
            </a:r>
            <a:r>
              <a:rPr lang="it-IT" dirty="0" err="1"/>
              <a:t>Keras</a:t>
            </a:r>
            <a:endParaRPr lang="it-IT" dirty="0"/>
          </a:p>
          <a:p>
            <a:pPr lvl="1"/>
            <a:r>
              <a:rPr lang="it-IT" dirty="0"/>
              <a:t>Scarica Modello</a:t>
            </a:r>
          </a:p>
          <a:p>
            <a:pPr lvl="2"/>
            <a:r>
              <a:rPr lang="it-IT" dirty="0"/>
              <a:t>File zip contenente </a:t>
            </a:r>
          </a:p>
          <a:p>
            <a:pPr lvl="3"/>
            <a:r>
              <a:rPr lang="it-IT" dirty="0"/>
              <a:t>keras.model.h5</a:t>
            </a:r>
          </a:p>
          <a:p>
            <a:pPr lvl="3"/>
            <a:r>
              <a:rPr lang="it-IT" dirty="0"/>
              <a:t>Labels.txt</a:t>
            </a:r>
          </a:p>
          <a:p>
            <a:pPr lvl="3"/>
            <a:endParaRPr lang="it-IT" dirty="0"/>
          </a:p>
          <a:p>
            <a:r>
              <a:rPr lang="it-IT" dirty="0"/>
              <a:t>E’ possibile copiare il frammento di codice </a:t>
            </a:r>
            <a:r>
              <a:rPr lang="it-IT" dirty="0" err="1"/>
              <a:t>Python</a:t>
            </a:r>
            <a:r>
              <a:rPr lang="it-IT" dirty="0"/>
              <a:t> per poterlo eseguire in locale utilizzando il modello ottenuto</a:t>
            </a:r>
          </a:p>
        </p:txBody>
      </p:sp>
    </p:spTree>
    <p:extLst>
      <p:ext uri="{BB962C8B-B14F-4D97-AF65-F5344CB8AC3E}">
        <p14:creationId xmlns:p14="http://schemas.microsoft.com/office/powerpoint/2010/main" val="177478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di un classificatore per il riconoscimento facciale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Addestrare un modello per il riconoscimento facciale dei componenti del team</a:t>
            </a:r>
          </a:p>
          <a:p>
            <a:endParaRPr lang="it-IT" dirty="0"/>
          </a:p>
          <a:p>
            <a:r>
              <a:rPr lang="it-IT" dirty="0"/>
              <a:t>Creare un programma </a:t>
            </a:r>
            <a:r>
              <a:rPr lang="it-IT" dirty="0" err="1"/>
              <a:t>Python</a:t>
            </a:r>
            <a:r>
              <a:rPr lang="it-IT" dirty="0"/>
              <a:t> che utilizzi il modello</a:t>
            </a:r>
          </a:p>
        </p:txBody>
      </p:sp>
    </p:spTree>
    <p:extLst>
      <p:ext uri="{BB962C8B-B14F-4D97-AF65-F5344CB8AC3E}">
        <p14:creationId xmlns:p14="http://schemas.microsoft.com/office/powerpoint/2010/main" val="281277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62D8448D-4A39-494B-A406-A8932A58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alcune righe di codice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21B9C01-4BAD-44B5-A7D1-878BD2350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33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Librerie utilizzate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it-IT" sz="3600" i="1" dirty="0"/>
              <a:t>from </a:t>
            </a:r>
            <a:r>
              <a:rPr lang="it-IT" sz="3600" i="1" dirty="0" err="1"/>
              <a:t>tensorflow.keras.models</a:t>
            </a:r>
            <a:r>
              <a:rPr lang="it-IT" sz="3600" i="1" dirty="0"/>
              <a:t> import </a:t>
            </a:r>
            <a:r>
              <a:rPr lang="it-IT" sz="3600" i="1" dirty="0" err="1"/>
              <a:t>load_model</a:t>
            </a:r>
            <a:endParaRPr lang="it-IT" sz="3600" i="1" dirty="0"/>
          </a:p>
          <a:p>
            <a:endParaRPr lang="it-IT" sz="3600" i="1" dirty="0"/>
          </a:p>
          <a:p>
            <a:pPr lvl="1"/>
            <a:r>
              <a:rPr lang="it-IT" sz="3200" b="1" dirty="0" err="1"/>
              <a:t>Keras</a:t>
            </a:r>
            <a:r>
              <a:rPr lang="it-IT" sz="3200" dirty="0"/>
              <a:t> è una libreria open-source in Python per facilitare la creazione, l'addestramento e la validazione di modelli di deep learning. Integrata in </a:t>
            </a:r>
            <a:r>
              <a:rPr lang="it-IT" sz="3200" dirty="0" err="1"/>
              <a:t>TensorFlow</a:t>
            </a:r>
            <a:r>
              <a:rPr lang="it-IT" sz="3200" dirty="0"/>
              <a:t> per costruire reti neurali in modo semplice e modulare</a:t>
            </a:r>
          </a:p>
          <a:p>
            <a:pPr lvl="1"/>
            <a:r>
              <a:rPr lang="it-IT" sz="3200" b="1" dirty="0" err="1"/>
              <a:t>load_model</a:t>
            </a:r>
            <a:r>
              <a:rPr lang="it-IT" sz="3200" b="1" dirty="0"/>
              <a:t> </a:t>
            </a:r>
            <a:r>
              <a:rPr lang="it-IT" sz="3200" dirty="0"/>
              <a:t>è utilizzata per caricare un intero modello di deep learning precedentemente salvato, inclusi architettura, pesi, configurazione di addestramento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41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Librerie utilizzate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import cv2</a:t>
            </a:r>
          </a:p>
          <a:p>
            <a:pPr lvl="1"/>
            <a:r>
              <a:rPr lang="en-US" b="1" dirty="0"/>
              <a:t>cv2</a:t>
            </a:r>
            <a:r>
              <a:rPr lang="en-US" dirty="0"/>
              <a:t> è il </a:t>
            </a:r>
            <a:r>
              <a:rPr lang="en-US" dirty="0" err="1"/>
              <a:t>nome</a:t>
            </a:r>
            <a:r>
              <a:rPr lang="en-US" dirty="0"/>
              <a:t> del modulo Python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contiene</a:t>
            </a:r>
            <a:r>
              <a:rPr lang="en-US" dirty="0"/>
              <a:t> la </a:t>
            </a:r>
            <a:r>
              <a:rPr lang="en-US" dirty="0" err="1"/>
              <a:t>libreria</a:t>
            </a:r>
            <a:r>
              <a:rPr lang="en-US" dirty="0"/>
              <a:t> </a:t>
            </a:r>
            <a:r>
              <a:rPr lang="en-US" b="1" dirty="0"/>
              <a:t>OpenCV</a:t>
            </a:r>
          </a:p>
          <a:p>
            <a:pPr lvl="1"/>
            <a:r>
              <a:rPr lang="it-IT" dirty="0" err="1"/>
              <a:t>OpenCV</a:t>
            </a:r>
            <a:r>
              <a:rPr lang="it-IT" dirty="0"/>
              <a:t> (Open Source Computer Vision Library): È il nome della libreria completa, un pacchetto software open-source per la visione artificiale, elaborazione immagini e machine learning</a:t>
            </a:r>
          </a:p>
          <a:p>
            <a:r>
              <a:rPr lang="it-IT" i="1" dirty="0"/>
              <a:t>import </a:t>
            </a:r>
            <a:r>
              <a:rPr lang="it-IT" i="1" dirty="0" err="1"/>
              <a:t>numpy</a:t>
            </a:r>
            <a:r>
              <a:rPr lang="it-IT" i="1" dirty="0"/>
              <a:t> </a:t>
            </a:r>
            <a:r>
              <a:rPr lang="it-IT" i="1" dirty="0" err="1"/>
              <a:t>as</a:t>
            </a:r>
            <a:r>
              <a:rPr lang="it-IT" i="1" dirty="0"/>
              <a:t> </a:t>
            </a:r>
            <a:r>
              <a:rPr lang="it-IT" i="1" dirty="0" err="1"/>
              <a:t>np</a:t>
            </a:r>
            <a:endParaRPr lang="it-IT" i="1" dirty="0"/>
          </a:p>
          <a:p>
            <a:pPr lvl="1"/>
            <a:r>
              <a:rPr lang="it-IT" b="1" dirty="0" err="1"/>
              <a:t>NumPy</a:t>
            </a:r>
            <a:r>
              <a:rPr lang="it-IT" dirty="0"/>
              <a:t> (</a:t>
            </a:r>
            <a:r>
              <a:rPr lang="it-IT" dirty="0" err="1"/>
              <a:t>Numerical</a:t>
            </a:r>
            <a:r>
              <a:rPr lang="it-IT" dirty="0"/>
              <a:t> Python) è la libreria fondamentale per il calcolo scientifico e l'analisi dati in Python. Offre array multidimensionali ad alte prestazioni, fino a 50 volte più veloci delle liste Python standard, ed è essenziale per algebra lineare, statistica e machine learning</a:t>
            </a:r>
          </a:p>
          <a:p>
            <a:pPr lvl="1"/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34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AF9F2-67A8-41C6-9DBD-462EFE77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Caricamento del modello e della classi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5A783F-3B80-4FCC-AAB5-5D1E2FEAE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i="1" dirty="0"/>
              <a:t># Load the model</a:t>
            </a:r>
          </a:p>
          <a:p>
            <a:r>
              <a:rPr lang="it-IT" i="1" dirty="0"/>
              <a:t>model = </a:t>
            </a:r>
            <a:r>
              <a:rPr lang="it-IT" i="1" dirty="0" err="1"/>
              <a:t>load_model</a:t>
            </a:r>
            <a:r>
              <a:rPr lang="it-IT" i="1" dirty="0"/>
              <a:t>("keras_model.h5", compile=False)</a:t>
            </a:r>
          </a:p>
          <a:p>
            <a:pPr lvl="1"/>
            <a:r>
              <a:rPr lang="it-IT" dirty="0"/>
              <a:t>La funzione </a:t>
            </a:r>
            <a:r>
              <a:rPr lang="it-IT" dirty="0" err="1"/>
              <a:t>load_model</a:t>
            </a:r>
            <a:r>
              <a:rPr lang="it-IT" dirty="0"/>
              <a:t> legge il file .h5 che contiene l'architettura della rete neurale e tutti i "pesi" (i numeri derivanti dall'addestramento) che permettono all'IA di distinguere le immagini.</a:t>
            </a:r>
          </a:p>
          <a:p>
            <a:pPr lvl="1"/>
            <a:r>
              <a:rPr lang="it-IT" dirty="0"/>
              <a:t>compile=False: il modello </a:t>
            </a:r>
            <a:r>
              <a:rPr lang="it-IT" dirty="0" err="1"/>
              <a:t>verra</a:t>
            </a:r>
            <a:r>
              <a:rPr lang="it-IT" dirty="0"/>
              <a:t> usato solo per fare inferenza e non per ulteriori </a:t>
            </a:r>
            <a:r>
              <a:rPr lang="it-IT" dirty="0" err="1"/>
              <a:t>addesstramenti</a:t>
            </a:r>
            <a:endParaRPr lang="it-IT" dirty="0"/>
          </a:p>
          <a:p>
            <a:r>
              <a:rPr lang="it-IT" dirty="0"/>
              <a:t># </a:t>
            </a:r>
            <a:r>
              <a:rPr lang="it-IT" i="1" dirty="0"/>
              <a:t>Load the labels</a:t>
            </a:r>
          </a:p>
          <a:p>
            <a:r>
              <a:rPr lang="it-IT" i="1" dirty="0" err="1"/>
              <a:t>class_names</a:t>
            </a:r>
            <a:r>
              <a:rPr lang="it-IT" i="1" dirty="0"/>
              <a:t> = open("labels.txt", "r").</a:t>
            </a:r>
            <a:r>
              <a:rPr lang="it-IT" i="1" dirty="0" err="1"/>
              <a:t>readlines</a:t>
            </a:r>
            <a:r>
              <a:rPr lang="it-IT" i="1" dirty="0"/>
              <a:t>()</a:t>
            </a:r>
          </a:p>
          <a:p>
            <a:pPr lvl="1"/>
            <a:r>
              <a:rPr lang="it-IT" dirty="0"/>
              <a:t>Legge le etichette (ossia i nomi che sono stati dati alle classi e sono presenti nel file labels.txt</a:t>
            </a:r>
          </a:p>
        </p:txBody>
      </p:sp>
    </p:spTree>
    <p:extLst>
      <p:ext uri="{BB962C8B-B14F-4D97-AF65-F5344CB8AC3E}">
        <p14:creationId xmlns:p14="http://schemas.microsoft.com/office/powerpoint/2010/main" val="405682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Flusso 1/x - </a:t>
            </a:r>
            <a:r>
              <a:rPr lang="it-IT" dirty="0" err="1"/>
              <a:t>OpenCV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err="1"/>
              <a:t>Creazione</a:t>
            </a:r>
            <a:r>
              <a:rPr lang="en-US" b="1" u="sng" dirty="0"/>
              <a:t> </a:t>
            </a:r>
            <a:r>
              <a:rPr lang="en-US" b="1" u="sng" dirty="0" err="1"/>
              <a:t>oggetto</a:t>
            </a:r>
            <a:endParaRPr lang="en-US" b="1" u="sng" dirty="0"/>
          </a:p>
          <a:p>
            <a:r>
              <a:rPr lang="it-IT" i="1" dirty="0"/>
              <a:t>camera = cv2.VideoCapture(0)</a:t>
            </a:r>
          </a:p>
          <a:p>
            <a:pPr lvl="1"/>
            <a:r>
              <a:rPr lang="it-IT" dirty="0"/>
              <a:t>Creazione di  un oggetto che funge da interfaccia diretta tra il codice Python e l'hardware della webcam. L'oggetto camera possiede diversi metodi</a:t>
            </a:r>
          </a:p>
          <a:p>
            <a:r>
              <a:rPr lang="en-US" b="1" u="sng" dirty="0" err="1"/>
              <a:t>Lettura</a:t>
            </a:r>
            <a:endParaRPr lang="en-US" b="1" u="sng" dirty="0"/>
          </a:p>
          <a:p>
            <a:r>
              <a:rPr lang="en-US" i="1" dirty="0"/>
              <a:t>ret, image = </a:t>
            </a:r>
            <a:r>
              <a:rPr lang="en-US" i="1" dirty="0" err="1"/>
              <a:t>camera.read</a:t>
            </a:r>
            <a:r>
              <a:rPr lang="en-US" i="1" dirty="0"/>
              <a:t>()</a:t>
            </a:r>
          </a:p>
          <a:p>
            <a:pPr lvl="1"/>
            <a:r>
              <a:rPr lang="it-IT" dirty="0"/>
              <a:t>Il metodo </a:t>
            </a:r>
            <a:r>
              <a:rPr lang="it-IT" dirty="0" err="1"/>
              <a:t>read</a:t>
            </a:r>
            <a:r>
              <a:rPr lang="it-IT" dirty="0"/>
              <a:t>() restituisce due valori:</a:t>
            </a:r>
          </a:p>
          <a:p>
            <a:pPr lvl="2"/>
            <a:r>
              <a:rPr lang="it-IT" dirty="0" err="1"/>
              <a:t>ret</a:t>
            </a:r>
            <a:r>
              <a:rPr lang="it-IT" dirty="0"/>
              <a:t> (</a:t>
            </a:r>
            <a:r>
              <a:rPr lang="it-IT" dirty="0" err="1"/>
              <a:t>Boolean</a:t>
            </a:r>
            <a:r>
              <a:rPr lang="it-IT" dirty="0"/>
              <a:t>): True se  il frame è stato letto correttamente False altrimenti</a:t>
            </a:r>
          </a:p>
          <a:p>
            <a:pPr lvl="2"/>
            <a:r>
              <a:rPr lang="it-IT" dirty="0"/>
              <a:t>image (Array): È il fotogramma catturato. Viene memorizzato come una matrice di pixel (formato BGR, tipico di </a:t>
            </a:r>
            <a:r>
              <a:rPr lang="it-IT" dirty="0" err="1"/>
              <a:t>OpenCV</a:t>
            </a:r>
            <a:r>
              <a:rPr lang="it-IT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3358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Flusso 2/x - </a:t>
            </a:r>
            <a:r>
              <a:rPr lang="it-IT" dirty="0" err="1"/>
              <a:t>OpenCV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u="sng" dirty="0"/>
              <a:t>Ridimensionamento</a:t>
            </a:r>
          </a:p>
          <a:p>
            <a:r>
              <a:rPr lang="en-US" i="1" dirty="0"/>
              <a:t> image = cv2.resize(image, (224, 224), interpolation=cv2.INTER_AREA)</a:t>
            </a:r>
          </a:p>
          <a:p>
            <a:pPr lvl="1"/>
            <a:r>
              <a:rPr lang="it-IT" dirty="0"/>
              <a:t>I modelli standard di classificazione immagini (es </a:t>
            </a:r>
            <a:r>
              <a:rPr lang="it-IT" dirty="0" err="1"/>
              <a:t>MobileNet</a:t>
            </a:r>
            <a:r>
              <a:rPr lang="it-IT" dirty="0"/>
              <a:t>) richiedono input di dimensioni fisse. Qui l'immagine viene forzata a 224x224 pixel</a:t>
            </a:r>
            <a:r>
              <a:rPr lang="it-IT" i="1" dirty="0"/>
              <a:t>. </a:t>
            </a:r>
          </a:p>
          <a:p>
            <a:r>
              <a:rPr lang="it-IT" b="1" u="sng" dirty="0"/>
              <a:t>Visualizzazione</a:t>
            </a:r>
          </a:p>
          <a:p>
            <a:r>
              <a:rPr lang="it-IT" i="1" dirty="0"/>
              <a:t>cv2.imshow("Webcam Image", image)</a:t>
            </a:r>
          </a:p>
          <a:p>
            <a:pPr lvl="1"/>
            <a:r>
              <a:rPr lang="it-IT" dirty="0"/>
              <a:t>Apre una finestra e visualizza l’immagine. Utile per il debugging, ma non influenza il calcolo dell'IA.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Flusso 3/x - </a:t>
            </a:r>
            <a:r>
              <a:rPr lang="it-IT" dirty="0" err="1"/>
              <a:t>numPY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u="sng" dirty="0"/>
              <a:t>Trasformazione in Array e </a:t>
            </a:r>
            <a:r>
              <a:rPr lang="it-IT" b="1" u="sng" dirty="0" err="1"/>
              <a:t>Reshape</a:t>
            </a:r>
            <a:endParaRPr lang="it-IT" b="1" u="sng" dirty="0"/>
          </a:p>
          <a:p>
            <a:r>
              <a:rPr lang="it-IT" i="1" u="sng" dirty="0"/>
              <a:t>image = </a:t>
            </a:r>
            <a:r>
              <a:rPr lang="it-IT" i="1" u="sng" dirty="0" err="1"/>
              <a:t>np.asarray</a:t>
            </a:r>
            <a:r>
              <a:rPr lang="it-IT" i="1" u="sng" dirty="0"/>
              <a:t>(image, </a:t>
            </a:r>
            <a:r>
              <a:rPr lang="it-IT" i="1" u="sng" dirty="0" err="1"/>
              <a:t>dtype</a:t>
            </a:r>
            <a:r>
              <a:rPr lang="it-IT" i="1" u="sng" dirty="0"/>
              <a:t>=np.float32).</a:t>
            </a:r>
            <a:r>
              <a:rPr lang="it-IT" i="1" u="sng" dirty="0" err="1"/>
              <a:t>reshape</a:t>
            </a:r>
            <a:r>
              <a:rPr lang="it-IT" i="1" u="sng" dirty="0"/>
              <a:t>(1, 224, 224, 3)</a:t>
            </a:r>
          </a:p>
          <a:p>
            <a:pPr lvl="1"/>
            <a:r>
              <a:rPr lang="it-IT" dirty="0"/>
              <a:t>3 attività</a:t>
            </a:r>
          </a:p>
          <a:p>
            <a:pPr lvl="2"/>
            <a:r>
              <a:rPr lang="it-IT" dirty="0"/>
              <a:t>Conversione: l'immagine passa da oggetto </a:t>
            </a:r>
            <a:r>
              <a:rPr lang="it-IT" dirty="0" err="1"/>
              <a:t>OpenCV</a:t>
            </a:r>
            <a:r>
              <a:rPr lang="it-IT" dirty="0"/>
              <a:t> a un array numerico (</a:t>
            </a:r>
            <a:r>
              <a:rPr lang="it-IT" dirty="0" err="1"/>
              <a:t>NumPy</a:t>
            </a:r>
            <a:r>
              <a:rPr lang="it-IT" dirty="0"/>
              <a:t>) di tipo float32 (numeri con la virgola).</a:t>
            </a:r>
          </a:p>
          <a:p>
            <a:pPr lvl="2"/>
            <a:r>
              <a:rPr lang="it-IT" dirty="0"/>
              <a:t>Dimensioni: Il modello non si aspetta solo "un'immagine", ma un "pacchetto (batch) di immagini".</a:t>
            </a:r>
          </a:p>
          <a:p>
            <a:pPr lvl="2"/>
            <a:r>
              <a:rPr lang="it-IT" dirty="0"/>
              <a:t>La struttura: Il </a:t>
            </a:r>
            <a:r>
              <a:rPr lang="it-IT" dirty="0" err="1"/>
              <a:t>reshape</a:t>
            </a:r>
            <a:r>
              <a:rPr lang="it-IT" dirty="0"/>
              <a:t>(1, 224, 224, 3) indica:</a:t>
            </a:r>
          </a:p>
          <a:p>
            <a:pPr lvl="3"/>
            <a:r>
              <a:rPr lang="it-IT" dirty="0"/>
              <a:t>1: Una sola immagine nel pacchetto.</a:t>
            </a:r>
          </a:p>
          <a:p>
            <a:pPr lvl="3"/>
            <a:r>
              <a:rPr lang="it-IT" dirty="0"/>
              <a:t>224, 224: Altezza e larghezza.</a:t>
            </a:r>
          </a:p>
          <a:p>
            <a:pPr lvl="3"/>
            <a:r>
              <a:rPr lang="it-IT" dirty="0"/>
              <a:t>3: I canali colore (Red, Green, Blue).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2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Flusso 4/x - Python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u="sng" dirty="0"/>
              <a:t>Normalizzazione</a:t>
            </a:r>
          </a:p>
          <a:p>
            <a:r>
              <a:rPr lang="it-IT" i="1" u="sng" dirty="0"/>
              <a:t>image = (image / 127.5) - 1</a:t>
            </a:r>
          </a:p>
          <a:p>
            <a:pPr lvl="1"/>
            <a:r>
              <a:rPr lang="it-IT" dirty="0"/>
              <a:t>I pixel normalmente hanno valori da 0 a 255.</a:t>
            </a:r>
          </a:p>
          <a:p>
            <a:pPr lvl="1"/>
            <a:r>
              <a:rPr lang="it-IT" dirty="0"/>
              <a:t>Le reti neurali lavorano molto meglio con numeri piccoli.</a:t>
            </a:r>
          </a:p>
          <a:p>
            <a:pPr lvl="1"/>
            <a:r>
              <a:rPr lang="it-IT" dirty="0"/>
              <a:t>Dividendo per 127.5, il range diventa [0, 2]</a:t>
            </a:r>
          </a:p>
          <a:p>
            <a:pPr lvl="1"/>
            <a:r>
              <a:rPr lang="it-IT" dirty="0"/>
              <a:t>Sottraendo 1, il range finale diventa [-1, 1].</a:t>
            </a:r>
          </a:p>
          <a:p>
            <a:pPr lvl="1"/>
            <a:r>
              <a:rPr lang="it-IT" dirty="0"/>
              <a:t>Questo processo assicura che i dati abbiano una media vicina allo zero, rendendo le previsioni del modello molto più stabili e precise</a:t>
            </a:r>
          </a:p>
        </p:txBody>
      </p:sp>
    </p:spTree>
    <p:extLst>
      <p:ext uri="{BB962C8B-B14F-4D97-AF65-F5344CB8AC3E}">
        <p14:creationId xmlns:p14="http://schemas.microsoft.com/office/powerpoint/2010/main" val="937264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Flusso 5/x - Predizione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err="1"/>
              <a:t>Predizione</a:t>
            </a:r>
            <a:endParaRPr lang="en-US" b="1" u="sng" dirty="0"/>
          </a:p>
          <a:p>
            <a:r>
              <a:rPr lang="en-US" i="1" dirty="0"/>
              <a:t>prediction = </a:t>
            </a:r>
            <a:r>
              <a:rPr lang="en-US" i="1" dirty="0" err="1"/>
              <a:t>model.predict</a:t>
            </a:r>
            <a:r>
              <a:rPr lang="en-US" i="1" dirty="0"/>
              <a:t>(image)</a:t>
            </a:r>
          </a:p>
          <a:p>
            <a:pPr lvl="1"/>
            <a:r>
              <a:rPr lang="it-IT" dirty="0"/>
              <a:t>A partire dall’immagine normalizzata il metodo </a:t>
            </a:r>
            <a:r>
              <a:rPr lang="it-IT" dirty="0" err="1"/>
              <a:t>predict</a:t>
            </a:r>
            <a:r>
              <a:rPr lang="it-IT" dirty="0"/>
              <a:t> restituisce una lista di N probabilità che sommate danno 1.</a:t>
            </a:r>
          </a:p>
          <a:p>
            <a:pPr lvl="1"/>
            <a:r>
              <a:rPr lang="it-IT" dirty="0"/>
              <a:t>N è il numero delle classi per le quali è stato addestrato il modello</a:t>
            </a:r>
          </a:p>
          <a:p>
            <a:r>
              <a:rPr lang="en-US" b="1" u="sng" dirty="0" err="1"/>
              <a:t>Identificazione</a:t>
            </a:r>
            <a:r>
              <a:rPr lang="en-US" b="1" u="sng" dirty="0"/>
              <a:t> </a:t>
            </a:r>
            <a:r>
              <a:rPr lang="en-US" b="1" u="sng" dirty="0" err="1"/>
              <a:t>della</a:t>
            </a:r>
            <a:r>
              <a:rPr lang="en-US" b="1" u="sng" dirty="0"/>
              <a:t> </a:t>
            </a:r>
            <a:r>
              <a:rPr lang="en-US" b="1" u="sng" dirty="0" err="1"/>
              <a:t>classe</a:t>
            </a:r>
            <a:endParaRPr lang="en-US" b="1" u="sng" dirty="0"/>
          </a:p>
          <a:p>
            <a:r>
              <a:rPr lang="it-IT" i="1" dirty="0"/>
              <a:t>index = </a:t>
            </a:r>
            <a:r>
              <a:rPr lang="it-IT" i="1" dirty="0" err="1"/>
              <a:t>np.argmax</a:t>
            </a:r>
            <a:r>
              <a:rPr lang="it-IT" i="1" dirty="0"/>
              <a:t>(</a:t>
            </a:r>
            <a:r>
              <a:rPr lang="it-IT" i="1" dirty="0" err="1"/>
              <a:t>prediction</a:t>
            </a:r>
            <a:r>
              <a:rPr lang="it-IT" i="1" dirty="0"/>
              <a:t>)</a:t>
            </a:r>
          </a:p>
          <a:p>
            <a:pPr lvl="1"/>
            <a:r>
              <a:rPr lang="it-IT" dirty="0"/>
              <a:t>cerca il valore più alto all'interno della lista </a:t>
            </a:r>
            <a:r>
              <a:rPr lang="it-IT" dirty="0" err="1"/>
              <a:t>prediction</a:t>
            </a:r>
            <a:r>
              <a:rPr lang="it-IT" dirty="0"/>
              <a:t> e ne restituisce la posizione (l'indice). Se il valore più alto è 0.9 che è nella posizione 2 della lista allora index varrà 2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87839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26D1D-002F-4280-ADD0-951D3DF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Flusso 6/x - Predizione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16C72-557B-4623-A10F-16BB89C6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err="1"/>
              <a:t>Recupero</a:t>
            </a:r>
            <a:r>
              <a:rPr lang="en-US" b="1" u="sng" dirty="0"/>
              <a:t> del </a:t>
            </a:r>
            <a:r>
              <a:rPr lang="en-US" b="1" u="sng" dirty="0" err="1"/>
              <a:t>nome</a:t>
            </a:r>
            <a:r>
              <a:rPr lang="en-US" b="1" u="sng" dirty="0"/>
              <a:t> </a:t>
            </a:r>
            <a:r>
              <a:rPr lang="en-US" b="1" u="sng" dirty="0" err="1"/>
              <a:t>della</a:t>
            </a:r>
            <a:r>
              <a:rPr lang="en-US" b="1" u="sng" dirty="0"/>
              <a:t> </a:t>
            </a:r>
            <a:r>
              <a:rPr lang="en-US" b="1" u="sng" dirty="0" err="1"/>
              <a:t>classe</a:t>
            </a:r>
            <a:endParaRPr lang="en-US" b="1" u="sng" dirty="0"/>
          </a:p>
          <a:p>
            <a:r>
              <a:rPr lang="en-US" i="1" dirty="0" err="1"/>
              <a:t>class_name</a:t>
            </a:r>
            <a:r>
              <a:rPr lang="en-US" i="1" dirty="0"/>
              <a:t> = </a:t>
            </a:r>
            <a:r>
              <a:rPr lang="en-US" i="1" dirty="0" err="1"/>
              <a:t>class_names</a:t>
            </a:r>
            <a:r>
              <a:rPr lang="en-US" i="1" dirty="0"/>
              <a:t>[index]</a:t>
            </a:r>
          </a:p>
          <a:p>
            <a:pPr lvl="1"/>
            <a:r>
              <a:rPr lang="it-IT" dirty="0"/>
              <a:t>Nome della classe nella lista delle label</a:t>
            </a:r>
          </a:p>
          <a:p>
            <a:r>
              <a:rPr lang="it-IT" b="1" u="sng" dirty="0"/>
              <a:t>Punteggio (Confidenza)</a:t>
            </a:r>
          </a:p>
          <a:p>
            <a:r>
              <a:rPr lang="en-US" i="1" dirty="0" err="1"/>
              <a:t>confidence_score</a:t>
            </a:r>
            <a:r>
              <a:rPr lang="en-US" i="1" dirty="0"/>
              <a:t> = prediction[0][index]</a:t>
            </a:r>
          </a:p>
          <a:p>
            <a:pPr lvl="1"/>
            <a:r>
              <a:rPr lang="it-IT" dirty="0" err="1"/>
              <a:t>prediction</a:t>
            </a:r>
            <a:r>
              <a:rPr lang="it-IT" dirty="0"/>
              <a:t>[0] prima (e unica) riga dei risultati.[index] prende il valore specifico (es. 0.85 - Il modello è sicuro all'85% che la classe sia </a:t>
            </a:r>
            <a:r>
              <a:rPr lang="it-IT" dirty="0" err="1"/>
              <a:t>nomeClasse</a:t>
            </a:r>
            <a:r>
              <a:rPr lang="it-IT" dirty="0"/>
              <a:t>".</a:t>
            </a:r>
            <a:endParaRPr lang="en-US" dirty="0"/>
          </a:p>
          <a:p>
            <a:pPr lvl="1"/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4961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810481-EB2D-49B8-8F61-69FD55F8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Training Set vs </a:t>
            </a:r>
            <a:r>
              <a:rPr lang="it-IT" dirty="0" err="1"/>
              <a:t>Validation</a:t>
            </a:r>
            <a:r>
              <a:rPr lang="it-IT" dirty="0"/>
              <a:t> Set vs Test 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4C33F1-DCAE-46D6-A092-974F3611C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 b="1" dirty="0"/>
              <a:t>Training Set </a:t>
            </a:r>
            <a:r>
              <a:rPr lang="it-IT" dirty="0"/>
              <a:t>serve ad addestrare il modello.</a:t>
            </a:r>
          </a:p>
          <a:p>
            <a:r>
              <a:rPr lang="it-IT" dirty="0"/>
              <a:t>Il </a:t>
            </a:r>
            <a:r>
              <a:rPr lang="it-IT" b="1" dirty="0" err="1"/>
              <a:t>Validation</a:t>
            </a:r>
            <a:r>
              <a:rPr lang="it-IT" b="1" dirty="0"/>
              <a:t> Set  </a:t>
            </a:r>
            <a:r>
              <a:rPr lang="it-IT" dirty="0"/>
              <a:t>aiuta a perfezionare e selezionare il modello migliore.</a:t>
            </a:r>
          </a:p>
          <a:p>
            <a:r>
              <a:rPr lang="it-IT" dirty="0"/>
              <a:t>Il </a:t>
            </a:r>
            <a:r>
              <a:rPr lang="it-IT" b="1" dirty="0"/>
              <a:t>Test Set </a:t>
            </a:r>
            <a:r>
              <a:rPr lang="it-IT" dirty="0"/>
              <a:t>valuta le prestazioni del modello su dati completamente sconosciuti.</a:t>
            </a:r>
          </a:p>
          <a:p>
            <a:r>
              <a:rPr lang="it-IT" dirty="0"/>
              <a:t>Con </a:t>
            </a:r>
            <a:r>
              <a:rPr lang="it-IT" dirty="0" err="1"/>
              <a:t>Teachable</a:t>
            </a:r>
            <a:r>
              <a:rPr lang="it-IT" dirty="0"/>
              <a:t> Machine utilizziamo solo il Training Set</a:t>
            </a:r>
          </a:p>
          <a:p>
            <a:r>
              <a:rPr lang="it-IT" dirty="0"/>
              <a:t>Problema:</a:t>
            </a:r>
          </a:p>
          <a:p>
            <a:r>
              <a:rPr lang="it-IT" dirty="0"/>
              <a:t>Valutare le prestazioni del modello addestrato con TM</a:t>
            </a:r>
          </a:p>
        </p:txBody>
      </p:sp>
    </p:spTree>
    <p:extLst>
      <p:ext uri="{BB962C8B-B14F-4D97-AF65-F5344CB8AC3E}">
        <p14:creationId xmlns:p14="http://schemas.microsoft.com/office/powerpoint/2010/main" val="260312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1E6870-7672-4379-967D-8443C564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2B1F53F-46D8-4453-890F-A4CF8EF998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Identificare Training Set e Test Set del </a:t>
                </a:r>
                <a:r>
                  <a:rPr lang="it-IT" b="1" dirty="0"/>
                  <a:t>problema di classificazione </a:t>
                </a:r>
                <a:r>
                  <a:rPr lang="it-IT" dirty="0"/>
                  <a:t>che ci si propone di risolvere</a:t>
                </a:r>
              </a:p>
              <a:p>
                <a:r>
                  <a:rPr lang="it-IT" dirty="0"/>
                  <a:t>Esempio: Classificazione delle razze canine</a:t>
                </a:r>
              </a:p>
              <a:p>
                <a:r>
                  <a:rPr lang="it-IT" dirty="0"/>
                  <a:t>Effettuare l’addestramento con il training set tramite </a:t>
                </a:r>
                <a:r>
                  <a:rPr lang="it-IT" dirty="0" err="1"/>
                  <a:t>Teachable</a:t>
                </a:r>
                <a:r>
                  <a:rPr lang="it-IT" dirty="0"/>
                  <a:t> Machine</a:t>
                </a:r>
              </a:p>
              <a:p>
                <a:r>
                  <a:rPr lang="it-IT" dirty="0"/>
                  <a:t>Esportare il modello in </a:t>
                </a:r>
                <a:r>
                  <a:rPr lang="it-IT" dirty="0" err="1"/>
                  <a:t>Keras</a:t>
                </a:r>
                <a:endParaRPr lang="it-IT" dirty="0"/>
              </a:p>
              <a:p>
                <a:r>
                  <a:rPr lang="it-IT" dirty="0"/>
                  <a:t>Redigere uno script Python che valuti il modello, utilizzando il Test Set e determinandone l’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𝐴𝑐𝑐𝑢𝑟𝑎𝑐𝑦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𝑛𝑢𝑚𝑒𝑟𝑜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𝑝𝑟𝑒𝑑𝑖𝑧𝑖𝑜𝑛𝑖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𝑐𝑜𝑟𝑟𝑒𝑡𝑡𝑒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𝑛𝑢𝑚𝑒𝑟𝑜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𝑡𝑜𝑡𝑎𝑙𝑒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𝑝𝑟𝑒𝑑𝑖𝑧𝑖𝑜𝑛𝑖</m:t>
                        </m:r>
                      </m:den>
                    </m:f>
                  </m:oMath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2B1F53F-46D8-4453-890F-A4CF8EF99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2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198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EB2D3F-3056-4C1E-A647-69E3D8A68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Impostazioni avanzate per l’addestramento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877202-8761-438C-B5D7-F58A4D19E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/>
              <a:t>Periodi</a:t>
            </a:r>
          </a:p>
          <a:p>
            <a:pPr lvl="1"/>
            <a:r>
              <a:rPr lang="it-IT" dirty="0"/>
              <a:t>Traduzioni di </a:t>
            </a:r>
            <a:r>
              <a:rPr lang="it-IT" dirty="0" err="1"/>
              <a:t>Epochs</a:t>
            </a:r>
            <a:r>
              <a:rPr lang="it-IT" dirty="0"/>
              <a:t> ossia Epoche </a:t>
            </a:r>
          </a:p>
          <a:p>
            <a:pPr lvl="1"/>
            <a:r>
              <a:rPr lang="it-IT" dirty="0"/>
              <a:t>Quante volte l’algoritmo di apprendimento analizza l’intero set di dati fornito</a:t>
            </a:r>
          </a:p>
          <a:p>
            <a:pPr lvl="1"/>
            <a:r>
              <a:rPr lang="it-IT" dirty="0"/>
              <a:t>Pochi (</a:t>
            </a:r>
            <a:r>
              <a:rPr lang="it-IT" dirty="0" err="1"/>
              <a:t>underfitting</a:t>
            </a:r>
            <a:r>
              <a:rPr lang="it-IT" dirty="0"/>
              <a:t>): non ha avuto tempo di imparare </a:t>
            </a:r>
            <a:r>
              <a:rPr lang="it-IT" dirty="0">
                <a:sym typeface="Wingdings" panose="05000000000000000000" pitchFamily="2" charset="2"/>
              </a:rPr>
              <a:t> precisione bassa</a:t>
            </a:r>
          </a:p>
          <a:p>
            <a:pPr lvl="1"/>
            <a:r>
              <a:rPr lang="it-IT" dirty="0"/>
              <a:t>Troppi (</a:t>
            </a:r>
            <a:r>
              <a:rPr lang="it-IT" dirty="0" err="1"/>
              <a:t>overfitting</a:t>
            </a:r>
            <a:r>
              <a:rPr lang="it-IT" dirty="0"/>
              <a:t>): ha imparato a memoria </a:t>
            </a:r>
            <a:r>
              <a:rPr lang="it-IT" dirty="0">
                <a:sym typeface="Wingdings" panose="05000000000000000000" pitchFamily="2" charset="2"/>
              </a:rPr>
              <a:t>funziona benissimo con le immagini del training ma male con immagini nuove</a:t>
            </a:r>
            <a:endParaRPr lang="it-IT" dirty="0"/>
          </a:p>
          <a:p>
            <a:pPr lvl="1"/>
            <a:endParaRPr lang="it-IT" dirty="0"/>
          </a:p>
          <a:p>
            <a:r>
              <a:rPr lang="it-IT" b="1" dirty="0"/>
              <a:t>Dimensione del batch</a:t>
            </a:r>
          </a:p>
          <a:p>
            <a:pPr lvl="1"/>
            <a:r>
              <a:rPr lang="it-IT" dirty="0"/>
              <a:t>indica il numero di campioni di addestramento che il modello analizza prima di aggiornare i suoi parametri interni (i "pesi").</a:t>
            </a:r>
          </a:p>
          <a:p>
            <a:pPr lvl="1"/>
            <a:r>
              <a:rPr lang="it-IT" dirty="0"/>
              <a:t>Se hai 100 immagini e una Batch Size di 10, il modello farà 10 piccoli aggiornamenti per completare una singola "Epoca «</a:t>
            </a:r>
          </a:p>
          <a:p>
            <a:pPr lvl="1"/>
            <a:r>
              <a:rPr lang="it-IT" dirty="0"/>
              <a:t>Piccola – meno memoria più tempo</a:t>
            </a:r>
          </a:p>
          <a:p>
            <a:pPr lvl="1"/>
            <a:r>
              <a:rPr lang="it-IT" dirty="0"/>
              <a:t>Grande – più memoria meno tempo.</a:t>
            </a:r>
          </a:p>
        </p:txBody>
      </p:sp>
    </p:spTree>
    <p:extLst>
      <p:ext uri="{BB962C8B-B14F-4D97-AF65-F5344CB8AC3E}">
        <p14:creationId xmlns:p14="http://schemas.microsoft.com/office/powerpoint/2010/main" val="3435781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EB2D3F-3056-4C1E-A647-69E3D8A68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Impostazioni avanzate per l’addestramento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877202-8761-438C-B5D7-F58A4D19E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1325563"/>
          </a:xfrm>
        </p:spPr>
        <p:txBody>
          <a:bodyPr>
            <a:normAutofit/>
          </a:bodyPr>
          <a:lstStyle/>
          <a:p>
            <a:r>
              <a:rPr lang="it-IT" b="1" dirty="0"/>
              <a:t>Tasso di apprendimento</a:t>
            </a:r>
          </a:p>
          <a:p>
            <a:pPr lvl="1"/>
            <a:r>
              <a:rPr lang="it-IT" dirty="0"/>
              <a:t>Indica la "grandezza del passo" che l'algoritmo compie mentre cerca di correggere i propri errori.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F429322-887C-4E08-ABB6-525FF0D5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165" y="3151188"/>
            <a:ext cx="9067852" cy="343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739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1420</Words>
  <Application>Microsoft Office PowerPoint</Application>
  <PresentationFormat>Widescreen</PresentationFormat>
  <Paragraphs>126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Tema di Office</vt:lpstr>
      <vt:lpstr>Teachable Machine</vt:lpstr>
      <vt:lpstr>Classificazione Audio 1/2</vt:lpstr>
      <vt:lpstr>Classificazione Audio 2/2</vt:lpstr>
      <vt:lpstr>Attività 1</vt:lpstr>
      <vt:lpstr>Tensorflow</vt:lpstr>
      <vt:lpstr>Creazione di un classificatore per il riconoscimento facciale</vt:lpstr>
      <vt:lpstr>Analisi di alcune righe di codice</vt:lpstr>
      <vt:lpstr>Librerie utilizzate</vt:lpstr>
      <vt:lpstr>Librerie utilizzate</vt:lpstr>
      <vt:lpstr>Caricamento del modello e della classi</vt:lpstr>
      <vt:lpstr>Flusso 1/x - OpenCV</vt:lpstr>
      <vt:lpstr>Flusso 2/x - OpenCV</vt:lpstr>
      <vt:lpstr>Flusso 3/x - numPY</vt:lpstr>
      <vt:lpstr>Flusso 4/x - Python</vt:lpstr>
      <vt:lpstr>Flusso 5/x - Predizione</vt:lpstr>
      <vt:lpstr>Flusso 6/x - Predizione</vt:lpstr>
      <vt:lpstr>Training Set vs Validation Set vs Test Set</vt:lpstr>
      <vt:lpstr>Attività 2</vt:lpstr>
      <vt:lpstr>Impostazioni avanzate per l’addestramento</vt:lpstr>
      <vt:lpstr>Impostazioni avanzate per l’addestramento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Teachable Machine</dc:title>
  <dc:creator>Carlo TROIANO</dc:creator>
  <cp:lastModifiedBy>Academy</cp:lastModifiedBy>
  <cp:revision>80</cp:revision>
  <dcterms:created xsi:type="dcterms:W3CDTF">2026-04-23T09:11:08Z</dcterms:created>
  <dcterms:modified xsi:type="dcterms:W3CDTF">2026-05-05T14:52:49Z</dcterms:modified>
</cp:coreProperties>
</file>