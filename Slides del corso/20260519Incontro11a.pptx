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90" r:id="rId4"/>
    <p:sldId id="291" r:id="rId5"/>
    <p:sldId id="292" r:id="rId6"/>
    <p:sldId id="293" r:id="rId7"/>
    <p:sldId id="298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84DFDB-DDFE-4859-8803-FCF31A065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BA51FA-874B-4529-868E-48FA1CEB4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C20D52-7B38-4B52-9694-F1414CD5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C0B761-E19B-4DDF-A341-46A7E8D74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E30BD3-6AB4-457A-BA89-141233C3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585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712772-A73C-4D06-B1A3-2909EFA3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606FD0-AC46-44CB-841B-2E422C2A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88BFFA-B930-401F-B2A6-E357E136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6491C-3454-4E0A-9DC0-1C4F794F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9082C5-4DEC-472C-84D3-579C0766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462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AAF5AB-4CD3-43B9-882B-19BF869D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EF2EB2-BB65-470F-8978-447088626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D90CD9-7ECD-497D-8AC6-53274863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81AB5-6FA6-45AB-9333-ABD9C27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D3D551-CD62-4E66-A121-F8803559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55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CC4B9-80C4-48DA-8339-D08448BC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8EB136-BFFD-4C71-A85F-7C326ED20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DE5E65-65D7-4782-AA2B-2E1A8759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C85470-3896-41E6-933B-55692A4D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AA6A87-03D2-457C-85C7-0468BEB0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BA40D1-0256-45D0-8E95-5D174A89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7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388C3D-DA27-4ACA-BB37-F3EA2C26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D856E46-0375-4A29-8CF0-6167A62C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179515-41AB-4EF5-BBCB-E6B5EF7AB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047B7FF-A001-4706-8DA2-4E7165F5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7CC3D65-38D3-42D5-9BB5-9A52CD31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BA0D26D-E0E8-4B5F-86DD-6C9EC91B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625F52D-A93D-45D8-9F39-E469F3C6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59CE82-C1D8-47A3-9990-E5AEAB41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518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73951-029C-4346-863D-2A7B2153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55AAFB-42D0-44DF-ABC5-67867FC5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8E6CC2-4F04-43EB-BDBC-A40B203B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E0DC53-6196-4896-B46E-4DB01EE4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594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18499AC-E68B-4C3F-9814-D1AD2A23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8A878C4-5578-46B0-8E2C-4A009CB7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6626C8-2F6E-49F5-8F2A-91390F37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955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3090B7-0486-4BC1-8452-A57872A6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2C30E3-CD9B-4A19-83D1-408ABF243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89665DB-E8CC-4AA5-BBED-6825D7085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6663973-CF61-4977-B7DA-22E96DB0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AF17D4-1706-45FD-A9A4-8D16619C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E7899D-91A5-4507-8252-808BF3C9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010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C68D22-0433-4357-B745-D49EF741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FDF74B4-F3C8-4D68-A458-930720517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8FE15C-9611-4B20-B305-49DE2CCC5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DD364A-B887-4CA4-A1DD-85088816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F181F8-8F6C-4F20-8EB4-382D2FBA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59B160-2726-4CD5-B27E-80FA7C7E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8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82709-6AA0-49B5-A03E-8DB2CB33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C23F8BE-09F3-4C17-A57B-50135C669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0B983B-F652-433D-9510-AB61DED3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9C99A-6F48-4237-83B8-49B15AB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FE2867-59DE-4361-A38A-0FC4B8E7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007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6E49C0-D4C2-48E7-A50E-D8A388EF3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C38336-591C-44A1-9F34-10ED93E42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1AAE00-4498-441B-9875-3784F70B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B9F283-9157-4AB2-99C9-956508EF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FB0180-D990-45C7-A6C6-178AEAE5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9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47F388D-2C66-411A-AA27-28836FC4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332D7B-03D4-42EC-A74A-92D0357E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91DB80-D6FB-4FE0-9D28-719C95199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37155-86AE-4B3F-9A9F-9BD08EDE7DA7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185211-59D5-405F-81E9-330CF0CC6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3AC23F-DA9E-4989-8B99-9203141A4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430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6DE72-7823-42FD-BD50-F29FE06A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Incontro 11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C2A880C-7C64-4425-B1D5-42C3B36F7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cvlib</a:t>
            </a:r>
            <a:r>
              <a:rPr lang="it-IT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/>
              <a:t>Rilevamento volti</a:t>
            </a:r>
          </a:p>
        </p:txBody>
      </p:sp>
    </p:spTree>
    <p:extLst>
      <p:ext uri="{BB962C8B-B14F-4D97-AF65-F5344CB8AC3E}">
        <p14:creationId xmlns:p14="http://schemas.microsoft.com/office/powerpoint/2010/main" val="318431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26ED41-212B-4152-839F-A29F499C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3 (incontro precedente)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4EEB48-7406-4EB7-A4E7-9BFAEF286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Realizzare uno script Python che effettui l’identificazione degli oggetti presenti nel video acquisito dalla videocamera.</a:t>
            </a:r>
          </a:p>
          <a:p>
            <a:r>
              <a:rPr lang="it-IT" dirty="0"/>
              <a:t>Al termine della acquisizione visualizzare un report che riporti il numero di frame processati, il numero di oggetti identificati (totali e mediati per frame) il livello di confidenza medio per tipo di oggetto.</a:t>
            </a:r>
          </a:p>
          <a:p>
            <a:r>
              <a:rPr lang="it-IT" dirty="0"/>
              <a:t>Si utilizzino le due versioni di modello YOLOv4 e si riscontrino le differenze</a:t>
            </a:r>
          </a:p>
        </p:txBody>
      </p:sp>
    </p:spTree>
    <p:extLst>
      <p:ext uri="{BB962C8B-B14F-4D97-AF65-F5344CB8AC3E}">
        <p14:creationId xmlns:p14="http://schemas.microsoft.com/office/powerpoint/2010/main" val="33290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121041-8337-4FEF-81EB-A32587BE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Riconoscimento dei volti (1/x)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CC4C7B-A089-401C-8CA4-8733FD03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import </a:t>
            </a:r>
            <a:r>
              <a:rPr lang="it-IT" b="1" dirty="0" err="1">
                <a:solidFill>
                  <a:srgbClr val="FF0000"/>
                </a:solidFill>
              </a:rPr>
              <a:t>cvlib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as</a:t>
            </a:r>
            <a:r>
              <a:rPr lang="it-IT" b="1" dirty="0">
                <a:solidFill>
                  <a:srgbClr val="FF0000"/>
                </a:solidFill>
              </a:rPr>
              <a:t> cv</a:t>
            </a:r>
          </a:p>
          <a:p>
            <a:r>
              <a:rPr lang="it-IT" b="1" dirty="0" err="1">
                <a:solidFill>
                  <a:srgbClr val="FF0000"/>
                </a:solidFill>
              </a:rPr>
              <a:t>faces</a:t>
            </a:r>
            <a:r>
              <a:rPr lang="it-IT" b="1" dirty="0">
                <a:solidFill>
                  <a:srgbClr val="FF0000"/>
                </a:solidFill>
              </a:rPr>
              <a:t>, confidences = </a:t>
            </a:r>
            <a:r>
              <a:rPr lang="it-IT" b="1" dirty="0" err="1">
                <a:solidFill>
                  <a:srgbClr val="FF0000"/>
                </a:solidFill>
              </a:rPr>
              <a:t>cv.detect_face</a:t>
            </a:r>
            <a:r>
              <a:rPr lang="it-IT" b="1" dirty="0">
                <a:solidFill>
                  <a:srgbClr val="FF0000"/>
                </a:solidFill>
              </a:rPr>
              <a:t>(image)</a:t>
            </a:r>
          </a:p>
          <a:p>
            <a:pPr lvl="1"/>
            <a:r>
              <a:rPr lang="it-IT" dirty="0"/>
              <a:t>Esegue il riconoscimento dei volti (Face </a:t>
            </a:r>
            <a:r>
              <a:rPr lang="it-IT" dirty="0" err="1"/>
              <a:t>Detection</a:t>
            </a:r>
            <a:r>
              <a:rPr lang="it-IT" dirty="0"/>
              <a:t>) all'interno di un'immagine utilizzando </a:t>
            </a:r>
            <a:r>
              <a:rPr lang="it-IT" dirty="0" err="1"/>
              <a:t>cvlib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A differenza della funzione di rilevamento oggetti (</a:t>
            </a:r>
            <a:r>
              <a:rPr lang="it-IT" dirty="0" err="1"/>
              <a:t>detect_common_objects</a:t>
            </a:r>
            <a:r>
              <a:rPr lang="it-IT" dirty="0"/>
              <a:t>), questa è specializzata esclusivamente nel trovare facce umane, ignorando qualsiasi altro oggetto (auto, sedie, cani, ecc.).</a:t>
            </a:r>
          </a:p>
          <a:p>
            <a:pPr lvl="1"/>
            <a:r>
              <a:rPr lang="it-IT" dirty="0"/>
              <a:t>Mentre per gli oggetti comuni </a:t>
            </a:r>
            <a:r>
              <a:rPr lang="it-IT" dirty="0" err="1"/>
              <a:t>cvlib</a:t>
            </a:r>
            <a:r>
              <a:rPr lang="it-IT" dirty="0"/>
              <a:t> usa YOLO, per i volti utilizza un modello diverso basato su </a:t>
            </a:r>
            <a:r>
              <a:rPr lang="it-IT" dirty="0" err="1"/>
              <a:t>OpenCV</a:t>
            </a:r>
            <a:r>
              <a:rPr lang="it-IT" dirty="0"/>
              <a:t> chiamato </a:t>
            </a:r>
            <a:r>
              <a:rPr lang="it-IT" b="1" dirty="0">
                <a:solidFill>
                  <a:srgbClr val="00B050"/>
                </a:solidFill>
              </a:rPr>
              <a:t>Caffe framework-</a:t>
            </a:r>
            <a:r>
              <a:rPr lang="it-IT" b="1" dirty="0" err="1">
                <a:solidFill>
                  <a:srgbClr val="00B050"/>
                </a:solidFill>
              </a:rPr>
              <a:t>based</a:t>
            </a:r>
            <a:r>
              <a:rPr lang="it-IT" b="1" dirty="0">
                <a:solidFill>
                  <a:srgbClr val="00B050"/>
                </a:solidFill>
              </a:rPr>
              <a:t> DL-model </a:t>
            </a:r>
            <a:r>
              <a:rPr lang="it-IT" dirty="0"/>
              <a:t>(Deep Learning). </a:t>
            </a:r>
          </a:p>
          <a:p>
            <a:pPr lvl="2"/>
            <a:r>
              <a:rPr lang="it-IT" dirty="0"/>
              <a:t>Rilevare volti anche se parzialmente ruotati o inclinati.</a:t>
            </a:r>
          </a:p>
          <a:p>
            <a:pPr lvl="2"/>
            <a:r>
              <a:rPr lang="it-IT" dirty="0"/>
              <a:t>Funzionare bene anche in condizioni di luce non perfetta.</a:t>
            </a:r>
          </a:p>
          <a:p>
            <a:pPr lvl="2"/>
            <a:r>
              <a:rPr lang="it-IT" dirty="0"/>
              <a:t>Essere estremamente veloce (può gestire tranquillamente un flusso video real-time).</a:t>
            </a:r>
          </a:p>
        </p:txBody>
      </p:sp>
    </p:spTree>
    <p:extLst>
      <p:ext uri="{BB962C8B-B14F-4D97-AF65-F5344CB8AC3E}">
        <p14:creationId xmlns:p14="http://schemas.microsoft.com/office/powerpoint/2010/main" val="3915469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121041-8337-4FEF-81EB-A32587BE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Riconoscimento dei volti (2/x)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CC4C7B-A089-401C-8CA4-8733FD03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600" b="1" dirty="0" err="1">
                <a:solidFill>
                  <a:srgbClr val="FF0000"/>
                </a:solidFill>
              </a:rPr>
              <a:t>faces</a:t>
            </a:r>
            <a:r>
              <a:rPr lang="it-IT" sz="2600" b="1" dirty="0">
                <a:solidFill>
                  <a:srgbClr val="FF0000"/>
                </a:solidFill>
              </a:rPr>
              <a:t>, confidences = </a:t>
            </a:r>
            <a:r>
              <a:rPr lang="it-IT" sz="2600" b="1" dirty="0" err="1">
                <a:solidFill>
                  <a:srgbClr val="FF0000"/>
                </a:solidFill>
              </a:rPr>
              <a:t>cv.detect_face</a:t>
            </a:r>
            <a:r>
              <a:rPr lang="it-IT" sz="2600" b="1" dirty="0">
                <a:solidFill>
                  <a:srgbClr val="FF0000"/>
                </a:solidFill>
              </a:rPr>
              <a:t>(image)</a:t>
            </a:r>
          </a:p>
          <a:p>
            <a:r>
              <a:rPr lang="it-IT" sz="2600" dirty="0"/>
              <a:t>Analizza l’immagine per rilevare i volti e restituisce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faces</a:t>
            </a:r>
            <a:r>
              <a:rPr lang="it-IT" dirty="0"/>
              <a:t> (coordinate dei volti): lista di liste. </a:t>
            </a:r>
          </a:p>
          <a:p>
            <a:pPr lvl="2"/>
            <a:r>
              <a:rPr lang="it-IT" dirty="0"/>
              <a:t>Ogni sotto-lista contiene 4 numeri interi che delimitano il rettangolo attorno al volto rilevato.</a:t>
            </a:r>
          </a:p>
          <a:p>
            <a:pPr lvl="2"/>
            <a:r>
              <a:rPr lang="it-IT" dirty="0"/>
              <a:t>Formato: [</a:t>
            </a:r>
            <a:r>
              <a:rPr lang="it-IT" dirty="0" err="1"/>
              <a:t>x_min</a:t>
            </a:r>
            <a:r>
              <a:rPr lang="it-IT" dirty="0"/>
              <a:t>, </a:t>
            </a:r>
            <a:r>
              <a:rPr lang="it-IT" dirty="0" err="1"/>
              <a:t>y_min</a:t>
            </a:r>
            <a:r>
              <a:rPr lang="it-IT" dirty="0"/>
              <a:t>, </a:t>
            </a:r>
            <a:r>
              <a:rPr lang="it-IT" dirty="0" err="1"/>
              <a:t>x_max</a:t>
            </a:r>
            <a:r>
              <a:rPr lang="it-IT" dirty="0"/>
              <a:t>, </a:t>
            </a:r>
            <a:r>
              <a:rPr lang="it-IT" dirty="0" err="1"/>
              <a:t>y_max</a:t>
            </a:r>
            <a:r>
              <a:rPr lang="it-IT" dirty="0"/>
              <a:t>]</a:t>
            </a:r>
          </a:p>
          <a:p>
            <a:pPr lvl="2"/>
            <a:r>
              <a:rPr lang="it-IT" dirty="0"/>
              <a:t>Se nella stanza ci sono 3 persone, </a:t>
            </a:r>
            <a:r>
              <a:rPr lang="it-IT" dirty="0" err="1"/>
              <a:t>faces</a:t>
            </a:r>
            <a:r>
              <a:rPr lang="it-IT" dirty="0"/>
              <a:t> conterrà 3 sotto-liste con le coordinate precise di dove si trovano i loro volti.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confidences</a:t>
            </a:r>
            <a:r>
              <a:rPr lang="it-IT" dirty="0"/>
              <a:t> (confidenza): lista di float compresi tra 0 e 1.</a:t>
            </a:r>
          </a:p>
          <a:p>
            <a:pPr lvl="2"/>
            <a:r>
              <a:rPr lang="it-IT" dirty="0"/>
              <a:t>Indica il livello di certezza dell'algoritmo per ogni volto trovato.</a:t>
            </a:r>
          </a:p>
          <a:p>
            <a:pPr lvl="2"/>
            <a:r>
              <a:rPr lang="it-IT" dirty="0"/>
              <a:t>Un valore come 0.99 significa che l'IA è sicura al 99% che quell'area sia un volto umano.</a:t>
            </a:r>
          </a:p>
        </p:txBody>
      </p:sp>
    </p:spTree>
    <p:extLst>
      <p:ext uri="{BB962C8B-B14F-4D97-AF65-F5344CB8AC3E}">
        <p14:creationId xmlns:p14="http://schemas.microsoft.com/office/powerpoint/2010/main" val="1660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9499-03B9-4EC9-A7DB-0385B94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3B8A3-912E-4FD6-8925-E71A53F3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Realizzare uno script Python che data un’immagine (passata allo script su linea di comando) effettui il riconoscimento dei volti in essa presenti</a:t>
            </a:r>
          </a:p>
          <a:p>
            <a:r>
              <a:rPr lang="it-IT" dirty="0"/>
              <a:t>Per ogni volto rilevato visualizzare il relativo valore di confidenza.</a:t>
            </a:r>
          </a:p>
          <a:p>
            <a:r>
              <a:rPr lang="it-IT" dirty="0"/>
              <a:t>Produrre una immagine di output nella quale i volti rilevati siano circondati da un rettangolo corredato del valore di confidenza relativo</a:t>
            </a:r>
          </a:p>
          <a:p>
            <a:r>
              <a:rPr lang="it-IT" dirty="0"/>
              <a:t>Valutare l’opportunità di produrre i rettangoli utilizzando:</a:t>
            </a:r>
          </a:p>
          <a:p>
            <a:pPr lvl="1"/>
            <a:r>
              <a:rPr lang="it-IT" b="1" dirty="0">
                <a:solidFill>
                  <a:srgbClr val="FF0000"/>
                </a:solidFill>
              </a:rPr>
              <a:t>cv2.rectangle()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cvlib.object_detection.draw_bbox</a:t>
            </a:r>
            <a:r>
              <a:rPr lang="it-IT" b="1" dirty="0">
                <a:solidFill>
                  <a:srgbClr val="FF000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13611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9499-03B9-4EC9-A7DB-0385B94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3B8A3-912E-4FD6-8925-E71A53F3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Realizzare uno script Python che data un’immagine (passata allo script su linea di comando) o rilevata da una videocamera, effettui il riconoscimento delle emozioni rilevate in base all’analisi facciale.</a:t>
            </a:r>
          </a:p>
          <a:p>
            <a:r>
              <a:rPr lang="it-IT" dirty="0"/>
              <a:t>A solo titolo indicativo si potrebbero classificare le 6 emozioni primarie definite dallo psicologo Paul </a:t>
            </a:r>
            <a:r>
              <a:rPr lang="it-IT" dirty="0" err="1"/>
              <a:t>Ekman</a:t>
            </a:r>
            <a:r>
              <a:rPr lang="it-IT" dirty="0"/>
              <a:t>. Queste sono considerate universali, ovvero espresse allo stesso modo in ogni cultura.</a:t>
            </a:r>
          </a:p>
          <a:p>
            <a:pPr lvl="1"/>
            <a:r>
              <a:rPr lang="it-IT" b="1" dirty="0"/>
              <a:t>Felicità</a:t>
            </a:r>
            <a:r>
              <a:rPr lang="it-IT" dirty="0"/>
              <a:t>: sollevamento degli angoli della bocca e contrazione degli occhi.</a:t>
            </a:r>
          </a:p>
          <a:p>
            <a:pPr lvl="1"/>
            <a:r>
              <a:rPr lang="it-IT" b="1" dirty="0"/>
              <a:t>Tristezza</a:t>
            </a:r>
            <a:r>
              <a:rPr lang="it-IT" dirty="0"/>
              <a:t>: abbassamento degli angoli della bocca e palpebre cadenti.</a:t>
            </a:r>
          </a:p>
          <a:p>
            <a:pPr lvl="1"/>
            <a:r>
              <a:rPr lang="it-IT" b="1" dirty="0"/>
              <a:t>Rabbia</a:t>
            </a:r>
            <a:r>
              <a:rPr lang="it-IT" dirty="0"/>
              <a:t>: sopracciglia abbassate e unite, labbra strette e sguardo fisso.</a:t>
            </a:r>
          </a:p>
          <a:p>
            <a:pPr lvl="1"/>
            <a:r>
              <a:rPr lang="it-IT" b="1" dirty="0"/>
              <a:t>Paura</a:t>
            </a:r>
            <a:r>
              <a:rPr lang="it-IT" dirty="0"/>
              <a:t>: sopracciglia sollevate, occhi spalancati e bocca aperta.</a:t>
            </a:r>
          </a:p>
          <a:p>
            <a:pPr lvl="1"/>
            <a:r>
              <a:rPr lang="it-IT" b="1" dirty="0"/>
              <a:t>Disgusto</a:t>
            </a:r>
            <a:r>
              <a:rPr lang="it-IT" dirty="0"/>
              <a:t>: arricciamento del naso e sollevamento del labbro superiore.</a:t>
            </a:r>
          </a:p>
          <a:p>
            <a:pPr lvl="1"/>
            <a:r>
              <a:rPr lang="it-IT" b="1" dirty="0"/>
              <a:t>Sorpresa</a:t>
            </a:r>
            <a:r>
              <a:rPr lang="it-IT" dirty="0"/>
              <a:t>: sopracciglia inarcate, occhi sgranati e mascella rilassata.</a:t>
            </a:r>
          </a:p>
          <a:p>
            <a:r>
              <a:rPr lang="it-IT" dirty="0"/>
              <a:t>A questa 6 categorie si potrebbe aggiungere una settima:</a:t>
            </a:r>
          </a:p>
          <a:p>
            <a:pPr lvl="1"/>
            <a:r>
              <a:rPr lang="it-IT" b="1" dirty="0"/>
              <a:t>Neutralità</a:t>
            </a:r>
            <a:r>
              <a:rPr lang="it-IT" dirty="0"/>
              <a:t>:  assenza di espressioni marcate</a:t>
            </a:r>
          </a:p>
        </p:txBody>
      </p:sp>
    </p:spTree>
    <p:extLst>
      <p:ext uri="{BB962C8B-B14F-4D97-AF65-F5344CB8AC3E}">
        <p14:creationId xmlns:p14="http://schemas.microsoft.com/office/powerpoint/2010/main" val="119581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9499-03B9-4EC9-A7DB-0385B9420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3B8A3-912E-4FD6-8925-E71A53F3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Produrre e visualizzare immagini di output nella quale i volti rilevati siano circondati da un rettangolo corredato dell’indicazione dell’emozione predetta e del relativo valore di confidenza.</a:t>
            </a:r>
          </a:p>
          <a:p>
            <a:r>
              <a:rPr lang="it-IT" dirty="0"/>
              <a:t>Il modello per la classificazione delle emozioni può essere redatto tramite </a:t>
            </a:r>
            <a:r>
              <a:rPr lang="it-IT" dirty="0" err="1"/>
              <a:t>Teachable</a:t>
            </a:r>
            <a:r>
              <a:rPr lang="it-IT" dirty="0"/>
              <a:t> Machine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528985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623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di Office</vt:lpstr>
      <vt:lpstr>Incontro 11</vt:lpstr>
      <vt:lpstr>Attività 3 (incontro precedente)</vt:lpstr>
      <vt:lpstr>Riconoscimento dei volti (1/x)</vt:lpstr>
      <vt:lpstr>Riconoscimento dei volti (2/x)</vt:lpstr>
      <vt:lpstr>Attività 1</vt:lpstr>
      <vt:lpstr>Attività 2</vt:lpstr>
      <vt:lpstr>Attività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Incontro 9</dc:title>
  <dc:creator>Carlo TROIANO</dc:creator>
  <cp:lastModifiedBy>Academy</cp:lastModifiedBy>
  <cp:revision>105</cp:revision>
  <dcterms:created xsi:type="dcterms:W3CDTF">2026-05-08T16:39:21Z</dcterms:created>
  <dcterms:modified xsi:type="dcterms:W3CDTF">2026-05-19T14:15:42Z</dcterms:modified>
</cp:coreProperties>
</file>